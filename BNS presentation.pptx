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Muli Ultra-Bold" charset="1" panose="00000900000000000000"/>
      <p:regular r:id="rId14"/>
    </p:embeddedFont>
    <p:embeddedFont>
      <p:font typeface="Muli Extra-Light" charset="1" panose="00000300000000000000"/>
      <p:regular r:id="rId15"/>
    </p:embeddedFont>
    <p:embeddedFont>
      <p:font typeface="Muli Bold" charset="1" panose="0000080000000000000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slide2.xml" Type="http://schemas.openxmlformats.org/officeDocument/2006/relationships/slid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slide3.xml" Type="http://schemas.openxmlformats.org/officeDocument/2006/relationships/slide"/><Relationship Id="rId8" Target="slide1.xml" Type="http://schemas.openxmlformats.org/officeDocument/2006/relationships/slid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slide4.xml" Type="http://schemas.openxmlformats.org/officeDocument/2006/relationships/slide"/><Relationship Id="rId11" Target="../media/image12.png" Type="http://schemas.openxmlformats.org/officeDocument/2006/relationships/image"/><Relationship Id="rId12" Target="../media/image13.svg" Type="http://schemas.openxmlformats.org/officeDocument/2006/relationships/image"/><Relationship Id="rId13" Target="slide2.xml" Type="http://schemas.openxmlformats.org/officeDocument/2006/relationships/slide"/><Relationship Id="rId2" Target="../media/image8.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9.png" Type="http://schemas.openxmlformats.org/officeDocument/2006/relationships/image"/><Relationship Id="rId6" Target="../media/image10.jpeg" Type="http://schemas.openxmlformats.org/officeDocument/2006/relationships/image"/><Relationship Id="rId7" Target="../media/image11.jpeg" Type="http://schemas.openxmlformats.org/officeDocument/2006/relationships/image"/><Relationship Id="rId8" Target="../media/image6.png" Type="http://schemas.openxmlformats.org/officeDocument/2006/relationships/image"/><Relationship Id="rId9" Target="../media/image7.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svg" Type="http://schemas.openxmlformats.org/officeDocument/2006/relationships/image"/><Relationship Id="rId11" Target="slide5.xml" Type="http://schemas.openxmlformats.org/officeDocument/2006/relationships/slide"/><Relationship Id="rId12" Target="slide3.xml" Type="http://schemas.openxmlformats.org/officeDocument/2006/relationships/slide"/><Relationship Id="rId2" Target="../media/image8.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4.png" Type="http://schemas.openxmlformats.org/officeDocument/2006/relationships/image"/><Relationship Id="rId6" Target="../media/image15.png" Type="http://schemas.openxmlformats.org/officeDocument/2006/relationships/image"/><Relationship Id="rId7" Target="../media/image16.png" Type="http://schemas.openxmlformats.org/officeDocument/2006/relationships/image"/><Relationship Id="rId8" Target="../media/image17.svg" Type="http://schemas.openxmlformats.org/officeDocument/2006/relationships/image"/><Relationship Id="rId9" Target="../media/image1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slide4.xml" Type="http://schemas.openxmlformats.org/officeDocument/2006/relationships/slide"/><Relationship Id="rId2" Target="../media/image8.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8.jpeg" Type="http://schemas.openxmlformats.org/officeDocument/2006/relationships/image"/><Relationship Id="rId6" Target="../media/image19.pn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 Id="rId9" Target="slide6.xml" Type="http://schemas.openxmlformats.org/officeDocument/2006/relationships/slid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svg" Type="http://schemas.openxmlformats.org/officeDocument/2006/relationships/image"/><Relationship Id="rId11" Target="slide5.xml" Type="http://schemas.openxmlformats.org/officeDocument/2006/relationships/slide"/><Relationship Id="rId2" Target="../media/image8.jpeg" Type="http://schemas.openxmlformats.org/officeDocument/2006/relationships/image"/><Relationship Id="rId3" Target="../media/image20.png" Type="http://schemas.openxmlformats.org/officeDocument/2006/relationships/image"/><Relationship Id="rId4" Target="../media/image21.png" Type="http://schemas.openxmlformats.org/officeDocument/2006/relationships/image"/><Relationship Id="rId5" Target="../media/image22.svg" Type="http://schemas.openxmlformats.org/officeDocument/2006/relationships/image"/><Relationship Id="rId6" Target="../media/image23.png" Type="http://schemas.openxmlformats.org/officeDocument/2006/relationships/image"/><Relationship Id="rId7" Target="../media/image24.svg" Type="http://schemas.openxmlformats.org/officeDocument/2006/relationships/image"/><Relationship Id="rId8" Target="slide7.xml" Type="http://schemas.openxmlformats.org/officeDocument/2006/relationships/slide"/><Relationship Id="rId9" Target="../media/image1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png" Type="http://schemas.openxmlformats.org/officeDocument/2006/relationships/image"/><Relationship Id="rId11" Target="../media/image13.svg" Type="http://schemas.openxmlformats.org/officeDocument/2006/relationships/image"/><Relationship Id="rId12" Target="slide6.xml" Type="http://schemas.openxmlformats.org/officeDocument/2006/relationships/slide"/><Relationship Id="rId2" Target="../media/image8.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25.png" Type="http://schemas.openxmlformats.org/officeDocument/2006/relationships/image"/><Relationship Id="rId6" Target="../media/image26.png" Type="http://schemas.openxmlformats.org/officeDocument/2006/relationships/image"/><Relationship Id="rId7" Target="../media/image27.svg" Type="http://schemas.openxmlformats.org/officeDocument/2006/relationships/image"/><Relationship Id="rId8" Target="slide8.xml" Type="http://schemas.openxmlformats.org/officeDocument/2006/relationships/slide"/><Relationship Id="rId9" Target="../media/image28.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28.jpeg" Type="http://schemas.openxmlformats.org/officeDocument/2006/relationships/image"/><Relationship Id="rId4" Target="../media/image29.jpeg" Type="http://schemas.openxmlformats.org/officeDocument/2006/relationships/image"/><Relationship Id="rId5" Target="../media/image30.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8518" r="0" b="-68518"/>
            </a:stretch>
          </a:blipFill>
        </p:spPr>
      </p:sp>
      <p:sp>
        <p:nvSpPr>
          <p:cNvPr name="Freeform 3" id="3"/>
          <p:cNvSpPr/>
          <p:nvPr/>
        </p:nvSpPr>
        <p:spPr>
          <a:xfrm flipH="false" flipV="false" rot="0">
            <a:off x="5345867" y="1028700"/>
            <a:ext cx="8876868" cy="809766"/>
          </a:xfrm>
          <a:custGeom>
            <a:avLst/>
            <a:gdLst/>
            <a:ahLst/>
            <a:cxnLst/>
            <a:rect r="r" b="b" t="t" l="l"/>
            <a:pathLst>
              <a:path h="809766" w="8876868">
                <a:moveTo>
                  <a:pt x="0" y="0"/>
                </a:moveTo>
                <a:lnTo>
                  <a:pt x="8876869" y="0"/>
                </a:lnTo>
                <a:lnTo>
                  <a:pt x="8876869" y="809766"/>
                </a:lnTo>
                <a:lnTo>
                  <a:pt x="0" y="80976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2740561" y="3480031"/>
            <a:ext cx="2605306" cy="3577080"/>
          </a:xfrm>
          <a:custGeom>
            <a:avLst/>
            <a:gdLst/>
            <a:ahLst/>
            <a:cxnLst/>
            <a:rect r="r" b="b" t="t" l="l"/>
            <a:pathLst>
              <a:path h="3577080" w="2605306">
                <a:moveTo>
                  <a:pt x="0" y="0"/>
                </a:moveTo>
                <a:lnTo>
                  <a:pt x="2605306" y="0"/>
                </a:lnTo>
                <a:lnTo>
                  <a:pt x="2605306" y="3577080"/>
                </a:lnTo>
                <a:lnTo>
                  <a:pt x="0" y="357708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5" id="5"/>
          <p:cNvGrpSpPr/>
          <p:nvPr/>
        </p:nvGrpSpPr>
        <p:grpSpPr>
          <a:xfrm rot="0">
            <a:off x="17450109" y="-1629108"/>
            <a:ext cx="976849" cy="7678068"/>
            <a:chOff x="0" y="0"/>
            <a:chExt cx="257277" cy="2022207"/>
          </a:xfrm>
        </p:grpSpPr>
        <p:sp>
          <p:nvSpPr>
            <p:cNvPr name="Freeform 6" id="6"/>
            <p:cNvSpPr/>
            <p:nvPr/>
          </p:nvSpPr>
          <p:spPr>
            <a:xfrm flipH="false" flipV="false" rot="0">
              <a:off x="0" y="0"/>
              <a:ext cx="257277" cy="2022207"/>
            </a:xfrm>
            <a:custGeom>
              <a:avLst/>
              <a:gdLst/>
              <a:ahLst/>
              <a:cxnLst/>
              <a:rect r="r" b="b" t="t" l="l"/>
              <a:pathLst>
                <a:path h="2022207" w="257277">
                  <a:moveTo>
                    <a:pt x="0" y="0"/>
                  </a:moveTo>
                  <a:lnTo>
                    <a:pt x="257277" y="0"/>
                  </a:lnTo>
                  <a:lnTo>
                    <a:pt x="257277" y="2022207"/>
                  </a:lnTo>
                  <a:lnTo>
                    <a:pt x="0" y="2022207"/>
                  </a:lnTo>
                  <a:close/>
                </a:path>
              </a:pathLst>
            </a:custGeom>
            <a:ln w="19050" cap="sq">
              <a:solidFill>
                <a:srgbClr val="D7E8BD"/>
              </a:solidFill>
              <a:prstDash val="solid"/>
              <a:miter/>
            </a:ln>
          </p:spPr>
        </p:sp>
        <p:sp>
          <p:nvSpPr>
            <p:cNvPr name="TextBox 7" id="7"/>
            <p:cNvSpPr txBox="true"/>
            <p:nvPr/>
          </p:nvSpPr>
          <p:spPr>
            <a:xfrm>
              <a:off x="0" y="66675"/>
              <a:ext cx="257277" cy="1955532"/>
            </a:xfrm>
            <a:prstGeom prst="rect">
              <a:avLst/>
            </a:prstGeom>
          </p:spPr>
          <p:txBody>
            <a:bodyPr anchor="ctr" rtlCol="false" tIns="50800" lIns="50800" bIns="50800" rIns="50800"/>
            <a:lstStyle/>
            <a:p>
              <a:pPr algn="ctr">
                <a:lnSpc>
                  <a:spcPts val="1977"/>
                </a:lnSpc>
              </a:pPr>
            </a:p>
          </p:txBody>
        </p:sp>
      </p:grpSp>
      <p:sp>
        <p:nvSpPr>
          <p:cNvPr name="TextBox 8" id="8"/>
          <p:cNvSpPr txBox="true"/>
          <p:nvPr/>
        </p:nvSpPr>
        <p:spPr>
          <a:xfrm rot="0">
            <a:off x="5557259" y="3929228"/>
            <a:ext cx="9094209" cy="3440868"/>
          </a:xfrm>
          <a:prstGeom prst="rect">
            <a:avLst/>
          </a:prstGeom>
        </p:spPr>
        <p:txBody>
          <a:bodyPr anchor="t" rtlCol="false" tIns="0" lIns="0" bIns="0" rIns="0">
            <a:spAutoFit/>
          </a:bodyPr>
          <a:lstStyle/>
          <a:p>
            <a:pPr algn="l">
              <a:lnSpc>
                <a:spcPts val="8817"/>
              </a:lnSpc>
            </a:pPr>
            <a:r>
              <a:rPr lang="en-US" sz="9797" b="true">
                <a:solidFill>
                  <a:srgbClr val="FFFFFF"/>
                </a:solidFill>
                <a:latin typeface="Muli Ultra-Bold"/>
                <a:ea typeface="Muli Ultra-Bold"/>
                <a:cs typeface="Muli Ultra-Bold"/>
                <a:sym typeface="Muli Ultra-Bold"/>
              </a:rPr>
              <a:t>Natural   Resources of Bangladesh</a:t>
            </a:r>
          </a:p>
        </p:txBody>
      </p:sp>
      <p:sp>
        <p:nvSpPr>
          <p:cNvPr name="TextBox 9" id="9"/>
          <p:cNvSpPr txBox="true"/>
          <p:nvPr/>
        </p:nvSpPr>
        <p:spPr>
          <a:xfrm rot="0">
            <a:off x="7534653" y="1334598"/>
            <a:ext cx="1933326" cy="264645"/>
          </a:xfrm>
          <a:prstGeom prst="rect">
            <a:avLst/>
          </a:prstGeom>
        </p:spPr>
        <p:txBody>
          <a:bodyPr anchor="t" rtlCol="false" tIns="0" lIns="0" bIns="0" rIns="0">
            <a:spAutoFit/>
          </a:bodyPr>
          <a:lstStyle/>
          <a:p>
            <a:pPr algn="l">
              <a:lnSpc>
                <a:spcPts val="1977"/>
              </a:lnSpc>
            </a:pPr>
            <a:r>
              <a:rPr lang="en-US" sz="2197">
                <a:solidFill>
                  <a:srgbClr val="FFFFFF"/>
                </a:solidFill>
                <a:latin typeface="Muli Extra-Light"/>
                <a:ea typeface="Muli Extra-Light"/>
                <a:cs typeface="Muli Extra-Light"/>
                <a:sym typeface="Muli Extra-Light"/>
              </a:rPr>
              <a:t>Presented by </a:t>
            </a:r>
          </a:p>
        </p:txBody>
      </p:sp>
      <p:sp>
        <p:nvSpPr>
          <p:cNvPr name="TextBox 10" id="10"/>
          <p:cNvSpPr txBox="true"/>
          <p:nvPr/>
        </p:nvSpPr>
        <p:spPr>
          <a:xfrm rot="0">
            <a:off x="9281538" y="1334598"/>
            <a:ext cx="2950273" cy="266982"/>
          </a:xfrm>
          <a:prstGeom prst="rect">
            <a:avLst/>
          </a:prstGeom>
        </p:spPr>
        <p:txBody>
          <a:bodyPr anchor="t" rtlCol="false" tIns="0" lIns="0" bIns="0" rIns="0">
            <a:spAutoFit/>
          </a:bodyPr>
          <a:lstStyle/>
          <a:p>
            <a:pPr algn="l">
              <a:lnSpc>
                <a:spcPts val="1977"/>
              </a:lnSpc>
            </a:pPr>
            <a:r>
              <a:rPr lang="en-US" sz="2197" b="true">
                <a:solidFill>
                  <a:srgbClr val="FFFFFF"/>
                </a:solidFill>
                <a:latin typeface="Muli Ultra-Bold"/>
                <a:ea typeface="Muli Ultra-Bold"/>
                <a:cs typeface="Muli Ultra-Bold"/>
                <a:sym typeface="Muli Ultra-Bold"/>
              </a:rPr>
              <a:t>Group 4</a:t>
            </a:r>
          </a:p>
        </p:txBody>
      </p:sp>
      <p:grpSp>
        <p:nvGrpSpPr>
          <p:cNvPr name="Group 11" id="11"/>
          <p:cNvGrpSpPr/>
          <p:nvPr/>
        </p:nvGrpSpPr>
        <p:grpSpPr>
          <a:xfrm rot="0">
            <a:off x="-488424" y="5143500"/>
            <a:ext cx="976849" cy="7678068"/>
            <a:chOff x="0" y="0"/>
            <a:chExt cx="257277" cy="2022207"/>
          </a:xfrm>
        </p:grpSpPr>
        <p:sp>
          <p:nvSpPr>
            <p:cNvPr name="Freeform 12" id="12"/>
            <p:cNvSpPr/>
            <p:nvPr/>
          </p:nvSpPr>
          <p:spPr>
            <a:xfrm flipH="false" flipV="false" rot="0">
              <a:off x="0" y="0"/>
              <a:ext cx="257277" cy="2022207"/>
            </a:xfrm>
            <a:custGeom>
              <a:avLst/>
              <a:gdLst/>
              <a:ahLst/>
              <a:cxnLst/>
              <a:rect r="r" b="b" t="t" l="l"/>
              <a:pathLst>
                <a:path h="2022207" w="257277">
                  <a:moveTo>
                    <a:pt x="0" y="0"/>
                  </a:moveTo>
                  <a:lnTo>
                    <a:pt x="257277" y="0"/>
                  </a:lnTo>
                  <a:lnTo>
                    <a:pt x="257277" y="2022207"/>
                  </a:lnTo>
                  <a:lnTo>
                    <a:pt x="0" y="2022207"/>
                  </a:lnTo>
                  <a:close/>
                </a:path>
              </a:pathLst>
            </a:custGeom>
            <a:ln w="28575" cap="sq">
              <a:solidFill>
                <a:srgbClr val="D7E8BD"/>
              </a:solidFill>
              <a:prstDash val="solid"/>
              <a:miter/>
            </a:ln>
          </p:spPr>
        </p:sp>
        <p:sp>
          <p:nvSpPr>
            <p:cNvPr name="TextBox 13" id="13"/>
            <p:cNvSpPr txBox="true"/>
            <p:nvPr/>
          </p:nvSpPr>
          <p:spPr>
            <a:xfrm>
              <a:off x="0" y="66675"/>
              <a:ext cx="257277" cy="1955532"/>
            </a:xfrm>
            <a:prstGeom prst="rect">
              <a:avLst/>
            </a:prstGeom>
          </p:spPr>
          <p:txBody>
            <a:bodyPr anchor="ctr" rtlCol="false" tIns="50800" lIns="50800" bIns="50800" rIns="50800"/>
            <a:lstStyle/>
            <a:p>
              <a:pPr algn="ctr">
                <a:lnSpc>
                  <a:spcPts val="1977"/>
                </a:lnSpc>
              </a:pPr>
            </a:p>
          </p:txBody>
        </p:sp>
      </p:grpSp>
      <p:grpSp>
        <p:nvGrpSpPr>
          <p:cNvPr name="Group 14" id="14"/>
          <p:cNvGrpSpPr/>
          <p:nvPr/>
        </p:nvGrpSpPr>
        <p:grpSpPr>
          <a:xfrm rot="0">
            <a:off x="211303" y="7370096"/>
            <a:ext cx="580508" cy="1487603"/>
            <a:chOff x="0" y="0"/>
            <a:chExt cx="152891" cy="391797"/>
          </a:xfrm>
        </p:grpSpPr>
        <p:sp>
          <p:nvSpPr>
            <p:cNvPr name="Freeform 15" id="15"/>
            <p:cNvSpPr/>
            <p:nvPr/>
          </p:nvSpPr>
          <p:spPr>
            <a:xfrm flipH="false" flipV="false" rot="0">
              <a:off x="0" y="0"/>
              <a:ext cx="152891" cy="391797"/>
            </a:xfrm>
            <a:custGeom>
              <a:avLst/>
              <a:gdLst/>
              <a:ahLst/>
              <a:cxnLst/>
              <a:rect r="r" b="b" t="t" l="l"/>
              <a:pathLst>
                <a:path h="391797" w="152891">
                  <a:moveTo>
                    <a:pt x="0" y="0"/>
                  </a:moveTo>
                  <a:lnTo>
                    <a:pt x="152891" y="0"/>
                  </a:lnTo>
                  <a:lnTo>
                    <a:pt x="152891" y="391797"/>
                  </a:lnTo>
                  <a:lnTo>
                    <a:pt x="0" y="391797"/>
                  </a:lnTo>
                  <a:close/>
                </a:path>
              </a:pathLst>
            </a:custGeom>
            <a:solidFill>
              <a:srgbClr val="8CC342"/>
            </a:solidFill>
            <a:ln cap="sq">
              <a:noFill/>
              <a:prstDash val="solid"/>
              <a:miter/>
            </a:ln>
          </p:spPr>
        </p:sp>
        <p:sp>
          <p:nvSpPr>
            <p:cNvPr name="TextBox 16" id="16"/>
            <p:cNvSpPr txBox="true"/>
            <p:nvPr/>
          </p:nvSpPr>
          <p:spPr>
            <a:xfrm>
              <a:off x="0" y="66675"/>
              <a:ext cx="152891" cy="325122"/>
            </a:xfrm>
            <a:prstGeom prst="rect">
              <a:avLst/>
            </a:prstGeom>
          </p:spPr>
          <p:txBody>
            <a:bodyPr anchor="ctr" rtlCol="false" tIns="50800" lIns="50800" bIns="50800" rIns="50800"/>
            <a:lstStyle/>
            <a:p>
              <a:pPr algn="ctr">
                <a:lnSpc>
                  <a:spcPts val="1977"/>
                </a:lnSpc>
              </a:pPr>
            </a:p>
          </p:txBody>
        </p:sp>
      </p:grpSp>
      <p:grpSp>
        <p:nvGrpSpPr>
          <p:cNvPr name="Group 17" id="17"/>
          <p:cNvGrpSpPr/>
          <p:nvPr/>
        </p:nvGrpSpPr>
        <p:grpSpPr>
          <a:xfrm rot="0">
            <a:off x="17159855" y="2464433"/>
            <a:ext cx="580508" cy="1487603"/>
            <a:chOff x="0" y="0"/>
            <a:chExt cx="152891" cy="391797"/>
          </a:xfrm>
        </p:grpSpPr>
        <p:sp>
          <p:nvSpPr>
            <p:cNvPr name="Freeform 18" id="18"/>
            <p:cNvSpPr/>
            <p:nvPr/>
          </p:nvSpPr>
          <p:spPr>
            <a:xfrm flipH="false" flipV="false" rot="0">
              <a:off x="0" y="0"/>
              <a:ext cx="152891" cy="391797"/>
            </a:xfrm>
            <a:custGeom>
              <a:avLst/>
              <a:gdLst/>
              <a:ahLst/>
              <a:cxnLst/>
              <a:rect r="r" b="b" t="t" l="l"/>
              <a:pathLst>
                <a:path h="391797" w="152891">
                  <a:moveTo>
                    <a:pt x="0" y="0"/>
                  </a:moveTo>
                  <a:lnTo>
                    <a:pt x="152891" y="0"/>
                  </a:lnTo>
                  <a:lnTo>
                    <a:pt x="152891" y="391797"/>
                  </a:lnTo>
                  <a:lnTo>
                    <a:pt x="0" y="391797"/>
                  </a:lnTo>
                  <a:close/>
                </a:path>
              </a:pathLst>
            </a:custGeom>
            <a:solidFill>
              <a:srgbClr val="8CC342"/>
            </a:solidFill>
            <a:ln cap="sq">
              <a:noFill/>
              <a:prstDash val="solid"/>
              <a:miter/>
            </a:ln>
          </p:spPr>
        </p:sp>
        <p:sp>
          <p:nvSpPr>
            <p:cNvPr name="TextBox 19" id="19"/>
            <p:cNvSpPr txBox="true"/>
            <p:nvPr/>
          </p:nvSpPr>
          <p:spPr>
            <a:xfrm>
              <a:off x="0" y="66675"/>
              <a:ext cx="152891" cy="325122"/>
            </a:xfrm>
            <a:prstGeom prst="rect">
              <a:avLst/>
            </a:prstGeom>
          </p:spPr>
          <p:txBody>
            <a:bodyPr anchor="ctr" rtlCol="false" tIns="50800" lIns="50800" bIns="50800" rIns="50800"/>
            <a:lstStyle/>
            <a:p>
              <a:pPr algn="ctr">
                <a:lnSpc>
                  <a:spcPts val="1977"/>
                </a:lnSpc>
              </a:pPr>
            </a:p>
          </p:txBody>
        </p:sp>
      </p:grpSp>
      <p:sp>
        <p:nvSpPr>
          <p:cNvPr name="Freeform 20" id="20">
            <a:hlinkClick r:id="rId9" action="ppaction://hlinksldjump"/>
          </p:cNvPr>
          <p:cNvSpPr/>
          <p:nvPr/>
        </p:nvSpPr>
        <p:spPr>
          <a:xfrm flipH="false" flipV="false" rot="0">
            <a:off x="16935661" y="9258300"/>
            <a:ext cx="553252" cy="553252"/>
          </a:xfrm>
          <a:custGeom>
            <a:avLst/>
            <a:gdLst/>
            <a:ahLst/>
            <a:cxnLst/>
            <a:rect r="r" b="b" t="t" l="l"/>
            <a:pathLst>
              <a:path h="553252" w="553252">
                <a:moveTo>
                  <a:pt x="0" y="0"/>
                </a:moveTo>
                <a:lnTo>
                  <a:pt x="553252" y="0"/>
                </a:lnTo>
                <a:lnTo>
                  <a:pt x="553252" y="553252"/>
                </a:lnTo>
                <a:lnTo>
                  <a:pt x="0" y="55325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028700" y="529209"/>
            <a:ext cx="991885" cy="1361856"/>
          </a:xfrm>
          <a:custGeom>
            <a:avLst/>
            <a:gdLst/>
            <a:ahLst/>
            <a:cxnLst/>
            <a:rect r="r" b="b" t="t" l="l"/>
            <a:pathLst>
              <a:path h="1361856" w="991885">
                <a:moveTo>
                  <a:pt x="0" y="0"/>
                </a:moveTo>
                <a:lnTo>
                  <a:pt x="991885" y="0"/>
                </a:lnTo>
                <a:lnTo>
                  <a:pt x="991885" y="1361856"/>
                </a:lnTo>
                <a:lnTo>
                  <a:pt x="0" y="13618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7259300" y="-717188"/>
            <a:ext cx="1796670" cy="1745888"/>
            <a:chOff x="0" y="0"/>
            <a:chExt cx="473197" cy="459822"/>
          </a:xfrm>
        </p:grpSpPr>
        <p:sp>
          <p:nvSpPr>
            <p:cNvPr name="Freeform 5" id="5"/>
            <p:cNvSpPr/>
            <p:nvPr/>
          </p:nvSpPr>
          <p:spPr>
            <a:xfrm flipH="false" flipV="false" rot="0">
              <a:off x="0" y="0"/>
              <a:ext cx="473197" cy="459822"/>
            </a:xfrm>
            <a:custGeom>
              <a:avLst/>
              <a:gdLst/>
              <a:ahLst/>
              <a:cxnLst/>
              <a:rect r="r" b="b" t="t" l="l"/>
              <a:pathLst>
                <a:path h="459822" w="473197">
                  <a:moveTo>
                    <a:pt x="0" y="0"/>
                  </a:moveTo>
                  <a:lnTo>
                    <a:pt x="473197" y="0"/>
                  </a:lnTo>
                  <a:lnTo>
                    <a:pt x="473197" y="459822"/>
                  </a:lnTo>
                  <a:lnTo>
                    <a:pt x="0" y="459822"/>
                  </a:lnTo>
                  <a:close/>
                </a:path>
              </a:pathLst>
            </a:custGeom>
            <a:solidFill>
              <a:srgbClr val="415636"/>
            </a:solidFill>
          </p:spPr>
        </p:sp>
        <p:sp>
          <p:nvSpPr>
            <p:cNvPr name="TextBox 6" id="6"/>
            <p:cNvSpPr txBox="true"/>
            <p:nvPr/>
          </p:nvSpPr>
          <p:spPr>
            <a:xfrm>
              <a:off x="0" y="66675"/>
              <a:ext cx="473197" cy="393147"/>
            </a:xfrm>
            <a:prstGeom prst="rect">
              <a:avLst/>
            </a:prstGeom>
          </p:spPr>
          <p:txBody>
            <a:bodyPr anchor="ctr" rtlCol="false" tIns="50800" lIns="50800" bIns="50800" rIns="50800"/>
            <a:lstStyle/>
            <a:p>
              <a:pPr algn="ctr">
                <a:lnSpc>
                  <a:spcPts val="1977"/>
                </a:lnSpc>
              </a:pPr>
            </a:p>
          </p:txBody>
        </p:sp>
      </p:grpSp>
      <p:sp>
        <p:nvSpPr>
          <p:cNvPr name="TextBox 7" id="7"/>
          <p:cNvSpPr txBox="true"/>
          <p:nvPr/>
        </p:nvSpPr>
        <p:spPr>
          <a:xfrm rot="0">
            <a:off x="2383856" y="735820"/>
            <a:ext cx="8638844" cy="1155245"/>
          </a:xfrm>
          <a:prstGeom prst="rect">
            <a:avLst/>
          </a:prstGeom>
        </p:spPr>
        <p:txBody>
          <a:bodyPr anchor="t" rtlCol="false" tIns="0" lIns="0" bIns="0" rIns="0">
            <a:spAutoFit/>
          </a:bodyPr>
          <a:lstStyle/>
          <a:p>
            <a:pPr algn="l">
              <a:lnSpc>
                <a:spcPts val="8818"/>
              </a:lnSpc>
            </a:pPr>
            <a:r>
              <a:rPr lang="en-US" sz="8241" b="true">
                <a:solidFill>
                  <a:srgbClr val="009444"/>
                </a:solidFill>
                <a:latin typeface="Muli Ultra-Bold"/>
                <a:ea typeface="Muli Ultra-Bold"/>
                <a:cs typeface="Muli Ultra-Bold"/>
                <a:sym typeface="Muli Ultra-Bold"/>
              </a:rPr>
              <a:t>Group Member</a:t>
            </a:r>
          </a:p>
          <a:p>
            <a:pPr algn="l">
              <a:lnSpc>
                <a:spcPts val="8818"/>
              </a:lnSpc>
            </a:pPr>
          </a:p>
        </p:txBody>
      </p:sp>
      <p:sp>
        <p:nvSpPr>
          <p:cNvPr name="TextBox 8" id="8"/>
          <p:cNvSpPr txBox="true"/>
          <p:nvPr/>
        </p:nvSpPr>
        <p:spPr>
          <a:xfrm rot="0">
            <a:off x="17488913" y="256401"/>
            <a:ext cx="673573" cy="497991"/>
          </a:xfrm>
          <a:prstGeom prst="rect">
            <a:avLst/>
          </a:prstGeom>
        </p:spPr>
        <p:txBody>
          <a:bodyPr anchor="t" rtlCol="false" tIns="0" lIns="0" bIns="0" rIns="0">
            <a:spAutoFit/>
          </a:bodyPr>
          <a:lstStyle/>
          <a:p>
            <a:pPr algn="l">
              <a:lnSpc>
                <a:spcPts val="4181"/>
              </a:lnSpc>
              <a:spcBef>
                <a:spcPct val="0"/>
              </a:spcBef>
            </a:pPr>
            <a:r>
              <a:rPr lang="en-US" b="true" sz="2987">
                <a:solidFill>
                  <a:srgbClr val="FFFFFF"/>
                </a:solidFill>
                <a:latin typeface="Muli Ultra-Bold"/>
                <a:ea typeface="Muli Ultra-Bold"/>
                <a:cs typeface="Muli Ultra-Bold"/>
                <a:sym typeface="Muli Ultra-Bold"/>
              </a:rPr>
              <a:t>02</a:t>
            </a:r>
          </a:p>
        </p:txBody>
      </p:sp>
      <p:grpSp>
        <p:nvGrpSpPr>
          <p:cNvPr name="Group 9" id="9"/>
          <p:cNvGrpSpPr/>
          <p:nvPr/>
        </p:nvGrpSpPr>
        <p:grpSpPr>
          <a:xfrm rot="-5400000">
            <a:off x="9217498" y="5740956"/>
            <a:ext cx="8993465" cy="14021906"/>
            <a:chOff x="0" y="0"/>
            <a:chExt cx="2368649" cy="3693012"/>
          </a:xfrm>
        </p:grpSpPr>
        <p:sp>
          <p:nvSpPr>
            <p:cNvPr name="Freeform 10" id="10"/>
            <p:cNvSpPr/>
            <p:nvPr/>
          </p:nvSpPr>
          <p:spPr>
            <a:xfrm flipH="false" flipV="false" rot="0">
              <a:off x="0" y="0"/>
              <a:ext cx="2368649" cy="3693012"/>
            </a:xfrm>
            <a:custGeom>
              <a:avLst/>
              <a:gdLst/>
              <a:ahLst/>
              <a:cxnLst/>
              <a:rect r="r" b="b" t="t" l="l"/>
              <a:pathLst>
                <a:path h="3693012" w="2368649">
                  <a:moveTo>
                    <a:pt x="0" y="0"/>
                  </a:moveTo>
                  <a:lnTo>
                    <a:pt x="2368649" y="0"/>
                  </a:lnTo>
                  <a:lnTo>
                    <a:pt x="2368649" y="3693012"/>
                  </a:lnTo>
                  <a:lnTo>
                    <a:pt x="0" y="3693012"/>
                  </a:lnTo>
                  <a:close/>
                </a:path>
              </a:pathLst>
            </a:custGeom>
            <a:solidFill>
              <a:srgbClr val="415636"/>
            </a:solidFill>
          </p:spPr>
        </p:sp>
        <p:sp>
          <p:nvSpPr>
            <p:cNvPr name="TextBox 11" id="11"/>
            <p:cNvSpPr txBox="true"/>
            <p:nvPr/>
          </p:nvSpPr>
          <p:spPr>
            <a:xfrm>
              <a:off x="0" y="66675"/>
              <a:ext cx="2368649" cy="3626337"/>
            </a:xfrm>
            <a:prstGeom prst="rect">
              <a:avLst/>
            </a:prstGeom>
          </p:spPr>
          <p:txBody>
            <a:bodyPr anchor="ctr" rtlCol="false" tIns="50800" lIns="50800" bIns="50800" rIns="50800"/>
            <a:lstStyle/>
            <a:p>
              <a:pPr algn="ctr">
                <a:lnSpc>
                  <a:spcPts val="1977"/>
                </a:lnSpc>
              </a:pPr>
            </a:p>
          </p:txBody>
        </p:sp>
      </p:grpSp>
      <p:grpSp>
        <p:nvGrpSpPr>
          <p:cNvPr name="Group 12" id="12"/>
          <p:cNvGrpSpPr/>
          <p:nvPr/>
        </p:nvGrpSpPr>
        <p:grpSpPr>
          <a:xfrm rot="-5400000">
            <a:off x="1799615" y="5740956"/>
            <a:ext cx="8993465" cy="14021906"/>
            <a:chOff x="0" y="0"/>
            <a:chExt cx="2368649" cy="3693012"/>
          </a:xfrm>
        </p:grpSpPr>
        <p:sp>
          <p:nvSpPr>
            <p:cNvPr name="Freeform 13" id="13"/>
            <p:cNvSpPr/>
            <p:nvPr/>
          </p:nvSpPr>
          <p:spPr>
            <a:xfrm flipH="false" flipV="false" rot="0">
              <a:off x="0" y="0"/>
              <a:ext cx="2368649" cy="3693012"/>
            </a:xfrm>
            <a:custGeom>
              <a:avLst/>
              <a:gdLst/>
              <a:ahLst/>
              <a:cxnLst/>
              <a:rect r="r" b="b" t="t" l="l"/>
              <a:pathLst>
                <a:path h="3693012" w="2368649">
                  <a:moveTo>
                    <a:pt x="0" y="0"/>
                  </a:moveTo>
                  <a:lnTo>
                    <a:pt x="2368649" y="0"/>
                  </a:lnTo>
                  <a:lnTo>
                    <a:pt x="2368649" y="3693012"/>
                  </a:lnTo>
                  <a:lnTo>
                    <a:pt x="0" y="3693012"/>
                  </a:lnTo>
                  <a:close/>
                </a:path>
              </a:pathLst>
            </a:custGeom>
            <a:solidFill>
              <a:srgbClr val="415636"/>
            </a:solidFill>
          </p:spPr>
        </p:sp>
        <p:sp>
          <p:nvSpPr>
            <p:cNvPr name="TextBox 14" id="14"/>
            <p:cNvSpPr txBox="true"/>
            <p:nvPr/>
          </p:nvSpPr>
          <p:spPr>
            <a:xfrm>
              <a:off x="0" y="66675"/>
              <a:ext cx="2368649" cy="3626337"/>
            </a:xfrm>
            <a:prstGeom prst="rect">
              <a:avLst/>
            </a:prstGeom>
          </p:spPr>
          <p:txBody>
            <a:bodyPr anchor="ctr" rtlCol="false" tIns="50800" lIns="50800" bIns="50800" rIns="50800"/>
            <a:lstStyle/>
            <a:p>
              <a:pPr algn="ctr">
                <a:lnSpc>
                  <a:spcPts val="1977"/>
                </a:lnSpc>
              </a:pPr>
            </a:p>
          </p:txBody>
        </p:sp>
      </p:grpSp>
      <p:sp>
        <p:nvSpPr>
          <p:cNvPr name="Freeform 15" id="15">
            <a:hlinkClick r:id="rId7" action="ppaction://hlinksldjump"/>
          </p:cNvPr>
          <p:cNvSpPr/>
          <p:nvPr/>
        </p:nvSpPr>
        <p:spPr>
          <a:xfrm flipH="false" flipV="false" rot="0">
            <a:off x="17488913" y="9534926"/>
            <a:ext cx="553252" cy="553252"/>
          </a:xfrm>
          <a:custGeom>
            <a:avLst/>
            <a:gdLst/>
            <a:ahLst/>
            <a:cxnLst/>
            <a:rect r="r" b="b" t="t" l="l"/>
            <a:pathLst>
              <a:path h="553252" w="553252">
                <a:moveTo>
                  <a:pt x="0" y="0"/>
                </a:moveTo>
                <a:lnTo>
                  <a:pt x="553251" y="0"/>
                </a:lnTo>
                <a:lnTo>
                  <a:pt x="553251" y="553251"/>
                </a:lnTo>
                <a:lnTo>
                  <a:pt x="0" y="55325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6" id="16">
            <a:hlinkClick r:id="rId8" action="ppaction://hlinksldjump"/>
          </p:cNvPr>
          <p:cNvSpPr/>
          <p:nvPr/>
        </p:nvSpPr>
        <p:spPr>
          <a:xfrm flipH="false" flipV="false" rot="-10800000">
            <a:off x="212097" y="9534926"/>
            <a:ext cx="553252" cy="553252"/>
          </a:xfrm>
          <a:custGeom>
            <a:avLst/>
            <a:gdLst/>
            <a:ahLst/>
            <a:cxnLst/>
            <a:rect r="r" b="b" t="t" l="l"/>
            <a:pathLst>
              <a:path h="553252" w="553252">
                <a:moveTo>
                  <a:pt x="0" y="0"/>
                </a:moveTo>
                <a:lnTo>
                  <a:pt x="553251" y="0"/>
                </a:lnTo>
                <a:lnTo>
                  <a:pt x="553251" y="553251"/>
                </a:lnTo>
                <a:lnTo>
                  <a:pt x="0" y="55325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028700" y="529209"/>
            <a:ext cx="991885" cy="1361856"/>
          </a:xfrm>
          <a:custGeom>
            <a:avLst/>
            <a:gdLst/>
            <a:ahLst/>
            <a:cxnLst/>
            <a:rect r="r" b="b" t="t" l="l"/>
            <a:pathLst>
              <a:path h="1361856" w="991885">
                <a:moveTo>
                  <a:pt x="0" y="0"/>
                </a:moveTo>
                <a:lnTo>
                  <a:pt x="991885" y="0"/>
                </a:lnTo>
                <a:lnTo>
                  <a:pt x="991885" y="1361856"/>
                </a:lnTo>
                <a:lnTo>
                  <a:pt x="0" y="13618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9798278" y="4125094"/>
            <a:ext cx="8993465" cy="13145606"/>
            <a:chOff x="0" y="0"/>
            <a:chExt cx="2368649" cy="3462217"/>
          </a:xfrm>
        </p:grpSpPr>
        <p:sp>
          <p:nvSpPr>
            <p:cNvPr name="Freeform 5" id="5"/>
            <p:cNvSpPr/>
            <p:nvPr/>
          </p:nvSpPr>
          <p:spPr>
            <a:xfrm flipH="false" flipV="false" rot="0">
              <a:off x="0" y="0"/>
              <a:ext cx="2368649" cy="3462217"/>
            </a:xfrm>
            <a:custGeom>
              <a:avLst/>
              <a:gdLst/>
              <a:ahLst/>
              <a:cxnLst/>
              <a:rect r="r" b="b" t="t" l="l"/>
              <a:pathLst>
                <a:path h="3462217" w="2368649">
                  <a:moveTo>
                    <a:pt x="0" y="0"/>
                  </a:moveTo>
                  <a:lnTo>
                    <a:pt x="2368649" y="0"/>
                  </a:lnTo>
                  <a:lnTo>
                    <a:pt x="2368649" y="3462217"/>
                  </a:lnTo>
                  <a:lnTo>
                    <a:pt x="0" y="3462217"/>
                  </a:lnTo>
                  <a:close/>
                </a:path>
              </a:pathLst>
            </a:custGeom>
            <a:solidFill>
              <a:srgbClr val="D7E8BD"/>
            </a:solidFill>
          </p:spPr>
        </p:sp>
        <p:sp>
          <p:nvSpPr>
            <p:cNvPr name="TextBox 6" id="6"/>
            <p:cNvSpPr txBox="true"/>
            <p:nvPr/>
          </p:nvSpPr>
          <p:spPr>
            <a:xfrm>
              <a:off x="0" y="66675"/>
              <a:ext cx="2368649" cy="3395542"/>
            </a:xfrm>
            <a:prstGeom prst="rect">
              <a:avLst/>
            </a:prstGeom>
          </p:spPr>
          <p:txBody>
            <a:bodyPr anchor="ctr" rtlCol="false" tIns="50800" lIns="50800" bIns="50800" rIns="50800"/>
            <a:lstStyle/>
            <a:p>
              <a:pPr algn="ctr">
                <a:lnSpc>
                  <a:spcPts val="1977"/>
                </a:lnSpc>
              </a:pPr>
            </a:p>
          </p:txBody>
        </p:sp>
      </p:grpSp>
      <p:grpSp>
        <p:nvGrpSpPr>
          <p:cNvPr name="Group 7" id="7"/>
          <p:cNvGrpSpPr/>
          <p:nvPr/>
        </p:nvGrpSpPr>
        <p:grpSpPr>
          <a:xfrm rot="0">
            <a:off x="9798278" y="2009864"/>
            <a:ext cx="4917725" cy="6640198"/>
            <a:chOff x="0" y="0"/>
            <a:chExt cx="729905" cy="985560"/>
          </a:xfrm>
        </p:grpSpPr>
        <p:sp>
          <p:nvSpPr>
            <p:cNvPr name="Freeform 8" id="8"/>
            <p:cNvSpPr/>
            <p:nvPr/>
          </p:nvSpPr>
          <p:spPr>
            <a:xfrm flipH="false" flipV="false" rot="0">
              <a:off x="0" y="0"/>
              <a:ext cx="729905" cy="985560"/>
            </a:xfrm>
            <a:custGeom>
              <a:avLst/>
              <a:gdLst/>
              <a:ahLst/>
              <a:cxnLst/>
              <a:rect r="r" b="b" t="t" l="l"/>
              <a:pathLst>
                <a:path h="985560" w="729905">
                  <a:moveTo>
                    <a:pt x="0" y="0"/>
                  </a:moveTo>
                  <a:lnTo>
                    <a:pt x="729905" y="0"/>
                  </a:lnTo>
                  <a:lnTo>
                    <a:pt x="729905" y="985560"/>
                  </a:lnTo>
                  <a:lnTo>
                    <a:pt x="0" y="985560"/>
                  </a:lnTo>
                  <a:close/>
                </a:path>
              </a:pathLst>
            </a:custGeom>
            <a:blipFill>
              <a:blip r:embed="rId5"/>
              <a:stretch>
                <a:fillRect l="0" t="-5260" r="0" b="-5260"/>
              </a:stretch>
            </a:blipFill>
          </p:spPr>
        </p:sp>
      </p:grpSp>
      <p:grpSp>
        <p:nvGrpSpPr>
          <p:cNvPr name="Group 9" id="9"/>
          <p:cNvGrpSpPr/>
          <p:nvPr/>
        </p:nvGrpSpPr>
        <p:grpSpPr>
          <a:xfrm rot="0">
            <a:off x="9798278" y="8792583"/>
            <a:ext cx="8993465" cy="14021906"/>
            <a:chOff x="0" y="0"/>
            <a:chExt cx="2368649" cy="3693012"/>
          </a:xfrm>
        </p:grpSpPr>
        <p:sp>
          <p:nvSpPr>
            <p:cNvPr name="Freeform 10" id="10"/>
            <p:cNvSpPr/>
            <p:nvPr/>
          </p:nvSpPr>
          <p:spPr>
            <a:xfrm flipH="false" flipV="false" rot="0">
              <a:off x="0" y="0"/>
              <a:ext cx="2368649" cy="3693012"/>
            </a:xfrm>
            <a:custGeom>
              <a:avLst/>
              <a:gdLst/>
              <a:ahLst/>
              <a:cxnLst/>
              <a:rect r="r" b="b" t="t" l="l"/>
              <a:pathLst>
                <a:path h="3693012" w="2368649">
                  <a:moveTo>
                    <a:pt x="0" y="0"/>
                  </a:moveTo>
                  <a:lnTo>
                    <a:pt x="2368649" y="0"/>
                  </a:lnTo>
                  <a:lnTo>
                    <a:pt x="2368649" y="3693012"/>
                  </a:lnTo>
                  <a:lnTo>
                    <a:pt x="0" y="3693012"/>
                  </a:lnTo>
                  <a:close/>
                </a:path>
              </a:pathLst>
            </a:custGeom>
            <a:solidFill>
              <a:srgbClr val="415636"/>
            </a:solidFill>
          </p:spPr>
        </p:sp>
        <p:sp>
          <p:nvSpPr>
            <p:cNvPr name="TextBox 11" id="11"/>
            <p:cNvSpPr txBox="true"/>
            <p:nvPr/>
          </p:nvSpPr>
          <p:spPr>
            <a:xfrm>
              <a:off x="0" y="66675"/>
              <a:ext cx="2368649" cy="3626337"/>
            </a:xfrm>
            <a:prstGeom prst="rect">
              <a:avLst/>
            </a:prstGeom>
          </p:spPr>
          <p:txBody>
            <a:bodyPr anchor="ctr" rtlCol="false" tIns="50800" lIns="50800" bIns="50800" rIns="50800"/>
            <a:lstStyle/>
            <a:p>
              <a:pPr algn="ctr">
                <a:lnSpc>
                  <a:spcPts val="1977"/>
                </a:lnSpc>
              </a:pPr>
            </a:p>
          </p:txBody>
        </p:sp>
      </p:grpSp>
      <p:grpSp>
        <p:nvGrpSpPr>
          <p:cNvPr name="Group 12" id="12"/>
          <p:cNvGrpSpPr/>
          <p:nvPr/>
        </p:nvGrpSpPr>
        <p:grpSpPr>
          <a:xfrm rot="0">
            <a:off x="14903199" y="2009864"/>
            <a:ext cx="2585714" cy="1776143"/>
            <a:chOff x="0" y="0"/>
            <a:chExt cx="976163" cy="670533"/>
          </a:xfrm>
        </p:grpSpPr>
        <p:sp>
          <p:nvSpPr>
            <p:cNvPr name="Freeform 13" id="13"/>
            <p:cNvSpPr/>
            <p:nvPr/>
          </p:nvSpPr>
          <p:spPr>
            <a:xfrm flipH="false" flipV="false" rot="0">
              <a:off x="0" y="0"/>
              <a:ext cx="976163" cy="670533"/>
            </a:xfrm>
            <a:custGeom>
              <a:avLst/>
              <a:gdLst/>
              <a:ahLst/>
              <a:cxnLst/>
              <a:rect r="r" b="b" t="t" l="l"/>
              <a:pathLst>
                <a:path h="670533" w="976163">
                  <a:moveTo>
                    <a:pt x="0" y="0"/>
                  </a:moveTo>
                  <a:lnTo>
                    <a:pt x="976163" y="0"/>
                  </a:lnTo>
                  <a:lnTo>
                    <a:pt x="976163" y="670533"/>
                  </a:lnTo>
                  <a:lnTo>
                    <a:pt x="0" y="670533"/>
                  </a:lnTo>
                  <a:close/>
                </a:path>
              </a:pathLst>
            </a:custGeom>
            <a:blipFill>
              <a:blip r:embed="rId6"/>
              <a:stretch>
                <a:fillRect l="-1550" t="0" r="-1550" b="0"/>
              </a:stretch>
            </a:blipFill>
          </p:spPr>
        </p:sp>
      </p:grpSp>
      <p:grpSp>
        <p:nvGrpSpPr>
          <p:cNvPr name="Group 14" id="14"/>
          <p:cNvGrpSpPr/>
          <p:nvPr/>
        </p:nvGrpSpPr>
        <p:grpSpPr>
          <a:xfrm rot="0">
            <a:off x="14903199" y="4125094"/>
            <a:ext cx="2585714" cy="4524967"/>
            <a:chOff x="0" y="0"/>
            <a:chExt cx="976163" cy="1708274"/>
          </a:xfrm>
        </p:grpSpPr>
        <p:sp>
          <p:nvSpPr>
            <p:cNvPr name="Freeform 15" id="15"/>
            <p:cNvSpPr/>
            <p:nvPr/>
          </p:nvSpPr>
          <p:spPr>
            <a:xfrm flipH="false" flipV="false" rot="0">
              <a:off x="0" y="0"/>
              <a:ext cx="976163" cy="1708274"/>
            </a:xfrm>
            <a:custGeom>
              <a:avLst/>
              <a:gdLst/>
              <a:ahLst/>
              <a:cxnLst/>
              <a:rect r="r" b="b" t="t" l="l"/>
              <a:pathLst>
                <a:path h="1708274" w="976163">
                  <a:moveTo>
                    <a:pt x="0" y="0"/>
                  </a:moveTo>
                  <a:lnTo>
                    <a:pt x="976163" y="0"/>
                  </a:lnTo>
                  <a:lnTo>
                    <a:pt x="976163" y="1708274"/>
                  </a:lnTo>
                  <a:lnTo>
                    <a:pt x="0" y="1708274"/>
                  </a:lnTo>
                  <a:close/>
                </a:path>
              </a:pathLst>
            </a:custGeom>
            <a:blipFill>
              <a:blip r:embed="rId7"/>
              <a:stretch>
                <a:fillRect l="-81208" t="0" r="-81208" b="0"/>
              </a:stretch>
            </a:blipFill>
          </p:spPr>
        </p:sp>
      </p:grpSp>
      <p:grpSp>
        <p:nvGrpSpPr>
          <p:cNvPr name="Group 16" id="16"/>
          <p:cNvGrpSpPr/>
          <p:nvPr/>
        </p:nvGrpSpPr>
        <p:grpSpPr>
          <a:xfrm rot="0">
            <a:off x="17259300" y="-717188"/>
            <a:ext cx="1796670" cy="1745888"/>
            <a:chOff x="0" y="0"/>
            <a:chExt cx="473197" cy="459822"/>
          </a:xfrm>
        </p:grpSpPr>
        <p:sp>
          <p:nvSpPr>
            <p:cNvPr name="Freeform 17" id="17"/>
            <p:cNvSpPr/>
            <p:nvPr/>
          </p:nvSpPr>
          <p:spPr>
            <a:xfrm flipH="false" flipV="false" rot="0">
              <a:off x="0" y="0"/>
              <a:ext cx="473197" cy="459822"/>
            </a:xfrm>
            <a:custGeom>
              <a:avLst/>
              <a:gdLst/>
              <a:ahLst/>
              <a:cxnLst/>
              <a:rect r="r" b="b" t="t" l="l"/>
              <a:pathLst>
                <a:path h="459822" w="473197">
                  <a:moveTo>
                    <a:pt x="0" y="0"/>
                  </a:moveTo>
                  <a:lnTo>
                    <a:pt x="473197" y="0"/>
                  </a:lnTo>
                  <a:lnTo>
                    <a:pt x="473197" y="459822"/>
                  </a:lnTo>
                  <a:lnTo>
                    <a:pt x="0" y="459822"/>
                  </a:lnTo>
                  <a:close/>
                </a:path>
              </a:pathLst>
            </a:custGeom>
            <a:solidFill>
              <a:srgbClr val="415636"/>
            </a:solidFill>
          </p:spPr>
        </p:sp>
        <p:sp>
          <p:nvSpPr>
            <p:cNvPr name="TextBox 18" id="18"/>
            <p:cNvSpPr txBox="true"/>
            <p:nvPr/>
          </p:nvSpPr>
          <p:spPr>
            <a:xfrm>
              <a:off x="0" y="66675"/>
              <a:ext cx="473197" cy="393147"/>
            </a:xfrm>
            <a:prstGeom prst="rect">
              <a:avLst/>
            </a:prstGeom>
          </p:spPr>
          <p:txBody>
            <a:bodyPr anchor="ctr" rtlCol="false" tIns="50800" lIns="50800" bIns="50800" rIns="50800"/>
            <a:lstStyle/>
            <a:p>
              <a:pPr algn="ctr">
                <a:lnSpc>
                  <a:spcPts val="1977"/>
                </a:lnSpc>
              </a:pPr>
            </a:p>
          </p:txBody>
        </p:sp>
      </p:grpSp>
      <p:sp>
        <p:nvSpPr>
          <p:cNvPr name="Freeform 19" id="19">
            <a:hlinkClick r:id="rId10" action="ppaction://hlinksldjump"/>
          </p:cNvPr>
          <p:cNvSpPr/>
          <p:nvPr/>
        </p:nvSpPr>
        <p:spPr>
          <a:xfrm flipH="false" flipV="false" rot="0">
            <a:off x="17259300" y="9534926"/>
            <a:ext cx="553252" cy="553252"/>
          </a:xfrm>
          <a:custGeom>
            <a:avLst/>
            <a:gdLst/>
            <a:ahLst/>
            <a:cxnLst/>
            <a:rect r="r" b="b" t="t" l="l"/>
            <a:pathLst>
              <a:path h="553252" w="553252">
                <a:moveTo>
                  <a:pt x="0" y="0"/>
                </a:moveTo>
                <a:lnTo>
                  <a:pt x="553252" y="0"/>
                </a:lnTo>
                <a:lnTo>
                  <a:pt x="553252" y="553251"/>
                </a:lnTo>
                <a:lnTo>
                  <a:pt x="0" y="55325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20" id="20"/>
          <p:cNvSpPr txBox="true"/>
          <p:nvPr/>
        </p:nvSpPr>
        <p:spPr>
          <a:xfrm rot="0">
            <a:off x="2090262" y="624459"/>
            <a:ext cx="7076820" cy="1155245"/>
          </a:xfrm>
          <a:prstGeom prst="rect">
            <a:avLst/>
          </a:prstGeom>
        </p:spPr>
        <p:txBody>
          <a:bodyPr anchor="t" rtlCol="false" tIns="0" lIns="0" bIns="0" rIns="0">
            <a:spAutoFit/>
          </a:bodyPr>
          <a:lstStyle/>
          <a:p>
            <a:pPr algn="l">
              <a:lnSpc>
                <a:spcPts val="8818"/>
              </a:lnSpc>
            </a:pPr>
            <a:r>
              <a:rPr lang="en-US" sz="8241" b="true">
                <a:solidFill>
                  <a:srgbClr val="009444"/>
                </a:solidFill>
                <a:latin typeface="Muli Ultra-Bold"/>
                <a:ea typeface="Muli Ultra-Bold"/>
                <a:cs typeface="Muli Ultra-Bold"/>
                <a:sym typeface="Muli Ultra-Bold"/>
              </a:rPr>
              <a:t>Introduction</a:t>
            </a:r>
          </a:p>
        </p:txBody>
      </p:sp>
      <p:sp>
        <p:nvSpPr>
          <p:cNvPr name="TextBox 21" id="21"/>
          <p:cNvSpPr txBox="true"/>
          <p:nvPr/>
        </p:nvSpPr>
        <p:spPr>
          <a:xfrm rot="0">
            <a:off x="1524643" y="5452299"/>
            <a:ext cx="8032845" cy="4359253"/>
          </a:xfrm>
          <a:prstGeom prst="rect">
            <a:avLst/>
          </a:prstGeom>
        </p:spPr>
        <p:txBody>
          <a:bodyPr anchor="t" rtlCol="false" tIns="0" lIns="0" bIns="0" rIns="0">
            <a:spAutoFit/>
          </a:bodyPr>
          <a:lstStyle/>
          <a:p>
            <a:pPr algn="l">
              <a:lnSpc>
                <a:spcPts val="3851"/>
              </a:lnSpc>
              <a:spcBef>
                <a:spcPct val="0"/>
              </a:spcBef>
            </a:pPr>
            <a:r>
              <a:rPr lang="en-US" b="true" sz="2750">
                <a:solidFill>
                  <a:srgbClr val="2B3B29"/>
                </a:solidFill>
                <a:latin typeface="Muli Bold"/>
                <a:ea typeface="Muli Bold"/>
                <a:cs typeface="Muli Bold"/>
                <a:sym typeface="Muli Bold"/>
              </a:rPr>
              <a:t>Bangladesh is a naturally blessed country with various resources like land, water, forests, and minerals. These resources play a vital role in our economy and daily life. Natural resources are mainly divided into renewable and non-renewable resources. In this presentation, we will discuss the major natural resources of Bangladesh and their importance.</a:t>
            </a:r>
          </a:p>
          <a:p>
            <a:pPr algn="l">
              <a:lnSpc>
                <a:spcPts val="3851"/>
              </a:lnSpc>
              <a:spcBef>
                <a:spcPct val="0"/>
              </a:spcBef>
            </a:pPr>
          </a:p>
        </p:txBody>
      </p:sp>
      <p:sp>
        <p:nvSpPr>
          <p:cNvPr name="TextBox 22" id="22"/>
          <p:cNvSpPr txBox="true"/>
          <p:nvPr/>
        </p:nvSpPr>
        <p:spPr>
          <a:xfrm rot="0">
            <a:off x="17488913" y="256401"/>
            <a:ext cx="673573" cy="497991"/>
          </a:xfrm>
          <a:prstGeom prst="rect">
            <a:avLst/>
          </a:prstGeom>
        </p:spPr>
        <p:txBody>
          <a:bodyPr anchor="t" rtlCol="false" tIns="0" lIns="0" bIns="0" rIns="0">
            <a:spAutoFit/>
          </a:bodyPr>
          <a:lstStyle/>
          <a:p>
            <a:pPr algn="l">
              <a:lnSpc>
                <a:spcPts val="4181"/>
              </a:lnSpc>
              <a:spcBef>
                <a:spcPct val="0"/>
              </a:spcBef>
            </a:pPr>
            <a:r>
              <a:rPr lang="en-US" b="true" sz="2987">
                <a:solidFill>
                  <a:srgbClr val="FFFFFF"/>
                </a:solidFill>
                <a:latin typeface="Muli Ultra-Bold"/>
                <a:ea typeface="Muli Ultra-Bold"/>
                <a:cs typeface="Muli Ultra-Bold"/>
                <a:sym typeface="Muli Ultra-Bold"/>
              </a:rPr>
              <a:t>03</a:t>
            </a:r>
          </a:p>
        </p:txBody>
      </p:sp>
      <p:sp>
        <p:nvSpPr>
          <p:cNvPr name="TextBox 23" id="23"/>
          <p:cNvSpPr txBox="true"/>
          <p:nvPr/>
        </p:nvSpPr>
        <p:spPr>
          <a:xfrm rot="0">
            <a:off x="1524643" y="2512425"/>
            <a:ext cx="7548834" cy="2499540"/>
          </a:xfrm>
          <a:prstGeom prst="rect">
            <a:avLst/>
          </a:prstGeom>
        </p:spPr>
        <p:txBody>
          <a:bodyPr anchor="t" rtlCol="false" tIns="0" lIns="0" bIns="0" rIns="0">
            <a:spAutoFit/>
          </a:bodyPr>
          <a:lstStyle/>
          <a:p>
            <a:pPr algn="l" marL="613151" indent="-306575" lvl="1">
              <a:lnSpc>
                <a:spcPts val="3975"/>
              </a:lnSpc>
              <a:buFont typeface="Arial"/>
              <a:buChar char="•"/>
            </a:pPr>
            <a:r>
              <a:rPr lang="en-US" b="true" sz="2839">
                <a:solidFill>
                  <a:srgbClr val="000000"/>
                </a:solidFill>
                <a:latin typeface="Muli Ultra-Bold"/>
                <a:ea typeface="Muli Ultra-Bold"/>
                <a:cs typeface="Muli Ultra-Bold"/>
                <a:sym typeface="Muli Ultra-Bold"/>
              </a:rPr>
              <a:t>Bangladesh is rich in natural resources</a:t>
            </a:r>
          </a:p>
          <a:p>
            <a:pPr algn="l" marL="613151" indent="-306575" lvl="1">
              <a:lnSpc>
                <a:spcPts val="3975"/>
              </a:lnSpc>
              <a:buFont typeface="Arial"/>
              <a:buChar char="•"/>
            </a:pPr>
            <a:r>
              <a:rPr lang="en-US" b="true" sz="2839">
                <a:solidFill>
                  <a:srgbClr val="000000"/>
                </a:solidFill>
                <a:latin typeface="Muli Ultra-Bold"/>
                <a:ea typeface="Muli Ultra-Bold"/>
                <a:cs typeface="Muli Ultra-Bold"/>
                <a:sym typeface="Muli Ultra-Bold"/>
              </a:rPr>
              <a:t>These resources support economy &amp; livelihood</a:t>
            </a:r>
          </a:p>
          <a:p>
            <a:pPr algn="l" marL="613151" indent="-306575" lvl="1">
              <a:lnSpc>
                <a:spcPts val="3975"/>
              </a:lnSpc>
              <a:buFont typeface="Arial"/>
              <a:buChar char="•"/>
            </a:pPr>
            <a:r>
              <a:rPr lang="en-US" b="true" sz="2839">
                <a:solidFill>
                  <a:srgbClr val="000000"/>
                </a:solidFill>
                <a:latin typeface="Muli Ultra-Bold"/>
                <a:ea typeface="Muli Ultra-Bold"/>
                <a:cs typeface="Muli Ultra-Bold"/>
                <a:sym typeface="Muli Ultra-Bold"/>
              </a:rPr>
              <a:t>Main types: renewable &amp; non-renewable</a:t>
            </a:r>
          </a:p>
        </p:txBody>
      </p:sp>
      <p:sp>
        <p:nvSpPr>
          <p:cNvPr name="Freeform 24" id="24">
            <a:hlinkClick r:id="rId13" action="ppaction://hlinksldjump"/>
          </p:cNvPr>
          <p:cNvSpPr/>
          <p:nvPr/>
        </p:nvSpPr>
        <p:spPr>
          <a:xfrm flipH="false" flipV="false" rot="-10800000">
            <a:off x="212097" y="9534926"/>
            <a:ext cx="553252" cy="553252"/>
          </a:xfrm>
          <a:custGeom>
            <a:avLst/>
            <a:gdLst/>
            <a:ahLst/>
            <a:cxnLst/>
            <a:rect r="r" b="b" t="t" l="l"/>
            <a:pathLst>
              <a:path h="553252" w="553252">
                <a:moveTo>
                  <a:pt x="0" y="0"/>
                </a:moveTo>
                <a:lnTo>
                  <a:pt x="553251" y="0"/>
                </a:lnTo>
                <a:lnTo>
                  <a:pt x="553251" y="553251"/>
                </a:lnTo>
                <a:lnTo>
                  <a:pt x="0" y="55325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028700" y="529209"/>
            <a:ext cx="991885" cy="1361856"/>
          </a:xfrm>
          <a:custGeom>
            <a:avLst/>
            <a:gdLst/>
            <a:ahLst/>
            <a:cxnLst/>
            <a:rect r="r" b="b" t="t" l="l"/>
            <a:pathLst>
              <a:path h="1361856" w="991885">
                <a:moveTo>
                  <a:pt x="0" y="0"/>
                </a:moveTo>
                <a:lnTo>
                  <a:pt x="991885" y="0"/>
                </a:lnTo>
                <a:lnTo>
                  <a:pt x="991885" y="1361856"/>
                </a:lnTo>
                <a:lnTo>
                  <a:pt x="0" y="13618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7259300" y="-717188"/>
            <a:ext cx="1796670" cy="1745888"/>
            <a:chOff x="0" y="0"/>
            <a:chExt cx="473197" cy="459822"/>
          </a:xfrm>
        </p:grpSpPr>
        <p:sp>
          <p:nvSpPr>
            <p:cNvPr name="Freeform 5" id="5"/>
            <p:cNvSpPr/>
            <p:nvPr/>
          </p:nvSpPr>
          <p:spPr>
            <a:xfrm flipH="false" flipV="false" rot="0">
              <a:off x="0" y="0"/>
              <a:ext cx="473197" cy="459822"/>
            </a:xfrm>
            <a:custGeom>
              <a:avLst/>
              <a:gdLst/>
              <a:ahLst/>
              <a:cxnLst/>
              <a:rect r="r" b="b" t="t" l="l"/>
              <a:pathLst>
                <a:path h="459822" w="473197">
                  <a:moveTo>
                    <a:pt x="0" y="0"/>
                  </a:moveTo>
                  <a:lnTo>
                    <a:pt x="473197" y="0"/>
                  </a:lnTo>
                  <a:lnTo>
                    <a:pt x="473197" y="459822"/>
                  </a:lnTo>
                  <a:lnTo>
                    <a:pt x="0" y="459822"/>
                  </a:lnTo>
                  <a:close/>
                </a:path>
              </a:pathLst>
            </a:custGeom>
            <a:solidFill>
              <a:srgbClr val="415636"/>
            </a:solidFill>
          </p:spPr>
        </p:sp>
        <p:sp>
          <p:nvSpPr>
            <p:cNvPr name="TextBox 6" id="6"/>
            <p:cNvSpPr txBox="true"/>
            <p:nvPr/>
          </p:nvSpPr>
          <p:spPr>
            <a:xfrm>
              <a:off x="0" y="66675"/>
              <a:ext cx="473197" cy="393147"/>
            </a:xfrm>
            <a:prstGeom prst="rect">
              <a:avLst/>
            </a:prstGeom>
          </p:spPr>
          <p:txBody>
            <a:bodyPr anchor="ctr" rtlCol="false" tIns="50800" lIns="50800" bIns="50800" rIns="50800"/>
            <a:lstStyle/>
            <a:p>
              <a:pPr algn="ctr">
                <a:lnSpc>
                  <a:spcPts val="1977"/>
                </a:lnSpc>
              </a:pPr>
            </a:p>
          </p:txBody>
        </p:sp>
      </p:grpSp>
      <p:grpSp>
        <p:nvGrpSpPr>
          <p:cNvPr name="Group 7" id="7"/>
          <p:cNvGrpSpPr>
            <a:grpSpLocks noChangeAspect="true"/>
          </p:cNvGrpSpPr>
          <p:nvPr/>
        </p:nvGrpSpPr>
        <p:grpSpPr>
          <a:xfrm rot="0">
            <a:off x="2736037" y="7532850"/>
            <a:ext cx="2444485" cy="2444485"/>
            <a:chOff x="0" y="0"/>
            <a:chExt cx="14840029" cy="14840029"/>
          </a:xfrm>
        </p:grpSpPr>
        <p:sp>
          <p:nvSpPr>
            <p:cNvPr name="Freeform 8" id="8"/>
            <p:cNvSpPr/>
            <p:nvPr/>
          </p:nvSpPr>
          <p:spPr>
            <a:xfrm flipH="false" flipV="false" rot="0">
              <a:off x="-33258" y="-75"/>
              <a:ext cx="14906544" cy="14840178"/>
            </a:xfrm>
            <a:custGeom>
              <a:avLst/>
              <a:gdLst/>
              <a:ahLst/>
              <a:cxnLst/>
              <a:rect r="r" b="b" t="t" l="l"/>
              <a:pathLst>
                <a:path h="14840178" w="14906544">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94B143"/>
            </a:solidFill>
          </p:spPr>
        </p:sp>
        <p:sp>
          <p:nvSpPr>
            <p:cNvPr name="Freeform 9" id="9"/>
            <p:cNvSpPr/>
            <p:nvPr/>
          </p:nvSpPr>
          <p:spPr>
            <a:xfrm flipH="false" flipV="false" rot="0">
              <a:off x="168022" y="200309"/>
              <a:ext cx="14503985" cy="14439411"/>
            </a:xfrm>
            <a:custGeom>
              <a:avLst/>
              <a:gdLst/>
              <a:ahLst/>
              <a:cxnLst/>
              <a:rect r="r" b="b" t="t" l="l"/>
              <a:pathLst>
                <a:path h="14439411" w="14503985">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FFFFFF"/>
            </a:solidFill>
          </p:spPr>
        </p:sp>
        <p:sp>
          <p:nvSpPr>
            <p:cNvPr name="Freeform 10" id="10"/>
            <p:cNvSpPr/>
            <p:nvPr/>
          </p:nvSpPr>
          <p:spPr>
            <a:xfrm flipH="false" flipV="false" rot="0">
              <a:off x="531276" y="561946"/>
              <a:ext cx="13777477" cy="13716137"/>
            </a:xfrm>
            <a:custGeom>
              <a:avLst/>
              <a:gdLst/>
              <a:ahLst/>
              <a:cxnLst/>
              <a:rect r="r" b="b" t="t" l="l"/>
              <a:pathLst>
                <a:path h="13716137" w="1377747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5"/>
              <a:stretch>
                <a:fillRect l="223" t="-17051" r="223" b="-17051"/>
              </a:stretch>
            </a:blipFill>
          </p:spPr>
        </p:sp>
      </p:grpSp>
      <p:grpSp>
        <p:nvGrpSpPr>
          <p:cNvPr name="Group 11" id="11"/>
          <p:cNvGrpSpPr>
            <a:grpSpLocks noChangeAspect="true"/>
          </p:cNvGrpSpPr>
          <p:nvPr/>
        </p:nvGrpSpPr>
        <p:grpSpPr>
          <a:xfrm rot="0">
            <a:off x="13274218" y="7532850"/>
            <a:ext cx="2444485" cy="2444485"/>
            <a:chOff x="0" y="0"/>
            <a:chExt cx="14840029" cy="14840029"/>
          </a:xfrm>
        </p:grpSpPr>
        <p:sp>
          <p:nvSpPr>
            <p:cNvPr name="Freeform 12" id="12"/>
            <p:cNvSpPr/>
            <p:nvPr/>
          </p:nvSpPr>
          <p:spPr>
            <a:xfrm flipH="false" flipV="false" rot="0">
              <a:off x="-33258" y="-75"/>
              <a:ext cx="14906544" cy="14840178"/>
            </a:xfrm>
            <a:custGeom>
              <a:avLst/>
              <a:gdLst/>
              <a:ahLst/>
              <a:cxnLst/>
              <a:rect r="r" b="b" t="t" l="l"/>
              <a:pathLst>
                <a:path h="14840178" w="14906544">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94B143"/>
            </a:solidFill>
          </p:spPr>
        </p:sp>
        <p:sp>
          <p:nvSpPr>
            <p:cNvPr name="Freeform 13" id="13"/>
            <p:cNvSpPr/>
            <p:nvPr/>
          </p:nvSpPr>
          <p:spPr>
            <a:xfrm flipH="false" flipV="false" rot="0">
              <a:off x="168022" y="200309"/>
              <a:ext cx="14503985" cy="14439411"/>
            </a:xfrm>
            <a:custGeom>
              <a:avLst/>
              <a:gdLst/>
              <a:ahLst/>
              <a:cxnLst/>
              <a:rect r="r" b="b" t="t" l="l"/>
              <a:pathLst>
                <a:path h="14439411" w="14503985">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FFFFFF"/>
            </a:solidFill>
          </p:spPr>
        </p:sp>
        <p:sp>
          <p:nvSpPr>
            <p:cNvPr name="Freeform 14" id="14"/>
            <p:cNvSpPr/>
            <p:nvPr/>
          </p:nvSpPr>
          <p:spPr>
            <a:xfrm flipH="false" flipV="false" rot="0">
              <a:off x="531276" y="561946"/>
              <a:ext cx="13777477" cy="13716137"/>
            </a:xfrm>
            <a:custGeom>
              <a:avLst/>
              <a:gdLst/>
              <a:ahLst/>
              <a:cxnLst/>
              <a:rect r="r" b="b" t="t" l="l"/>
              <a:pathLst>
                <a:path h="13716137" w="1377747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6"/>
              <a:stretch>
                <a:fillRect l="-27010" t="0" r="-27010" b="0"/>
              </a:stretch>
            </a:blipFill>
          </p:spPr>
        </p:sp>
      </p:grpSp>
      <p:sp>
        <p:nvSpPr>
          <p:cNvPr name="Freeform 15" id="15"/>
          <p:cNvSpPr/>
          <p:nvPr/>
        </p:nvSpPr>
        <p:spPr>
          <a:xfrm flipH="false" flipV="false" rot="0">
            <a:off x="13946037" y="89729"/>
            <a:ext cx="550423" cy="878960"/>
          </a:xfrm>
          <a:custGeom>
            <a:avLst/>
            <a:gdLst/>
            <a:ahLst/>
            <a:cxnLst/>
            <a:rect r="r" b="b" t="t" l="l"/>
            <a:pathLst>
              <a:path h="878960" w="550423">
                <a:moveTo>
                  <a:pt x="0" y="0"/>
                </a:moveTo>
                <a:lnTo>
                  <a:pt x="550423" y="0"/>
                </a:lnTo>
                <a:lnTo>
                  <a:pt x="550423" y="878960"/>
                </a:lnTo>
                <a:lnTo>
                  <a:pt x="0" y="87896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6" id="16">
            <a:hlinkClick r:id="rId11" action="ppaction://hlinksldjump"/>
          </p:cNvPr>
          <p:cNvSpPr/>
          <p:nvPr/>
        </p:nvSpPr>
        <p:spPr>
          <a:xfrm flipH="false" flipV="false" rot="0">
            <a:off x="16935661" y="9258300"/>
            <a:ext cx="553252" cy="553252"/>
          </a:xfrm>
          <a:custGeom>
            <a:avLst/>
            <a:gdLst/>
            <a:ahLst/>
            <a:cxnLst/>
            <a:rect r="r" b="b" t="t" l="l"/>
            <a:pathLst>
              <a:path h="553252" w="553252">
                <a:moveTo>
                  <a:pt x="0" y="0"/>
                </a:moveTo>
                <a:lnTo>
                  <a:pt x="553252" y="0"/>
                </a:lnTo>
                <a:lnTo>
                  <a:pt x="553252" y="553252"/>
                </a:lnTo>
                <a:lnTo>
                  <a:pt x="0" y="55325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7" id="17"/>
          <p:cNvSpPr txBox="true"/>
          <p:nvPr/>
        </p:nvSpPr>
        <p:spPr>
          <a:xfrm rot="0">
            <a:off x="17488913" y="256401"/>
            <a:ext cx="673573" cy="497991"/>
          </a:xfrm>
          <a:prstGeom prst="rect">
            <a:avLst/>
          </a:prstGeom>
        </p:spPr>
        <p:txBody>
          <a:bodyPr anchor="t" rtlCol="false" tIns="0" lIns="0" bIns="0" rIns="0">
            <a:spAutoFit/>
          </a:bodyPr>
          <a:lstStyle/>
          <a:p>
            <a:pPr algn="l">
              <a:lnSpc>
                <a:spcPts val="4181"/>
              </a:lnSpc>
              <a:spcBef>
                <a:spcPct val="0"/>
              </a:spcBef>
            </a:pPr>
            <a:r>
              <a:rPr lang="en-US" b="true" sz="2987">
                <a:solidFill>
                  <a:srgbClr val="FFFFFF"/>
                </a:solidFill>
                <a:latin typeface="Muli Ultra-Bold"/>
                <a:ea typeface="Muli Ultra-Bold"/>
                <a:cs typeface="Muli Ultra-Bold"/>
                <a:sym typeface="Muli Ultra-Bold"/>
              </a:rPr>
              <a:t>04</a:t>
            </a:r>
          </a:p>
        </p:txBody>
      </p:sp>
      <p:sp>
        <p:nvSpPr>
          <p:cNvPr name="TextBox 18" id="18"/>
          <p:cNvSpPr txBox="true"/>
          <p:nvPr/>
        </p:nvSpPr>
        <p:spPr>
          <a:xfrm rot="0">
            <a:off x="2350309" y="5086350"/>
            <a:ext cx="13675983" cy="3125448"/>
          </a:xfrm>
          <a:prstGeom prst="rect">
            <a:avLst/>
          </a:prstGeom>
        </p:spPr>
        <p:txBody>
          <a:bodyPr anchor="t" rtlCol="false" tIns="0" lIns="0" bIns="0" rIns="0">
            <a:spAutoFit/>
          </a:bodyPr>
          <a:lstStyle/>
          <a:p>
            <a:pPr algn="ctr">
              <a:lnSpc>
                <a:spcPts val="4131"/>
              </a:lnSpc>
              <a:spcBef>
                <a:spcPct val="0"/>
              </a:spcBef>
            </a:pPr>
            <a:r>
              <a:rPr lang="en-US" b="true" sz="2950">
                <a:solidFill>
                  <a:srgbClr val="2B3B29"/>
                </a:solidFill>
                <a:latin typeface="Muli Bold"/>
                <a:ea typeface="Muli Bold"/>
                <a:cs typeface="Muli Bold"/>
                <a:sym typeface="Muli Bold"/>
              </a:rPr>
              <a:t>Bangladesh has very fertile land, which is ideal for agriculture. Most people depend on farming, producing crops like rice and jute. Water is another important resource. The country has many rivers, which help in irrigation, transportation, and fishing. Fisheries also contribute significantly to the economy.</a:t>
            </a:r>
          </a:p>
          <a:p>
            <a:pPr algn="ctr">
              <a:lnSpc>
                <a:spcPts val="4131"/>
              </a:lnSpc>
              <a:spcBef>
                <a:spcPct val="0"/>
              </a:spcBef>
            </a:pPr>
          </a:p>
        </p:txBody>
      </p:sp>
      <p:sp>
        <p:nvSpPr>
          <p:cNvPr name="TextBox 19" id="19"/>
          <p:cNvSpPr txBox="true"/>
          <p:nvPr/>
        </p:nvSpPr>
        <p:spPr>
          <a:xfrm rot="0">
            <a:off x="2009424" y="624459"/>
            <a:ext cx="13158856" cy="1155245"/>
          </a:xfrm>
          <a:prstGeom prst="rect">
            <a:avLst/>
          </a:prstGeom>
        </p:spPr>
        <p:txBody>
          <a:bodyPr anchor="t" rtlCol="false" tIns="0" lIns="0" bIns="0" rIns="0">
            <a:spAutoFit/>
          </a:bodyPr>
          <a:lstStyle/>
          <a:p>
            <a:pPr algn="ctr">
              <a:lnSpc>
                <a:spcPts val="8818"/>
              </a:lnSpc>
            </a:pPr>
            <a:r>
              <a:rPr lang="en-US" sz="8241" b="true">
                <a:solidFill>
                  <a:srgbClr val="009444"/>
                </a:solidFill>
                <a:latin typeface="Muli Ultra-Bold"/>
                <a:ea typeface="Muli Ultra-Bold"/>
                <a:cs typeface="Muli Ultra-Bold"/>
                <a:sym typeface="Muli Ultra-Bold"/>
              </a:rPr>
              <a:t>Land &amp; Water Resources</a:t>
            </a:r>
          </a:p>
        </p:txBody>
      </p:sp>
      <p:sp>
        <p:nvSpPr>
          <p:cNvPr name="TextBox 20" id="20"/>
          <p:cNvSpPr txBox="true"/>
          <p:nvPr/>
        </p:nvSpPr>
        <p:spPr>
          <a:xfrm rot="0">
            <a:off x="2350309" y="2278235"/>
            <a:ext cx="4261743" cy="1802841"/>
          </a:xfrm>
          <a:prstGeom prst="rect">
            <a:avLst/>
          </a:prstGeom>
        </p:spPr>
        <p:txBody>
          <a:bodyPr anchor="t" rtlCol="false" tIns="0" lIns="0" bIns="0" rIns="0">
            <a:spAutoFit/>
          </a:bodyPr>
          <a:lstStyle/>
          <a:p>
            <a:pPr algn="l">
              <a:lnSpc>
                <a:spcPts val="5035"/>
              </a:lnSpc>
            </a:pPr>
            <a:r>
              <a:rPr lang="en-US" b="true" sz="3596">
                <a:solidFill>
                  <a:srgbClr val="000000"/>
                </a:solidFill>
                <a:latin typeface="Muli Bold"/>
                <a:ea typeface="Muli Bold"/>
                <a:cs typeface="Muli Bold"/>
                <a:sym typeface="Muli Bold"/>
              </a:rPr>
              <a:t>Land Resources</a:t>
            </a:r>
          </a:p>
          <a:p>
            <a:pPr algn="l" marL="474338" indent="-237169" lvl="1">
              <a:lnSpc>
                <a:spcPts val="3075"/>
              </a:lnSpc>
              <a:buFont typeface="Arial"/>
              <a:buChar char="•"/>
            </a:pPr>
            <a:r>
              <a:rPr lang="en-US" b="true" sz="2197">
                <a:solidFill>
                  <a:srgbClr val="000000"/>
                </a:solidFill>
                <a:latin typeface="Muli Ultra-Bold"/>
                <a:ea typeface="Muli Ultra-Bold"/>
                <a:cs typeface="Muli Ultra-Bold"/>
                <a:sym typeface="Muli Ultra-Bold"/>
              </a:rPr>
              <a:t>Fertile soil</a:t>
            </a:r>
          </a:p>
          <a:p>
            <a:pPr algn="l" marL="474338" indent="-237169" lvl="1">
              <a:lnSpc>
                <a:spcPts val="3075"/>
              </a:lnSpc>
              <a:buFont typeface="Arial"/>
              <a:buChar char="•"/>
            </a:pPr>
            <a:r>
              <a:rPr lang="en-US" b="true" sz="2197">
                <a:solidFill>
                  <a:srgbClr val="000000"/>
                </a:solidFill>
                <a:latin typeface="Muli Ultra-Bold"/>
                <a:ea typeface="Muli Ultra-Bold"/>
                <a:cs typeface="Muli Ultra-Bold"/>
                <a:sym typeface="Muli Ultra-Bold"/>
              </a:rPr>
              <a:t>Agriculture-based economy</a:t>
            </a:r>
          </a:p>
          <a:p>
            <a:pPr algn="l" marL="474338" indent="-237169" lvl="1">
              <a:lnSpc>
                <a:spcPts val="3075"/>
              </a:lnSpc>
              <a:buFont typeface="Arial"/>
              <a:buChar char="•"/>
            </a:pPr>
            <a:r>
              <a:rPr lang="en-US" b="true" sz="2197">
                <a:solidFill>
                  <a:srgbClr val="000000"/>
                </a:solidFill>
                <a:latin typeface="Muli Ultra-Bold"/>
                <a:ea typeface="Muli Ultra-Bold"/>
                <a:cs typeface="Muli Ultra-Bold"/>
                <a:sym typeface="Muli Ultra-Bold"/>
              </a:rPr>
              <a:t>Main crops: rice, jute, wheat</a:t>
            </a:r>
          </a:p>
        </p:txBody>
      </p:sp>
      <p:sp>
        <p:nvSpPr>
          <p:cNvPr name="TextBox 21" id="21"/>
          <p:cNvSpPr txBox="true"/>
          <p:nvPr/>
        </p:nvSpPr>
        <p:spPr>
          <a:xfrm rot="0">
            <a:off x="10657179" y="2278235"/>
            <a:ext cx="4786312" cy="2193366"/>
          </a:xfrm>
          <a:prstGeom prst="rect">
            <a:avLst/>
          </a:prstGeom>
        </p:spPr>
        <p:txBody>
          <a:bodyPr anchor="t" rtlCol="false" tIns="0" lIns="0" bIns="0" rIns="0">
            <a:spAutoFit/>
          </a:bodyPr>
          <a:lstStyle/>
          <a:p>
            <a:pPr algn="l">
              <a:lnSpc>
                <a:spcPts val="5035"/>
              </a:lnSpc>
            </a:pPr>
            <a:r>
              <a:rPr lang="en-US" b="true" sz="3596">
                <a:solidFill>
                  <a:srgbClr val="000000"/>
                </a:solidFill>
                <a:latin typeface="Muli Bold"/>
                <a:ea typeface="Muli Bold"/>
                <a:cs typeface="Muli Bold"/>
                <a:sym typeface="Muli Bold"/>
              </a:rPr>
              <a:t>W</a:t>
            </a:r>
            <a:r>
              <a:rPr lang="en-US" b="true" sz="3596">
                <a:solidFill>
                  <a:srgbClr val="000000"/>
                </a:solidFill>
                <a:latin typeface="Muli Bold"/>
                <a:ea typeface="Muli Bold"/>
                <a:cs typeface="Muli Bold"/>
                <a:sym typeface="Muli Bold"/>
              </a:rPr>
              <a:t>ater Resources</a:t>
            </a:r>
          </a:p>
          <a:p>
            <a:pPr algn="l" marL="474338" indent="-237169" lvl="1">
              <a:lnSpc>
                <a:spcPts val="3075"/>
              </a:lnSpc>
              <a:buFont typeface="Arial"/>
              <a:buChar char="•"/>
            </a:pPr>
            <a:r>
              <a:rPr lang="en-US" b="true" sz="2197">
                <a:solidFill>
                  <a:srgbClr val="000000"/>
                </a:solidFill>
                <a:latin typeface="Muli Bold"/>
                <a:ea typeface="Muli Bold"/>
                <a:cs typeface="Muli Bold"/>
                <a:sym typeface="Muli Bold"/>
              </a:rPr>
              <a:t>Riv</a:t>
            </a:r>
            <a:r>
              <a:rPr lang="en-US" b="true" sz="2197">
                <a:solidFill>
                  <a:srgbClr val="000000"/>
                </a:solidFill>
                <a:latin typeface="Muli Bold"/>
                <a:ea typeface="Muli Bold"/>
                <a:cs typeface="Muli Bold"/>
                <a:sym typeface="Muli Bold"/>
              </a:rPr>
              <a:t>ers: Padma, Meghna, Jamuna</a:t>
            </a:r>
          </a:p>
          <a:p>
            <a:pPr algn="l" marL="474338" indent="-237169" lvl="1">
              <a:lnSpc>
                <a:spcPts val="3075"/>
              </a:lnSpc>
              <a:buFont typeface="Arial"/>
              <a:buChar char="•"/>
            </a:pPr>
            <a:r>
              <a:rPr lang="en-US" b="true" sz="2197">
                <a:solidFill>
                  <a:srgbClr val="000000"/>
                </a:solidFill>
                <a:latin typeface="Muli Bold"/>
                <a:ea typeface="Muli Bold"/>
                <a:cs typeface="Muli Bold"/>
                <a:sym typeface="Muli Bold"/>
              </a:rPr>
              <a:t>Fisheries sector</a:t>
            </a:r>
          </a:p>
          <a:p>
            <a:pPr algn="l" marL="474338" indent="-237169" lvl="1">
              <a:lnSpc>
                <a:spcPts val="3075"/>
              </a:lnSpc>
              <a:buFont typeface="Arial"/>
              <a:buChar char="•"/>
            </a:pPr>
            <a:r>
              <a:rPr lang="en-US" b="true" sz="2197">
                <a:solidFill>
                  <a:srgbClr val="000000"/>
                </a:solidFill>
                <a:latin typeface="Muli Bold"/>
                <a:ea typeface="Muli Bold"/>
                <a:cs typeface="Muli Bold"/>
                <a:sym typeface="Muli Bold"/>
              </a:rPr>
              <a:t>Irrigation for farming</a:t>
            </a:r>
          </a:p>
          <a:p>
            <a:pPr algn="l">
              <a:lnSpc>
                <a:spcPts val="3075"/>
              </a:lnSpc>
            </a:pPr>
          </a:p>
        </p:txBody>
      </p:sp>
      <p:sp>
        <p:nvSpPr>
          <p:cNvPr name="Freeform 22" id="22">
            <a:hlinkClick r:id="rId12" action="ppaction://hlinksldjump"/>
          </p:cNvPr>
          <p:cNvSpPr/>
          <p:nvPr/>
        </p:nvSpPr>
        <p:spPr>
          <a:xfrm flipH="false" flipV="false" rot="-10800000">
            <a:off x="212097" y="9534926"/>
            <a:ext cx="553252" cy="553252"/>
          </a:xfrm>
          <a:custGeom>
            <a:avLst/>
            <a:gdLst/>
            <a:ahLst/>
            <a:cxnLst/>
            <a:rect r="r" b="b" t="t" l="l"/>
            <a:pathLst>
              <a:path h="553252" w="553252">
                <a:moveTo>
                  <a:pt x="0" y="0"/>
                </a:moveTo>
                <a:lnTo>
                  <a:pt x="553251" y="0"/>
                </a:lnTo>
                <a:lnTo>
                  <a:pt x="553251" y="553251"/>
                </a:lnTo>
                <a:lnTo>
                  <a:pt x="0" y="55325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028700" y="529209"/>
            <a:ext cx="991885" cy="1361856"/>
          </a:xfrm>
          <a:custGeom>
            <a:avLst/>
            <a:gdLst/>
            <a:ahLst/>
            <a:cxnLst/>
            <a:rect r="r" b="b" t="t" l="l"/>
            <a:pathLst>
              <a:path h="1361856" w="991885">
                <a:moveTo>
                  <a:pt x="0" y="0"/>
                </a:moveTo>
                <a:lnTo>
                  <a:pt x="991885" y="0"/>
                </a:lnTo>
                <a:lnTo>
                  <a:pt x="991885" y="1361856"/>
                </a:lnTo>
                <a:lnTo>
                  <a:pt x="0" y="13618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7259300" y="-717188"/>
            <a:ext cx="1796670" cy="1745888"/>
            <a:chOff x="0" y="0"/>
            <a:chExt cx="473197" cy="459822"/>
          </a:xfrm>
        </p:grpSpPr>
        <p:sp>
          <p:nvSpPr>
            <p:cNvPr name="Freeform 5" id="5"/>
            <p:cNvSpPr/>
            <p:nvPr/>
          </p:nvSpPr>
          <p:spPr>
            <a:xfrm flipH="false" flipV="false" rot="0">
              <a:off x="0" y="0"/>
              <a:ext cx="473197" cy="459822"/>
            </a:xfrm>
            <a:custGeom>
              <a:avLst/>
              <a:gdLst/>
              <a:ahLst/>
              <a:cxnLst/>
              <a:rect r="r" b="b" t="t" l="l"/>
              <a:pathLst>
                <a:path h="459822" w="473197">
                  <a:moveTo>
                    <a:pt x="0" y="0"/>
                  </a:moveTo>
                  <a:lnTo>
                    <a:pt x="473197" y="0"/>
                  </a:lnTo>
                  <a:lnTo>
                    <a:pt x="473197" y="459822"/>
                  </a:lnTo>
                  <a:lnTo>
                    <a:pt x="0" y="459822"/>
                  </a:lnTo>
                  <a:close/>
                </a:path>
              </a:pathLst>
            </a:custGeom>
            <a:solidFill>
              <a:srgbClr val="415636"/>
            </a:solidFill>
          </p:spPr>
        </p:sp>
        <p:sp>
          <p:nvSpPr>
            <p:cNvPr name="TextBox 6" id="6"/>
            <p:cNvSpPr txBox="true"/>
            <p:nvPr/>
          </p:nvSpPr>
          <p:spPr>
            <a:xfrm>
              <a:off x="0" y="66675"/>
              <a:ext cx="473197" cy="393147"/>
            </a:xfrm>
            <a:prstGeom prst="rect">
              <a:avLst/>
            </a:prstGeom>
          </p:spPr>
          <p:txBody>
            <a:bodyPr anchor="ctr" rtlCol="false" tIns="50800" lIns="50800" bIns="50800" rIns="50800"/>
            <a:lstStyle/>
            <a:p>
              <a:pPr algn="ctr">
                <a:lnSpc>
                  <a:spcPts val="1977"/>
                </a:lnSpc>
              </a:pPr>
            </a:p>
          </p:txBody>
        </p:sp>
      </p:grpSp>
      <p:sp>
        <p:nvSpPr>
          <p:cNvPr name="TextBox 7" id="7"/>
          <p:cNvSpPr txBox="true"/>
          <p:nvPr/>
        </p:nvSpPr>
        <p:spPr>
          <a:xfrm rot="0">
            <a:off x="2204566" y="889687"/>
            <a:ext cx="6763795" cy="717101"/>
          </a:xfrm>
          <a:prstGeom prst="rect">
            <a:avLst/>
          </a:prstGeom>
        </p:spPr>
        <p:txBody>
          <a:bodyPr anchor="t" rtlCol="false" tIns="0" lIns="0" bIns="0" rIns="0">
            <a:spAutoFit/>
          </a:bodyPr>
          <a:lstStyle/>
          <a:p>
            <a:pPr algn="l">
              <a:lnSpc>
                <a:spcPts val="5594"/>
              </a:lnSpc>
            </a:pPr>
            <a:r>
              <a:rPr lang="en-US" sz="5228" b="true">
                <a:solidFill>
                  <a:srgbClr val="009444"/>
                </a:solidFill>
                <a:latin typeface="Muli Ultra-Bold"/>
                <a:ea typeface="Muli Ultra-Bold"/>
                <a:cs typeface="Muli Ultra-Bold"/>
                <a:sym typeface="Muli Ultra-Bold"/>
              </a:rPr>
              <a:t>Forest &amp; Wildlife</a:t>
            </a:r>
          </a:p>
        </p:txBody>
      </p:sp>
      <p:grpSp>
        <p:nvGrpSpPr>
          <p:cNvPr name="Group 8" id="8"/>
          <p:cNvGrpSpPr/>
          <p:nvPr/>
        </p:nvGrpSpPr>
        <p:grpSpPr>
          <a:xfrm rot="0">
            <a:off x="7778827" y="-387054"/>
            <a:ext cx="3087009" cy="5530554"/>
            <a:chOff x="0" y="0"/>
            <a:chExt cx="458184" cy="820863"/>
          </a:xfrm>
        </p:grpSpPr>
        <p:sp>
          <p:nvSpPr>
            <p:cNvPr name="Freeform 9" id="9"/>
            <p:cNvSpPr/>
            <p:nvPr/>
          </p:nvSpPr>
          <p:spPr>
            <a:xfrm flipH="false" flipV="false" rot="0">
              <a:off x="0" y="0"/>
              <a:ext cx="458184" cy="820863"/>
            </a:xfrm>
            <a:custGeom>
              <a:avLst/>
              <a:gdLst/>
              <a:ahLst/>
              <a:cxnLst/>
              <a:rect r="r" b="b" t="t" l="l"/>
              <a:pathLst>
                <a:path h="820863" w="458184">
                  <a:moveTo>
                    <a:pt x="0" y="0"/>
                  </a:moveTo>
                  <a:lnTo>
                    <a:pt x="458184" y="0"/>
                  </a:lnTo>
                  <a:lnTo>
                    <a:pt x="458184" y="820863"/>
                  </a:lnTo>
                  <a:lnTo>
                    <a:pt x="0" y="820863"/>
                  </a:lnTo>
                  <a:close/>
                </a:path>
              </a:pathLst>
            </a:custGeom>
            <a:blipFill>
              <a:blip r:embed="rId5"/>
              <a:stretch>
                <a:fillRect l="-84450" t="0" r="-84450" b="0"/>
              </a:stretch>
            </a:blipFill>
          </p:spPr>
        </p:sp>
      </p:grpSp>
      <p:grpSp>
        <p:nvGrpSpPr>
          <p:cNvPr name="Group 10" id="10"/>
          <p:cNvGrpSpPr/>
          <p:nvPr/>
        </p:nvGrpSpPr>
        <p:grpSpPr>
          <a:xfrm rot="0">
            <a:off x="7778827" y="5143500"/>
            <a:ext cx="3087009" cy="5143500"/>
            <a:chOff x="0" y="0"/>
            <a:chExt cx="458184" cy="763415"/>
          </a:xfrm>
        </p:grpSpPr>
        <p:sp>
          <p:nvSpPr>
            <p:cNvPr name="Freeform 11" id="11"/>
            <p:cNvSpPr/>
            <p:nvPr/>
          </p:nvSpPr>
          <p:spPr>
            <a:xfrm flipH="false" flipV="false" rot="0">
              <a:off x="0" y="0"/>
              <a:ext cx="458184" cy="763415"/>
            </a:xfrm>
            <a:custGeom>
              <a:avLst/>
              <a:gdLst/>
              <a:ahLst/>
              <a:cxnLst/>
              <a:rect r="r" b="b" t="t" l="l"/>
              <a:pathLst>
                <a:path h="763415" w="458184">
                  <a:moveTo>
                    <a:pt x="0" y="0"/>
                  </a:moveTo>
                  <a:lnTo>
                    <a:pt x="458184" y="0"/>
                  </a:lnTo>
                  <a:lnTo>
                    <a:pt x="458184" y="763415"/>
                  </a:lnTo>
                  <a:lnTo>
                    <a:pt x="0" y="763415"/>
                  </a:lnTo>
                  <a:close/>
                </a:path>
              </a:pathLst>
            </a:custGeom>
            <a:blipFill>
              <a:blip r:embed="rId6"/>
              <a:stretch>
                <a:fillRect l="-4785" t="0" r="-4785" b="0"/>
              </a:stretch>
            </a:blipFill>
          </p:spPr>
        </p:sp>
      </p:grpSp>
      <p:grpSp>
        <p:nvGrpSpPr>
          <p:cNvPr name="Group 12" id="12"/>
          <p:cNvGrpSpPr/>
          <p:nvPr/>
        </p:nvGrpSpPr>
        <p:grpSpPr>
          <a:xfrm rot="0">
            <a:off x="429646" y="5440085"/>
            <a:ext cx="1796670" cy="349259"/>
            <a:chOff x="0" y="0"/>
            <a:chExt cx="473197" cy="91986"/>
          </a:xfrm>
        </p:grpSpPr>
        <p:sp>
          <p:nvSpPr>
            <p:cNvPr name="Freeform 13" id="13"/>
            <p:cNvSpPr/>
            <p:nvPr/>
          </p:nvSpPr>
          <p:spPr>
            <a:xfrm flipH="false" flipV="false" rot="0">
              <a:off x="0" y="0"/>
              <a:ext cx="473197" cy="91986"/>
            </a:xfrm>
            <a:custGeom>
              <a:avLst/>
              <a:gdLst/>
              <a:ahLst/>
              <a:cxnLst/>
              <a:rect r="r" b="b" t="t" l="l"/>
              <a:pathLst>
                <a:path h="91986" w="473197">
                  <a:moveTo>
                    <a:pt x="0" y="0"/>
                  </a:moveTo>
                  <a:lnTo>
                    <a:pt x="473197" y="0"/>
                  </a:lnTo>
                  <a:lnTo>
                    <a:pt x="473197" y="91986"/>
                  </a:lnTo>
                  <a:lnTo>
                    <a:pt x="0" y="91986"/>
                  </a:lnTo>
                  <a:close/>
                </a:path>
              </a:pathLst>
            </a:custGeom>
            <a:solidFill>
              <a:srgbClr val="415636"/>
            </a:solidFill>
          </p:spPr>
        </p:sp>
        <p:sp>
          <p:nvSpPr>
            <p:cNvPr name="TextBox 14" id="14"/>
            <p:cNvSpPr txBox="true"/>
            <p:nvPr/>
          </p:nvSpPr>
          <p:spPr>
            <a:xfrm>
              <a:off x="0" y="66675"/>
              <a:ext cx="473197" cy="25311"/>
            </a:xfrm>
            <a:prstGeom prst="rect">
              <a:avLst/>
            </a:prstGeom>
          </p:spPr>
          <p:txBody>
            <a:bodyPr anchor="ctr" rtlCol="false" tIns="50800" lIns="50800" bIns="50800" rIns="50800"/>
            <a:lstStyle/>
            <a:p>
              <a:pPr algn="ctr">
                <a:lnSpc>
                  <a:spcPts val="1977"/>
                </a:lnSpc>
              </a:pPr>
            </a:p>
          </p:txBody>
        </p:sp>
      </p:grpSp>
      <p:grpSp>
        <p:nvGrpSpPr>
          <p:cNvPr name="Group 15" id="15"/>
          <p:cNvGrpSpPr/>
          <p:nvPr/>
        </p:nvGrpSpPr>
        <p:grpSpPr>
          <a:xfrm rot="0">
            <a:off x="2216791" y="5440085"/>
            <a:ext cx="1796670" cy="349259"/>
            <a:chOff x="0" y="0"/>
            <a:chExt cx="473197" cy="91986"/>
          </a:xfrm>
        </p:grpSpPr>
        <p:sp>
          <p:nvSpPr>
            <p:cNvPr name="Freeform 16" id="16"/>
            <p:cNvSpPr/>
            <p:nvPr/>
          </p:nvSpPr>
          <p:spPr>
            <a:xfrm flipH="false" flipV="false" rot="0">
              <a:off x="0" y="0"/>
              <a:ext cx="473197" cy="91986"/>
            </a:xfrm>
            <a:custGeom>
              <a:avLst/>
              <a:gdLst/>
              <a:ahLst/>
              <a:cxnLst/>
              <a:rect r="r" b="b" t="t" l="l"/>
              <a:pathLst>
                <a:path h="91986" w="473197">
                  <a:moveTo>
                    <a:pt x="0" y="0"/>
                  </a:moveTo>
                  <a:lnTo>
                    <a:pt x="473197" y="0"/>
                  </a:lnTo>
                  <a:lnTo>
                    <a:pt x="473197" y="91986"/>
                  </a:lnTo>
                  <a:lnTo>
                    <a:pt x="0" y="91986"/>
                  </a:lnTo>
                  <a:close/>
                </a:path>
              </a:pathLst>
            </a:custGeom>
            <a:solidFill>
              <a:srgbClr val="8CC342"/>
            </a:solidFill>
          </p:spPr>
        </p:sp>
        <p:sp>
          <p:nvSpPr>
            <p:cNvPr name="TextBox 17" id="17"/>
            <p:cNvSpPr txBox="true"/>
            <p:nvPr/>
          </p:nvSpPr>
          <p:spPr>
            <a:xfrm>
              <a:off x="0" y="66675"/>
              <a:ext cx="473197" cy="25311"/>
            </a:xfrm>
            <a:prstGeom prst="rect">
              <a:avLst/>
            </a:prstGeom>
          </p:spPr>
          <p:txBody>
            <a:bodyPr anchor="ctr" rtlCol="false" tIns="50800" lIns="50800" bIns="50800" rIns="50800"/>
            <a:lstStyle/>
            <a:p>
              <a:pPr algn="ctr">
                <a:lnSpc>
                  <a:spcPts val="1977"/>
                </a:lnSpc>
              </a:pPr>
            </a:p>
          </p:txBody>
        </p:sp>
      </p:grpSp>
      <p:grpSp>
        <p:nvGrpSpPr>
          <p:cNvPr name="Group 18" id="18"/>
          <p:cNvGrpSpPr/>
          <p:nvPr/>
        </p:nvGrpSpPr>
        <p:grpSpPr>
          <a:xfrm rot="0">
            <a:off x="4013460" y="5440085"/>
            <a:ext cx="1796670" cy="349259"/>
            <a:chOff x="0" y="0"/>
            <a:chExt cx="473197" cy="91986"/>
          </a:xfrm>
        </p:grpSpPr>
        <p:sp>
          <p:nvSpPr>
            <p:cNvPr name="Freeform 19" id="19"/>
            <p:cNvSpPr/>
            <p:nvPr/>
          </p:nvSpPr>
          <p:spPr>
            <a:xfrm flipH="false" flipV="false" rot="0">
              <a:off x="0" y="0"/>
              <a:ext cx="473197" cy="91986"/>
            </a:xfrm>
            <a:custGeom>
              <a:avLst/>
              <a:gdLst/>
              <a:ahLst/>
              <a:cxnLst/>
              <a:rect r="r" b="b" t="t" l="l"/>
              <a:pathLst>
                <a:path h="91986" w="473197">
                  <a:moveTo>
                    <a:pt x="0" y="0"/>
                  </a:moveTo>
                  <a:lnTo>
                    <a:pt x="473197" y="0"/>
                  </a:lnTo>
                  <a:lnTo>
                    <a:pt x="473197" y="91986"/>
                  </a:lnTo>
                  <a:lnTo>
                    <a:pt x="0" y="91986"/>
                  </a:lnTo>
                  <a:close/>
                </a:path>
              </a:pathLst>
            </a:custGeom>
            <a:solidFill>
              <a:srgbClr val="D7E8BD"/>
            </a:solidFill>
          </p:spPr>
        </p:sp>
        <p:sp>
          <p:nvSpPr>
            <p:cNvPr name="TextBox 20" id="20"/>
            <p:cNvSpPr txBox="true"/>
            <p:nvPr/>
          </p:nvSpPr>
          <p:spPr>
            <a:xfrm>
              <a:off x="0" y="66675"/>
              <a:ext cx="473197" cy="25311"/>
            </a:xfrm>
            <a:prstGeom prst="rect">
              <a:avLst/>
            </a:prstGeom>
          </p:spPr>
          <p:txBody>
            <a:bodyPr anchor="ctr" rtlCol="false" tIns="50800" lIns="50800" bIns="50800" rIns="50800"/>
            <a:lstStyle/>
            <a:p>
              <a:pPr algn="ctr">
                <a:lnSpc>
                  <a:spcPts val="1977"/>
                </a:lnSpc>
              </a:pPr>
            </a:p>
          </p:txBody>
        </p:sp>
      </p:grpSp>
      <p:grpSp>
        <p:nvGrpSpPr>
          <p:cNvPr name="Group 21" id="21"/>
          <p:cNvGrpSpPr/>
          <p:nvPr/>
        </p:nvGrpSpPr>
        <p:grpSpPr>
          <a:xfrm rot="0">
            <a:off x="5800605" y="5440085"/>
            <a:ext cx="1796670" cy="349259"/>
            <a:chOff x="0" y="0"/>
            <a:chExt cx="473197" cy="91986"/>
          </a:xfrm>
        </p:grpSpPr>
        <p:sp>
          <p:nvSpPr>
            <p:cNvPr name="Freeform 22" id="22"/>
            <p:cNvSpPr/>
            <p:nvPr/>
          </p:nvSpPr>
          <p:spPr>
            <a:xfrm flipH="false" flipV="false" rot="0">
              <a:off x="0" y="0"/>
              <a:ext cx="473197" cy="91986"/>
            </a:xfrm>
            <a:custGeom>
              <a:avLst/>
              <a:gdLst/>
              <a:ahLst/>
              <a:cxnLst/>
              <a:rect r="r" b="b" t="t" l="l"/>
              <a:pathLst>
                <a:path h="91986" w="473197">
                  <a:moveTo>
                    <a:pt x="0" y="0"/>
                  </a:moveTo>
                  <a:lnTo>
                    <a:pt x="473197" y="0"/>
                  </a:lnTo>
                  <a:lnTo>
                    <a:pt x="473197" y="91986"/>
                  </a:lnTo>
                  <a:lnTo>
                    <a:pt x="0" y="91986"/>
                  </a:lnTo>
                  <a:close/>
                </a:path>
              </a:pathLst>
            </a:custGeom>
            <a:solidFill>
              <a:srgbClr val="E7E5E5"/>
            </a:solidFill>
          </p:spPr>
        </p:sp>
        <p:sp>
          <p:nvSpPr>
            <p:cNvPr name="TextBox 23" id="23"/>
            <p:cNvSpPr txBox="true"/>
            <p:nvPr/>
          </p:nvSpPr>
          <p:spPr>
            <a:xfrm>
              <a:off x="0" y="66675"/>
              <a:ext cx="473197" cy="25311"/>
            </a:xfrm>
            <a:prstGeom prst="rect">
              <a:avLst/>
            </a:prstGeom>
          </p:spPr>
          <p:txBody>
            <a:bodyPr anchor="ctr" rtlCol="false" tIns="50800" lIns="50800" bIns="50800" rIns="50800"/>
            <a:lstStyle/>
            <a:p>
              <a:pPr algn="ctr">
                <a:lnSpc>
                  <a:spcPts val="1977"/>
                </a:lnSpc>
              </a:pPr>
            </a:p>
          </p:txBody>
        </p:sp>
      </p:grpSp>
      <p:grpSp>
        <p:nvGrpSpPr>
          <p:cNvPr name="Group 24" id="24"/>
          <p:cNvGrpSpPr/>
          <p:nvPr/>
        </p:nvGrpSpPr>
        <p:grpSpPr>
          <a:xfrm rot="0">
            <a:off x="11046811" y="1541807"/>
            <a:ext cx="1796670" cy="349259"/>
            <a:chOff x="0" y="0"/>
            <a:chExt cx="473197" cy="91986"/>
          </a:xfrm>
        </p:grpSpPr>
        <p:sp>
          <p:nvSpPr>
            <p:cNvPr name="Freeform 25" id="25"/>
            <p:cNvSpPr/>
            <p:nvPr/>
          </p:nvSpPr>
          <p:spPr>
            <a:xfrm flipH="false" flipV="false" rot="0">
              <a:off x="0" y="0"/>
              <a:ext cx="473197" cy="91986"/>
            </a:xfrm>
            <a:custGeom>
              <a:avLst/>
              <a:gdLst/>
              <a:ahLst/>
              <a:cxnLst/>
              <a:rect r="r" b="b" t="t" l="l"/>
              <a:pathLst>
                <a:path h="91986" w="473197">
                  <a:moveTo>
                    <a:pt x="0" y="0"/>
                  </a:moveTo>
                  <a:lnTo>
                    <a:pt x="473197" y="0"/>
                  </a:lnTo>
                  <a:lnTo>
                    <a:pt x="473197" y="91986"/>
                  </a:lnTo>
                  <a:lnTo>
                    <a:pt x="0" y="91986"/>
                  </a:lnTo>
                  <a:close/>
                </a:path>
              </a:pathLst>
            </a:custGeom>
            <a:solidFill>
              <a:srgbClr val="415636"/>
            </a:solidFill>
          </p:spPr>
        </p:sp>
        <p:sp>
          <p:nvSpPr>
            <p:cNvPr name="TextBox 26" id="26"/>
            <p:cNvSpPr txBox="true"/>
            <p:nvPr/>
          </p:nvSpPr>
          <p:spPr>
            <a:xfrm>
              <a:off x="0" y="66675"/>
              <a:ext cx="473197" cy="25311"/>
            </a:xfrm>
            <a:prstGeom prst="rect">
              <a:avLst/>
            </a:prstGeom>
          </p:spPr>
          <p:txBody>
            <a:bodyPr anchor="ctr" rtlCol="false" tIns="50800" lIns="50800" bIns="50800" rIns="50800"/>
            <a:lstStyle/>
            <a:p>
              <a:pPr algn="ctr">
                <a:lnSpc>
                  <a:spcPts val="1977"/>
                </a:lnSpc>
              </a:pPr>
            </a:p>
          </p:txBody>
        </p:sp>
      </p:grpSp>
      <p:grpSp>
        <p:nvGrpSpPr>
          <p:cNvPr name="Group 27" id="27"/>
          <p:cNvGrpSpPr/>
          <p:nvPr/>
        </p:nvGrpSpPr>
        <p:grpSpPr>
          <a:xfrm rot="0">
            <a:off x="12833955" y="1541807"/>
            <a:ext cx="1796670" cy="349259"/>
            <a:chOff x="0" y="0"/>
            <a:chExt cx="473197" cy="91986"/>
          </a:xfrm>
        </p:grpSpPr>
        <p:sp>
          <p:nvSpPr>
            <p:cNvPr name="Freeform 28" id="28"/>
            <p:cNvSpPr/>
            <p:nvPr/>
          </p:nvSpPr>
          <p:spPr>
            <a:xfrm flipH="false" flipV="false" rot="0">
              <a:off x="0" y="0"/>
              <a:ext cx="473197" cy="91986"/>
            </a:xfrm>
            <a:custGeom>
              <a:avLst/>
              <a:gdLst/>
              <a:ahLst/>
              <a:cxnLst/>
              <a:rect r="r" b="b" t="t" l="l"/>
              <a:pathLst>
                <a:path h="91986" w="473197">
                  <a:moveTo>
                    <a:pt x="0" y="0"/>
                  </a:moveTo>
                  <a:lnTo>
                    <a:pt x="473197" y="0"/>
                  </a:lnTo>
                  <a:lnTo>
                    <a:pt x="473197" y="91986"/>
                  </a:lnTo>
                  <a:lnTo>
                    <a:pt x="0" y="91986"/>
                  </a:lnTo>
                  <a:close/>
                </a:path>
              </a:pathLst>
            </a:custGeom>
            <a:solidFill>
              <a:srgbClr val="8CC342"/>
            </a:solidFill>
          </p:spPr>
        </p:sp>
        <p:sp>
          <p:nvSpPr>
            <p:cNvPr name="TextBox 29" id="29"/>
            <p:cNvSpPr txBox="true"/>
            <p:nvPr/>
          </p:nvSpPr>
          <p:spPr>
            <a:xfrm>
              <a:off x="0" y="66675"/>
              <a:ext cx="473197" cy="25311"/>
            </a:xfrm>
            <a:prstGeom prst="rect">
              <a:avLst/>
            </a:prstGeom>
          </p:spPr>
          <p:txBody>
            <a:bodyPr anchor="ctr" rtlCol="false" tIns="50800" lIns="50800" bIns="50800" rIns="50800"/>
            <a:lstStyle/>
            <a:p>
              <a:pPr algn="ctr">
                <a:lnSpc>
                  <a:spcPts val="1977"/>
                </a:lnSpc>
              </a:pPr>
            </a:p>
          </p:txBody>
        </p:sp>
      </p:grpSp>
      <p:grpSp>
        <p:nvGrpSpPr>
          <p:cNvPr name="Group 30" id="30"/>
          <p:cNvGrpSpPr/>
          <p:nvPr/>
        </p:nvGrpSpPr>
        <p:grpSpPr>
          <a:xfrm rot="0">
            <a:off x="14630625" y="1541807"/>
            <a:ext cx="1796670" cy="349259"/>
            <a:chOff x="0" y="0"/>
            <a:chExt cx="473197" cy="91986"/>
          </a:xfrm>
        </p:grpSpPr>
        <p:sp>
          <p:nvSpPr>
            <p:cNvPr name="Freeform 31" id="31"/>
            <p:cNvSpPr/>
            <p:nvPr/>
          </p:nvSpPr>
          <p:spPr>
            <a:xfrm flipH="false" flipV="false" rot="0">
              <a:off x="0" y="0"/>
              <a:ext cx="473197" cy="91986"/>
            </a:xfrm>
            <a:custGeom>
              <a:avLst/>
              <a:gdLst/>
              <a:ahLst/>
              <a:cxnLst/>
              <a:rect r="r" b="b" t="t" l="l"/>
              <a:pathLst>
                <a:path h="91986" w="473197">
                  <a:moveTo>
                    <a:pt x="0" y="0"/>
                  </a:moveTo>
                  <a:lnTo>
                    <a:pt x="473197" y="0"/>
                  </a:lnTo>
                  <a:lnTo>
                    <a:pt x="473197" y="91986"/>
                  </a:lnTo>
                  <a:lnTo>
                    <a:pt x="0" y="91986"/>
                  </a:lnTo>
                  <a:close/>
                </a:path>
              </a:pathLst>
            </a:custGeom>
            <a:solidFill>
              <a:srgbClr val="D7E8BD"/>
            </a:solidFill>
          </p:spPr>
        </p:sp>
        <p:sp>
          <p:nvSpPr>
            <p:cNvPr name="TextBox 32" id="32"/>
            <p:cNvSpPr txBox="true"/>
            <p:nvPr/>
          </p:nvSpPr>
          <p:spPr>
            <a:xfrm>
              <a:off x="0" y="66675"/>
              <a:ext cx="473197" cy="25311"/>
            </a:xfrm>
            <a:prstGeom prst="rect">
              <a:avLst/>
            </a:prstGeom>
          </p:spPr>
          <p:txBody>
            <a:bodyPr anchor="ctr" rtlCol="false" tIns="50800" lIns="50800" bIns="50800" rIns="50800"/>
            <a:lstStyle/>
            <a:p>
              <a:pPr algn="ctr">
                <a:lnSpc>
                  <a:spcPts val="1977"/>
                </a:lnSpc>
              </a:pPr>
            </a:p>
          </p:txBody>
        </p:sp>
      </p:grpSp>
      <p:grpSp>
        <p:nvGrpSpPr>
          <p:cNvPr name="Group 33" id="33"/>
          <p:cNvGrpSpPr/>
          <p:nvPr/>
        </p:nvGrpSpPr>
        <p:grpSpPr>
          <a:xfrm rot="0">
            <a:off x="16417769" y="1541807"/>
            <a:ext cx="1796670" cy="349259"/>
            <a:chOff x="0" y="0"/>
            <a:chExt cx="473197" cy="91986"/>
          </a:xfrm>
        </p:grpSpPr>
        <p:sp>
          <p:nvSpPr>
            <p:cNvPr name="Freeform 34" id="34"/>
            <p:cNvSpPr/>
            <p:nvPr/>
          </p:nvSpPr>
          <p:spPr>
            <a:xfrm flipH="false" flipV="false" rot="0">
              <a:off x="0" y="0"/>
              <a:ext cx="473197" cy="91986"/>
            </a:xfrm>
            <a:custGeom>
              <a:avLst/>
              <a:gdLst/>
              <a:ahLst/>
              <a:cxnLst/>
              <a:rect r="r" b="b" t="t" l="l"/>
              <a:pathLst>
                <a:path h="91986" w="473197">
                  <a:moveTo>
                    <a:pt x="0" y="0"/>
                  </a:moveTo>
                  <a:lnTo>
                    <a:pt x="473197" y="0"/>
                  </a:lnTo>
                  <a:lnTo>
                    <a:pt x="473197" y="91986"/>
                  </a:lnTo>
                  <a:lnTo>
                    <a:pt x="0" y="91986"/>
                  </a:lnTo>
                  <a:close/>
                </a:path>
              </a:pathLst>
            </a:custGeom>
            <a:solidFill>
              <a:srgbClr val="E7E5E5"/>
            </a:solidFill>
          </p:spPr>
        </p:sp>
        <p:sp>
          <p:nvSpPr>
            <p:cNvPr name="TextBox 35" id="35"/>
            <p:cNvSpPr txBox="true"/>
            <p:nvPr/>
          </p:nvSpPr>
          <p:spPr>
            <a:xfrm>
              <a:off x="0" y="66675"/>
              <a:ext cx="473197" cy="25311"/>
            </a:xfrm>
            <a:prstGeom prst="rect">
              <a:avLst/>
            </a:prstGeom>
          </p:spPr>
          <p:txBody>
            <a:bodyPr anchor="ctr" rtlCol="false" tIns="50800" lIns="50800" bIns="50800" rIns="50800"/>
            <a:lstStyle/>
            <a:p>
              <a:pPr algn="ctr">
                <a:lnSpc>
                  <a:spcPts val="1977"/>
                </a:lnSpc>
              </a:pPr>
            </a:p>
          </p:txBody>
        </p:sp>
      </p:grpSp>
      <p:sp>
        <p:nvSpPr>
          <p:cNvPr name="Freeform 36" id="36">
            <a:hlinkClick r:id="rId9" action="ppaction://hlinksldjump"/>
          </p:cNvPr>
          <p:cNvSpPr/>
          <p:nvPr/>
        </p:nvSpPr>
        <p:spPr>
          <a:xfrm flipH="false" flipV="false" rot="0">
            <a:off x="17488913" y="9479633"/>
            <a:ext cx="553252" cy="553252"/>
          </a:xfrm>
          <a:custGeom>
            <a:avLst/>
            <a:gdLst/>
            <a:ahLst/>
            <a:cxnLst/>
            <a:rect r="r" b="b" t="t" l="l"/>
            <a:pathLst>
              <a:path h="553252" w="553252">
                <a:moveTo>
                  <a:pt x="0" y="0"/>
                </a:moveTo>
                <a:lnTo>
                  <a:pt x="553251" y="0"/>
                </a:lnTo>
                <a:lnTo>
                  <a:pt x="553251" y="553252"/>
                </a:lnTo>
                <a:lnTo>
                  <a:pt x="0" y="55325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37" id="37"/>
          <p:cNvSpPr txBox="true"/>
          <p:nvPr/>
        </p:nvSpPr>
        <p:spPr>
          <a:xfrm rot="0">
            <a:off x="17488913" y="256401"/>
            <a:ext cx="673573" cy="497991"/>
          </a:xfrm>
          <a:prstGeom prst="rect">
            <a:avLst/>
          </a:prstGeom>
        </p:spPr>
        <p:txBody>
          <a:bodyPr anchor="t" rtlCol="false" tIns="0" lIns="0" bIns="0" rIns="0">
            <a:spAutoFit/>
          </a:bodyPr>
          <a:lstStyle/>
          <a:p>
            <a:pPr algn="l">
              <a:lnSpc>
                <a:spcPts val="4181"/>
              </a:lnSpc>
              <a:spcBef>
                <a:spcPct val="0"/>
              </a:spcBef>
            </a:pPr>
            <a:r>
              <a:rPr lang="en-US" b="true" sz="2987">
                <a:solidFill>
                  <a:srgbClr val="FFFFFF"/>
                </a:solidFill>
                <a:latin typeface="Muli Ultra-Bold"/>
                <a:ea typeface="Muli Ultra-Bold"/>
                <a:cs typeface="Muli Ultra-Bold"/>
                <a:sym typeface="Muli Ultra-Bold"/>
              </a:rPr>
              <a:t>05</a:t>
            </a:r>
          </a:p>
        </p:txBody>
      </p:sp>
      <p:sp>
        <p:nvSpPr>
          <p:cNvPr name="TextBox 38" id="38"/>
          <p:cNvSpPr txBox="true"/>
          <p:nvPr/>
        </p:nvSpPr>
        <p:spPr>
          <a:xfrm rot="0">
            <a:off x="11354001" y="3100736"/>
            <a:ext cx="6688164" cy="5744823"/>
          </a:xfrm>
          <a:prstGeom prst="rect">
            <a:avLst/>
          </a:prstGeom>
        </p:spPr>
        <p:txBody>
          <a:bodyPr anchor="t" rtlCol="false" tIns="0" lIns="0" bIns="0" rIns="0">
            <a:spAutoFit/>
          </a:bodyPr>
          <a:lstStyle/>
          <a:p>
            <a:pPr algn="l">
              <a:lnSpc>
                <a:spcPts val="4131"/>
              </a:lnSpc>
              <a:spcBef>
                <a:spcPct val="0"/>
              </a:spcBef>
            </a:pPr>
            <a:r>
              <a:rPr lang="en-US" b="true" sz="2950">
                <a:solidFill>
                  <a:srgbClr val="2B3B29"/>
                </a:solidFill>
                <a:latin typeface="Muli Bold"/>
                <a:ea typeface="Muli Bold"/>
                <a:cs typeface="Muli Bold"/>
                <a:sym typeface="Muli Bold"/>
              </a:rPr>
              <a:t>Forests are an important natural resource in Bangladesh. The Sundarbans is the largest mangrove forest in the world and provides wood, honey, and other resources. It also protects us from natural disasters. Wildlife is also important, including the famous Royal Bengal Tiger. Protecting biodiversity is essential for ecological balance.</a:t>
            </a:r>
          </a:p>
          <a:p>
            <a:pPr algn="l">
              <a:lnSpc>
                <a:spcPts val="4131"/>
              </a:lnSpc>
              <a:spcBef>
                <a:spcPct val="0"/>
              </a:spcBef>
            </a:pPr>
          </a:p>
        </p:txBody>
      </p:sp>
      <p:sp>
        <p:nvSpPr>
          <p:cNvPr name="TextBox 39" id="39"/>
          <p:cNvSpPr txBox="true"/>
          <p:nvPr/>
        </p:nvSpPr>
        <p:spPr>
          <a:xfrm rot="0">
            <a:off x="1762798" y="2730817"/>
            <a:ext cx="5576689" cy="1802841"/>
          </a:xfrm>
          <a:prstGeom prst="rect">
            <a:avLst/>
          </a:prstGeom>
        </p:spPr>
        <p:txBody>
          <a:bodyPr anchor="t" rtlCol="false" tIns="0" lIns="0" bIns="0" rIns="0">
            <a:spAutoFit/>
          </a:bodyPr>
          <a:lstStyle/>
          <a:p>
            <a:pPr algn="l">
              <a:lnSpc>
                <a:spcPts val="5035"/>
              </a:lnSpc>
              <a:spcBef>
                <a:spcPct val="0"/>
              </a:spcBef>
            </a:pPr>
            <a:r>
              <a:rPr lang="en-US" b="true" sz="3596">
                <a:solidFill>
                  <a:srgbClr val="000000"/>
                </a:solidFill>
                <a:latin typeface="Muli Bold"/>
                <a:ea typeface="Muli Bold"/>
                <a:cs typeface="Muli Bold"/>
                <a:sym typeface="Muli Bold"/>
              </a:rPr>
              <a:t>Forest Resources</a:t>
            </a:r>
          </a:p>
          <a:p>
            <a:pPr algn="l" marL="474338" indent="-237169" lvl="1">
              <a:lnSpc>
                <a:spcPts val="3075"/>
              </a:lnSpc>
              <a:buFont typeface="Arial"/>
              <a:buChar char="•"/>
            </a:pPr>
            <a:r>
              <a:rPr lang="en-US" b="true" sz="2197">
                <a:solidFill>
                  <a:srgbClr val="000000"/>
                </a:solidFill>
                <a:latin typeface="Muli Bold"/>
                <a:ea typeface="Muli Bold"/>
                <a:cs typeface="Muli Bold"/>
                <a:sym typeface="Muli Bold"/>
              </a:rPr>
              <a:t>Sundarbans (largest mangrove forest)</a:t>
            </a:r>
          </a:p>
          <a:p>
            <a:pPr algn="l" marL="474338" indent="-237169" lvl="1">
              <a:lnSpc>
                <a:spcPts val="3075"/>
              </a:lnSpc>
              <a:buFont typeface="Arial"/>
              <a:buChar char="•"/>
            </a:pPr>
            <a:r>
              <a:rPr lang="en-US" b="true" sz="2197">
                <a:solidFill>
                  <a:srgbClr val="000000"/>
                </a:solidFill>
                <a:latin typeface="Muli Bold"/>
                <a:ea typeface="Muli Bold"/>
                <a:cs typeface="Muli Bold"/>
                <a:sym typeface="Muli Bold"/>
              </a:rPr>
              <a:t>Timber and wood</a:t>
            </a:r>
          </a:p>
          <a:p>
            <a:pPr algn="l" marL="474338" indent="-237169" lvl="1">
              <a:lnSpc>
                <a:spcPts val="3075"/>
              </a:lnSpc>
              <a:buFont typeface="Arial"/>
              <a:buChar char="•"/>
            </a:pPr>
            <a:r>
              <a:rPr lang="en-US" b="true" sz="2197">
                <a:solidFill>
                  <a:srgbClr val="000000"/>
                </a:solidFill>
                <a:latin typeface="Muli Bold"/>
                <a:ea typeface="Muli Bold"/>
                <a:cs typeface="Muli Bold"/>
                <a:sym typeface="Muli Bold"/>
              </a:rPr>
              <a:t>Medicinal plants</a:t>
            </a:r>
          </a:p>
        </p:txBody>
      </p:sp>
      <p:sp>
        <p:nvSpPr>
          <p:cNvPr name="TextBox 40" id="40"/>
          <p:cNvSpPr txBox="true"/>
          <p:nvPr/>
        </p:nvSpPr>
        <p:spPr>
          <a:xfrm rot="0">
            <a:off x="1762798" y="6780511"/>
            <a:ext cx="4037806" cy="1802803"/>
          </a:xfrm>
          <a:prstGeom prst="rect">
            <a:avLst/>
          </a:prstGeom>
        </p:spPr>
        <p:txBody>
          <a:bodyPr anchor="t" rtlCol="false" tIns="0" lIns="0" bIns="0" rIns="0">
            <a:spAutoFit/>
          </a:bodyPr>
          <a:lstStyle/>
          <a:p>
            <a:pPr algn="l">
              <a:lnSpc>
                <a:spcPts val="5035"/>
              </a:lnSpc>
              <a:spcBef>
                <a:spcPct val="0"/>
              </a:spcBef>
            </a:pPr>
            <a:r>
              <a:rPr lang="en-US" b="true" sz="3596">
                <a:solidFill>
                  <a:srgbClr val="000000"/>
                </a:solidFill>
                <a:latin typeface="Muli Bold"/>
                <a:ea typeface="Muli Bold"/>
                <a:cs typeface="Muli Bold"/>
                <a:sym typeface="Muli Bold"/>
              </a:rPr>
              <a:t>Wildlif</a:t>
            </a:r>
            <a:r>
              <a:rPr lang="en-US" b="true" sz="3596">
                <a:solidFill>
                  <a:srgbClr val="000000"/>
                </a:solidFill>
                <a:latin typeface="Muli Bold"/>
                <a:ea typeface="Muli Bold"/>
                <a:cs typeface="Muli Bold"/>
                <a:sym typeface="Muli Bold"/>
              </a:rPr>
              <a:t>e Resources</a:t>
            </a:r>
          </a:p>
          <a:p>
            <a:pPr algn="l" marL="474979" indent="-237490" lvl="1">
              <a:lnSpc>
                <a:spcPts val="3079"/>
              </a:lnSpc>
              <a:buFont typeface="Arial"/>
              <a:buChar char="•"/>
            </a:pPr>
            <a:r>
              <a:rPr lang="en-US" b="true" sz="2199">
                <a:solidFill>
                  <a:srgbClr val="000000"/>
                </a:solidFill>
                <a:latin typeface="Muli Bold"/>
                <a:ea typeface="Muli Bold"/>
                <a:cs typeface="Muli Bold"/>
                <a:sym typeface="Muli Bold"/>
              </a:rPr>
              <a:t>Royal Be</a:t>
            </a:r>
            <a:r>
              <a:rPr lang="en-US" b="true" sz="2199">
                <a:solidFill>
                  <a:srgbClr val="000000"/>
                </a:solidFill>
                <a:latin typeface="Muli Bold"/>
                <a:ea typeface="Muli Bold"/>
                <a:cs typeface="Muli Bold"/>
                <a:sym typeface="Muli Bold"/>
              </a:rPr>
              <a:t>ngal Tiger</a:t>
            </a:r>
          </a:p>
          <a:p>
            <a:pPr algn="l" marL="474979" indent="-237490" lvl="1">
              <a:lnSpc>
                <a:spcPts val="3079"/>
              </a:lnSpc>
              <a:buFont typeface="Arial"/>
              <a:buChar char="•"/>
            </a:pPr>
            <a:r>
              <a:rPr lang="en-US" b="true" sz="2199">
                <a:solidFill>
                  <a:srgbClr val="000000"/>
                </a:solidFill>
                <a:latin typeface="Muli Bold"/>
                <a:ea typeface="Muli Bold"/>
                <a:cs typeface="Muli Bold"/>
                <a:sym typeface="Muli Bold"/>
              </a:rPr>
              <a:t>Deer, birds, reptiles</a:t>
            </a:r>
          </a:p>
          <a:p>
            <a:pPr algn="l" marL="474979" indent="-237490" lvl="1">
              <a:lnSpc>
                <a:spcPts val="3079"/>
              </a:lnSpc>
              <a:buFont typeface="Arial"/>
              <a:buChar char="•"/>
            </a:pPr>
            <a:r>
              <a:rPr lang="en-US" b="true" sz="2199">
                <a:solidFill>
                  <a:srgbClr val="000000"/>
                </a:solidFill>
                <a:latin typeface="Muli Bold"/>
                <a:ea typeface="Muli Bold"/>
                <a:cs typeface="Muli Bold"/>
                <a:sym typeface="Muli Bold"/>
              </a:rPr>
              <a:t>Importance of biodiversity</a:t>
            </a:r>
          </a:p>
        </p:txBody>
      </p:sp>
      <p:sp>
        <p:nvSpPr>
          <p:cNvPr name="Freeform 41" id="41">
            <a:hlinkClick r:id="rId10" action="ppaction://hlinksldjump"/>
          </p:cNvPr>
          <p:cNvSpPr/>
          <p:nvPr/>
        </p:nvSpPr>
        <p:spPr>
          <a:xfrm flipH="false" flipV="false" rot="-10800000">
            <a:off x="212097" y="9534926"/>
            <a:ext cx="553252" cy="553252"/>
          </a:xfrm>
          <a:custGeom>
            <a:avLst/>
            <a:gdLst/>
            <a:ahLst/>
            <a:cxnLst/>
            <a:rect r="r" b="b" t="t" l="l"/>
            <a:pathLst>
              <a:path h="553252" w="553252">
                <a:moveTo>
                  <a:pt x="0" y="0"/>
                </a:moveTo>
                <a:lnTo>
                  <a:pt x="553251" y="0"/>
                </a:lnTo>
                <a:lnTo>
                  <a:pt x="553251" y="553251"/>
                </a:lnTo>
                <a:lnTo>
                  <a:pt x="0" y="55325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331238" y="7190709"/>
            <a:ext cx="8984393" cy="3086100"/>
            <a:chOff x="0" y="0"/>
            <a:chExt cx="2366260" cy="812800"/>
          </a:xfrm>
        </p:grpSpPr>
        <p:sp>
          <p:nvSpPr>
            <p:cNvPr name="Freeform 4" id="4"/>
            <p:cNvSpPr/>
            <p:nvPr/>
          </p:nvSpPr>
          <p:spPr>
            <a:xfrm flipH="false" flipV="false" rot="0">
              <a:off x="0" y="0"/>
              <a:ext cx="2366260" cy="812800"/>
            </a:xfrm>
            <a:custGeom>
              <a:avLst/>
              <a:gdLst/>
              <a:ahLst/>
              <a:cxnLst/>
              <a:rect r="r" b="b" t="t" l="l"/>
              <a:pathLst>
                <a:path h="812800" w="2366260">
                  <a:moveTo>
                    <a:pt x="0" y="0"/>
                  </a:moveTo>
                  <a:lnTo>
                    <a:pt x="2366260" y="0"/>
                  </a:lnTo>
                  <a:lnTo>
                    <a:pt x="2366260" y="812800"/>
                  </a:lnTo>
                  <a:lnTo>
                    <a:pt x="0" y="812800"/>
                  </a:lnTo>
                  <a:close/>
                </a:path>
              </a:pathLst>
            </a:custGeom>
            <a:solidFill>
              <a:srgbClr val="D7E8BD"/>
            </a:solidFill>
          </p:spPr>
        </p:sp>
        <p:sp>
          <p:nvSpPr>
            <p:cNvPr name="TextBox 5" id="5"/>
            <p:cNvSpPr txBox="true"/>
            <p:nvPr/>
          </p:nvSpPr>
          <p:spPr>
            <a:xfrm>
              <a:off x="0" y="66675"/>
              <a:ext cx="2366260" cy="746125"/>
            </a:xfrm>
            <a:prstGeom prst="rect">
              <a:avLst/>
            </a:prstGeom>
          </p:spPr>
          <p:txBody>
            <a:bodyPr anchor="ctr" rtlCol="false" tIns="50800" lIns="50800" bIns="50800" rIns="50800"/>
            <a:lstStyle/>
            <a:p>
              <a:pPr algn="ctr">
                <a:lnSpc>
                  <a:spcPts val="1977"/>
                </a:lnSpc>
              </a:pPr>
            </a:p>
          </p:txBody>
        </p:sp>
      </p:grpSp>
      <p:grpSp>
        <p:nvGrpSpPr>
          <p:cNvPr name="Group 6" id="6"/>
          <p:cNvGrpSpPr/>
          <p:nvPr/>
        </p:nvGrpSpPr>
        <p:grpSpPr>
          <a:xfrm rot="0">
            <a:off x="-331238" y="-2095876"/>
            <a:ext cx="8984393" cy="8374225"/>
            <a:chOff x="0" y="0"/>
            <a:chExt cx="2366260" cy="2205557"/>
          </a:xfrm>
        </p:grpSpPr>
        <p:sp>
          <p:nvSpPr>
            <p:cNvPr name="Freeform 7" id="7"/>
            <p:cNvSpPr/>
            <p:nvPr/>
          </p:nvSpPr>
          <p:spPr>
            <a:xfrm flipH="false" flipV="false" rot="0">
              <a:off x="0" y="0"/>
              <a:ext cx="2366260" cy="2205557"/>
            </a:xfrm>
            <a:custGeom>
              <a:avLst/>
              <a:gdLst/>
              <a:ahLst/>
              <a:cxnLst/>
              <a:rect r="r" b="b" t="t" l="l"/>
              <a:pathLst>
                <a:path h="2205557" w="2366260">
                  <a:moveTo>
                    <a:pt x="0" y="0"/>
                  </a:moveTo>
                  <a:lnTo>
                    <a:pt x="2366260" y="0"/>
                  </a:lnTo>
                  <a:lnTo>
                    <a:pt x="2366260" y="2205557"/>
                  </a:lnTo>
                  <a:lnTo>
                    <a:pt x="0" y="2205557"/>
                  </a:lnTo>
                  <a:close/>
                </a:path>
              </a:pathLst>
            </a:custGeom>
            <a:solidFill>
              <a:srgbClr val="94B143"/>
            </a:solidFill>
          </p:spPr>
        </p:sp>
        <p:sp>
          <p:nvSpPr>
            <p:cNvPr name="TextBox 8" id="8"/>
            <p:cNvSpPr txBox="true"/>
            <p:nvPr/>
          </p:nvSpPr>
          <p:spPr>
            <a:xfrm>
              <a:off x="0" y="66675"/>
              <a:ext cx="2366260" cy="2138882"/>
            </a:xfrm>
            <a:prstGeom prst="rect">
              <a:avLst/>
            </a:prstGeom>
          </p:spPr>
          <p:txBody>
            <a:bodyPr anchor="ctr" rtlCol="false" tIns="50800" lIns="50800" bIns="50800" rIns="50800"/>
            <a:lstStyle/>
            <a:p>
              <a:pPr algn="ctr">
                <a:lnSpc>
                  <a:spcPts val="1977"/>
                </a:lnSpc>
              </a:pPr>
            </a:p>
          </p:txBody>
        </p:sp>
      </p:grpSp>
      <p:grpSp>
        <p:nvGrpSpPr>
          <p:cNvPr name="Group 9" id="9"/>
          <p:cNvGrpSpPr/>
          <p:nvPr/>
        </p:nvGrpSpPr>
        <p:grpSpPr>
          <a:xfrm rot="0">
            <a:off x="765348" y="2453612"/>
            <a:ext cx="7375136" cy="6055977"/>
            <a:chOff x="0" y="0"/>
            <a:chExt cx="1094642" cy="898848"/>
          </a:xfrm>
        </p:grpSpPr>
        <p:sp>
          <p:nvSpPr>
            <p:cNvPr name="Freeform 10" id="10"/>
            <p:cNvSpPr/>
            <p:nvPr/>
          </p:nvSpPr>
          <p:spPr>
            <a:xfrm flipH="false" flipV="false" rot="0">
              <a:off x="0" y="0"/>
              <a:ext cx="1094642" cy="898848"/>
            </a:xfrm>
            <a:custGeom>
              <a:avLst/>
              <a:gdLst/>
              <a:ahLst/>
              <a:cxnLst/>
              <a:rect r="r" b="b" t="t" l="l"/>
              <a:pathLst>
                <a:path h="898848" w="1094642">
                  <a:moveTo>
                    <a:pt x="0" y="0"/>
                  </a:moveTo>
                  <a:lnTo>
                    <a:pt x="1094642" y="0"/>
                  </a:lnTo>
                  <a:lnTo>
                    <a:pt x="1094642" y="898848"/>
                  </a:lnTo>
                  <a:lnTo>
                    <a:pt x="0" y="898848"/>
                  </a:lnTo>
                  <a:close/>
                </a:path>
              </a:pathLst>
            </a:custGeom>
            <a:blipFill>
              <a:blip r:embed="rId3"/>
              <a:stretch>
                <a:fillRect l="0" t="-38664" r="0" b="-38664"/>
              </a:stretch>
            </a:blipFill>
          </p:spPr>
        </p:sp>
      </p:grpSp>
      <p:sp>
        <p:nvSpPr>
          <p:cNvPr name="Freeform 11" id="11"/>
          <p:cNvSpPr/>
          <p:nvPr/>
        </p:nvSpPr>
        <p:spPr>
          <a:xfrm flipH="false" flipV="false" rot="0">
            <a:off x="1028700" y="529209"/>
            <a:ext cx="991885" cy="1361856"/>
          </a:xfrm>
          <a:custGeom>
            <a:avLst/>
            <a:gdLst/>
            <a:ahLst/>
            <a:cxnLst/>
            <a:rect r="r" b="b" t="t" l="l"/>
            <a:pathLst>
              <a:path h="1361856" w="991885">
                <a:moveTo>
                  <a:pt x="0" y="0"/>
                </a:moveTo>
                <a:lnTo>
                  <a:pt x="991885" y="0"/>
                </a:lnTo>
                <a:lnTo>
                  <a:pt x="991885" y="1361856"/>
                </a:lnTo>
                <a:lnTo>
                  <a:pt x="0" y="13618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2" id="12"/>
          <p:cNvGrpSpPr/>
          <p:nvPr/>
        </p:nvGrpSpPr>
        <p:grpSpPr>
          <a:xfrm rot="0">
            <a:off x="17259300" y="-717188"/>
            <a:ext cx="1796670" cy="1745888"/>
            <a:chOff x="0" y="0"/>
            <a:chExt cx="473197" cy="459822"/>
          </a:xfrm>
        </p:grpSpPr>
        <p:sp>
          <p:nvSpPr>
            <p:cNvPr name="Freeform 13" id="13"/>
            <p:cNvSpPr/>
            <p:nvPr/>
          </p:nvSpPr>
          <p:spPr>
            <a:xfrm flipH="false" flipV="false" rot="0">
              <a:off x="0" y="0"/>
              <a:ext cx="473197" cy="459822"/>
            </a:xfrm>
            <a:custGeom>
              <a:avLst/>
              <a:gdLst/>
              <a:ahLst/>
              <a:cxnLst/>
              <a:rect r="r" b="b" t="t" l="l"/>
              <a:pathLst>
                <a:path h="459822" w="473197">
                  <a:moveTo>
                    <a:pt x="0" y="0"/>
                  </a:moveTo>
                  <a:lnTo>
                    <a:pt x="473197" y="0"/>
                  </a:lnTo>
                  <a:lnTo>
                    <a:pt x="473197" y="459822"/>
                  </a:lnTo>
                  <a:lnTo>
                    <a:pt x="0" y="459822"/>
                  </a:lnTo>
                  <a:close/>
                </a:path>
              </a:pathLst>
            </a:custGeom>
            <a:solidFill>
              <a:srgbClr val="415636"/>
            </a:solidFill>
          </p:spPr>
        </p:sp>
        <p:sp>
          <p:nvSpPr>
            <p:cNvPr name="TextBox 14" id="14"/>
            <p:cNvSpPr txBox="true"/>
            <p:nvPr/>
          </p:nvSpPr>
          <p:spPr>
            <a:xfrm>
              <a:off x="0" y="66675"/>
              <a:ext cx="473197" cy="393147"/>
            </a:xfrm>
            <a:prstGeom prst="rect">
              <a:avLst/>
            </a:prstGeom>
          </p:spPr>
          <p:txBody>
            <a:bodyPr anchor="ctr" rtlCol="false" tIns="50800" lIns="50800" bIns="50800" rIns="50800"/>
            <a:lstStyle/>
            <a:p>
              <a:pPr algn="ctr">
                <a:lnSpc>
                  <a:spcPts val="1977"/>
                </a:lnSpc>
              </a:pPr>
            </a:p>
          </p:txBody>
        </p:sp>
      </p:grpSp>
      <p:sp>
        <p:nvSpPr>
          <p:cNvPr name="TextBox 15" id="15"/>
          <p:cNvSpPr txBox="true"/>
          <p:nvPr/>
        </p:nvSpPr>
        <p:spPr>
          <a:xfrm rot="0">
            <a:off x="9144000" y="6394415"/>
            <a:ext cx="8618930" cy="4173198"/>
          </a:xfrm>
          <a:prstGeom prst="rect">
            <a:avLst/>
          </a:prstGeom>
        </p:spPr>
        <p:txBody>
          <a:bodyPr anchor="t" rtlCol="false" tIns="0" lIns="0" bIns="0" rIns="0">
            <a:spAutoFit/>
          </a:bodyPr>
          <a:lstStyle/>
          <a:p>
            <a:pPr algn="l">
              <a:lnSpc>
                <a:spcPts val="4131"/>
              </a:lnSpc>
              <a:spcBef>
                <a:spcPct val="0"/>
              </a:spcBef>
            </a:pPr>
            <a:r>
              <a:rPr lang="en-US" b="true" sz="2950">
                <a:solidFill>
                  <a:srgbClr val="2B3B29"/>
                </a:solidFill>
                <a:latin typeface="Muli Bold"/>
                <a:ea typeface="Muli Bold"/>
                <a:cs typeface="Muli Bold"/>
                <a:sym typeface="Muli Bold"/>
              </a:rPr>
              <a:t>Bangladesh has several mineral resources, especially natural gas, which is the main energy source. Coal and limestone are also found in some areas. Energy is very important for development. Recently, Bangladesh is focusing on renewable energy like solar and wind power to ensure sustainability.</a:t>
            </a:r>
          </a:p>
          <a:p>
            <a:pPr algn="l">
              <a:lnSpc>
                <a:spcPts val="4131"/>
              </a:lnSpc>
              <a:spcBef>
                <a:spcPct val="0"/>
              </a:spcBef>
            </a:pPr>
          </a:p>
        </p:txBody>
      </p:sp>
      <p:sp>
        <p:nvSpPr>
          <p:cNvPr name="Freeform 16" id="16">
            <a:hlinkClick r:id="rId8" action="ppaction://hlinksldjump"/>
          </p:cNvPr>
          <p:cNvSpPr/>
          <p:nvPr/>
        </p:nvSpPr>
        <p:spPr>
          <a:xfrm flipH="false" flipV="false" rot="0">
            <a:off x="17549073" y="9526487"/>
            <a:ext cx="553252" cy="553252"/>
          </a:xfrm>
          <a:custGeom>
            <a:avLst/>
            <a:gdLst/>
            <a:ahLst/>
            <a:cxnLst/>
            <a:rect r="r" b="b" t="t" l="l"/>
            <a:pathLst>
              <a:path h="553252" w="553252">
                <a:moveTo>
                  <a:pt x="0" y="0"/>
                </a:moveTo>
                <a:lnTo>
                  <a:pt x="553252" y="0"/>
                </a:lnTo>
                <a:lnTo>
                  <a:pt x="553252" y="553252"/>
                </a:lnTo>
                <a:lnTo>
                  <a:pt x="0" y="5532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7" id="17">
            <a:hlinkClick r:id="rId11" action="ppaction://hlinksldjump"/>
          </p:cNvPr>
          <p:cNvSpPr/>
          <p:nvPr/>
        </p:nvSpPr>
        <p:spPr>
          <a:xfrm flipH="false" flipV="false" rot="-10800000">
            <a:off x="212097" y="9534926"/>
            <a:ext cx="553252" cy="553252"/>
          </a:xfrm>
          <a:custGeom>
            <a:avLst/>
            <a:gdLst/>
            <a:ahLst/>
            <a:cxnLst/>
            <a:rect r="r" b="b" t="t" l="l"/>
            <a:pathLst>
              <a:path h="553252" w="553252">
                <a:moveTo>
                  <a:pt x="0" y="0"/>
                </a:moveTo>
                <a:lnTo>
                  <a:pt x="553251" y="0"/>
                </a:lnTo>
                <a:lnTo>
                  <a:pt x="553251" y="553251"/>
                </a:lnTo>
                <a:lnTo>
                  <a:pt x="0" y="55325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8" id="18"/>
          <p:cNvSpPr txBox="true"/>
          <p:nvPr/>
        </p:nvSpPr>
        <p:spPr>
          <a:xfrm rot="0">
            <a:off x="17488913" y="256401"/>
            <a:ext cx="673573" cy="497991"/>
          </a:xfrm>
          <a:prstGeom prst="rect">
            <a:avLst/>
          </a:prstGeom>
        </p:spPr>
        <p:txBody>
          <a:bodyPr anchor="t" rtlCol="false" tIns="0" lIns="0" bIns="0" rIns="0">
            <a:spAutoFit/>
          </a:bodyPr>
          <a:lstStyle/>
          <a:p>
            <a:pPr algn="l">
              <a:lnSpc>
                <a:spcPts val="4181"/>
              </a:lnSpc>
              <a:spcBef>
                <a:spcPct val="0"/>
              </a:spcBef>
            </a:pPr>
            <a:r>
              <a:rPr lang="en-US" b="true" sz="2987">
                <a:solidFill>
                  <a:srgbClr val="FFFFFF"/>
                </a:solidFill>
                <a:latin typeface="Muli Ultra-Bold"/>
                <a:ea typeface="Muli Ultra-Bold"/>
                <a:cs typeface="Muli Ultra-Bold"/>
                <a:sym typeface="Muli Ultra-Bold"/>
              </a:rPr>
              <a:t>06</a:t>
            </a:r>
          </a:p>
        </p:txBody>
      </p:sp>
      <p:sp>
        <p:nvSpPr>
          <p:cNvPr name="TextBox 19" id="19"/>
          <p:cNvSpPr txBox="true"/>
          <p:nvPr/>
        </p:nvSpPr>
        <p:spPr>
          <a:xfrm rot="0">
            <a:off x="2337239" y="755163"/>
            <a:ext cx="12631834" cy="1005198"/>
          </a:xfrm>
          <a:prstGeom prst="rect">
            <a:avLst/>
          </a:prstGeom>
        </p:spPr>
        <p:txBody>
          <a:bodyPr anchor="t" rtlCol="false" tIns="0" lIns="0" bIns="0" rIns="0">
            <a:spAutoFit/>
          </a:bodyPr>
          <a:lstStyle/>
          <a:p>
            <a:pPr algn="l">
              <a:lnSpc>
                <a:spcPts val="7760"/>
              </a:lnSpc>
            </a:pPr>
            <a:r>
              <a:rPr lang="en-US" sz="7252" b="true">
                <a:solidFill>
                  <a:srgbClr val="009444"/>
                </a:solidFill>
                <a:latin typeface="Muli Ultra-Bold"/>
                <a:ea typeface="Muli Ultra-Bold"/>
                <a:cs typeface="Muli Ultra-Bold"/>
                <a:sym typeface="Muli Ultra-Bold"/>
              </a:rPr>
              <a:t>Mineral &amp; Energy Resources</a:t>
            </a:r>
          </a:p>
        </p:txBody>
      </p:sp>
      <p:sp>
        <p:nvSpPr>
          <p:cNvPr name="TextBox 20" id="20"/>
          <p:cNvSpPr txBox="true"/>
          <p:nvPr/>
        </p:nvSpPr>
        <p:spPr>
          <a:xfrm rot="0">
            <a:off x="9144000" y="2405987"/>
            <a:ext cx="4924839" cy="1784085"/>
          </a:xfrm>
          <a:prstGeom prst="rect">
            <a:avLst/>
          </a:prstGeom>
        </p:spPr>
        <p:txBody>
          <a:bodyPr anchor="t" rtlCol="false" tIns="0" lIns="0" bIns="0" rIns="0">
            <a:spAutoFit/>
          </a:bodyPr>
          <a:lstStyle/>
          <a:p>
            <a:pPr algn="l">
              <a:lnSpc>
                <a:spcPts val="3545"/>
              </a:lnSpc>
              <a:spcBef>
                <a:spcPct val="0"/>
              </a:spcBef>
            </a:pPr>
            <a:r>
              <a:rPr lang="en-US" b="true" sz="2532">
                <a:solidFill>
                  <a:srgbClr val="000000"/>
                </a:solidFill>
                <a:latin typeface="Muli Ultra-Bold"/>
                <a:ea typeface="Muli Ultra-Bold"/>
                <a:cs typeface="Muli Ultra-Bold"/>
                <a:sym typeface="Muli Ultra-Bold"/>
              </a:rPr>
              <a:t>Mineral Resources</a:t>
            </a:r>
          </a:p>
          <a:p>
            <a:pPr algn="l" marL="546818" indent="-273409" lvl="1">
              <a:lnSpc>
                <a:spcPts val="3545"/>
              </a:lnSpc>
              <a:buFont typeface="Arial"/>
              <a:buChar char="•"/>
            </a:pPr>
            <a:r>
              <a:rPr lang="en-US" b="true" sz="2532">
                <a:solidFill>
                  <a:srgbClr val="000000"/>
                </a:solidFill>
                <a:latin typeface="Muli Ultra-Bold"/>
                <a:ea typeface="Muli Ultra-Bold"/>
                <a:cs typeface="Muli Ultra-Bold"/>
                <a:sym typeface="Muli Ultra-Bold"/>
              </a:rPr>
              <a:t>Natural gas (main resource)</a:t>
            </a:r>
          </a:p>
          <a:p>
            <a:pPr algn="l" marL="546818" indent="-273409" lvl="1">
              <a:lnSpc>
                <a:spcPts val="3545"/>
              </a:lnSpc>
              <a:buFont typeface="Arial"/>
              <a:buChar char="•"/>
            </a:pPr>
            <a:r>
              <a:rPr lang="en-US" b="true" sz="2532">
                <a:solidFill>
                  <a:srgbClr val="000000"/>
                </a:solidFill>
                <a:latin typeface="Muli Ultra-Bold"/>
                <a:ea typeface="Muli Ultra-Bold"/>
                <a:cs typeface="Muli Ultra-Bold"/>
                <a:sym typeface="Muli Ultra-Bold"/>
              </a:rPr>
              <a:t>Coal</a:t>
            </a:r>
          </a:p>
          <a:p>
            <a:pPr algn="l" marL="546818" indent="-273409" lvl="1">
              <a:lnSpc>
                <a:spcPts val="3545"/>
              </a:lnSpc>
              <a:buFont typeface="Arial"/>
              <a:buChar char="•"/>
            </a:pPr>
            <a:r>
              <a:rPr lang="en-US" b="true" sz="2532">
                <a:solidFill>
                  <a:srgbClr val="000000"/>
                </a:solidFill>
                <a:latin typeface="Muli Ultra-Bold"/>
                <a:ea typeface="Muli Ultra-Bold"/>
                <a:cs typeface="Muli Ultra-Bold"/>
                <a:sym typeface="Muli Ultra-Bold"/>
              </a:rPr>
              <a:t>Limestone</a:t>
            </a:r>
          </a:p>
        </p:txBody>
      </p:sp>
      <p:sp>
        <p:nvSpPr>
          <p:cNvPr name="TextBox 21" id="21"/>
          <p:cNvSpPr txBox="true"/>
          <p:nvPr/>
        </p:nvSpPr>
        <p:spPr>
          <a:xfrm rot="0">
            <a:off x="12345090" y="4142447"/>
            <a:ext cx="5480609" cy="1784085"/>
          </a:xfrm>
          <a:prstGeom prst="rect">
            <a:avLst/>
          </a:prstGeom>
        </p:spPr>
        <p:txBody>
          <a:bodyPr anchor="t" rtlCol="false" tIns="0" lIns="0" bIns="0" rIns="0">
            <a:spAutoFit/>
          </a:bodyPr>
          <a:lstStyle/>
          <a:p>
            <a:pPr algn="l">
              <a:lnSpc>
                <a:spcPts val="3545"/>
              </a:lnSpc>
              <a:spcBef>
                <a:spcPct val="0"/>
              </a:spcBef>
            </a:pPr>
            <a:r>
              <a:rPr lang="en-US" b="true" sz="2532">
                <a:solidFill>
                  <a:srgbClr val="000000"/>
                </a:solidFill>
                <a:latin typeface="Muli Ultra-Bold"/>
                <a:ea typeface="Muli Ultra-Bold"/>
                <a:cs typeface="Muli Ultra-Bold"/>
                <a:sym typeface="Muli Ultra-Bold"/>
              </a:rPr>
              <a:t>E</a:t>
            </a:r>
            <a:r>
              <a:rPr lang="en-US" b="true" sz="2532">
                <a:solidFill>
                  <a:srgbClr val="000000"/>
                </a:solidFill>
                <a:latin typeface="Muli Ultra-Bold"/>
                <a:ea typeface="Muli Ultra-Bold"/>
                <a:cs typeface="Muli Ultra-Bold"/>
                <a:sym typeface="Muli Ultra-Bold"/>
              </a:rPr>
              <a:t>nergy Resources</a:t>
            </a:r>
          </a:p>
          <a:p>
            <a:pPr algn="l" marL="546818" indent="-273409" lvl="1">
              <a:lnSpc>
                <a:spcPts val="3545"/>
              </a:lnSpc>
              <a:buFont typeface="Arial"/>
              <a:buChar char="•"/>
            </a:pPr>
            <a:r>
              <a:rPr lang="en-US" b="true" sz="2532">
                <a:solidFill>
                  <a:srgbClr val="000000"/>
                </a:solidFill>
                <a:latin typeface="Muli Ultra-Bold"/>
                <a:ea typeface="Muli Ultra-Bold"/>
                <a:cs typeface="Muli Ultra-Bold"/>
                <a:sym typeface="Muli Ultra-Bold"/>
              </a:rPr>
              <a:t>Natural gas-based energy</a:t>
            </a:r>
          </a:p>
          <a:p>
            <a:pPr algn="l" marL="546818" indent="-273409" lvl="1">
              <a:lnSpc>
                <a:spcPts val="3545"/>
              </a:lnSpc>
              <a:buFont typeface="Arial"/>
              <a:buChar char="•"/>
            </a:pPr>
            <a:r>
              <a:rPr lang="en-US" b="true" sz="2532">
                <a:solidFill>
                  <a:srgbClr val="000000"/>
                </a:solidFill>
                <a:latin typeface="Muli Ultra-Bold"/>
                <a:ea typeface="Muli Ultra-Bold"/>
                <a:cs typeface="Muli Ultra-Bold"/>
                <a:sym typeface="Muli Ultra-Bold"/>
              </a:rPr>
              <a:t>Renewable energy (solar, wind)</a:t>
            </a:r>
          </a:p>
          <a:p>
            <a:pPr algn="l" marL="546818" indent="-273409" lvl="1">
              <a:lnSpc>
                <a:spcPts val="3545"/>
              </a:lnSpc>
              <a:buFont typeface="Arial"/>
              <a:buChar char="•"/>
            </a:pPr>
            <a:r>
              <a:rPr lang="en-US" b="true" sz="2532">
                <a:solidFill>
                  <a:srgbClr val="000000"/>
                </a:solidFill>
                <a:latin typeface="Muli Ultra-Bold"/>
                <a:ea typeface="Muli Ultra-Bold"/>
                <a:cs typeface="Muli Ultra-Bold"/>
                <a:sym typeface="Muli Ultra-Bold"/>
              </a:rPr>
              <a:t>Future potential</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028700" y="529209"/>
            <a:ext cx="991885" cy="1361856"/>
          </a:xfrm>
          <a:custGeom>
            <a:avLst/>
            <a:gdLst/>
            <a:ahLst/>
            <a:cxnLst/>
            <a:rect r="r" b="b" t="t" l="l"/>
            <a:pathLst>
              <a:path h="1361856" w="991885">
                <a:moveTo>
                  <a:pt x="0" y="0"/>
                </a:moveTo>
                <a:lnTo>
                  <a:pt x="991885" y="0"/>
                </a:lnTo>
                <a:lnTo>
                  <a:pt x="991885" y="1361856"/>
                </a:lnTo>
                <a:lnTo>
                  <a:pt x="0" y="13618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7259300" y="-717188"/>
            <a:ext cx="1796670" cy="1745888"/>
            <a:chOff x="0" y="0"/>
            <a:chExt cx="473197" cy="459822"/>
          </a:xfrm>
        </p:grpSpPr>
        <p:sp>
          <p:nvSpPr>
            <p:cNvPr name="Freeform 5" id="5"/>
            <p:cNvSpPr/>
            <p:nvPr/>
          </p:nvSpPr>
          <p:spPr>
            <a:xfrm flipH="false" flipV="false" rot="0">
              <a:off x="0" y="0"/>
              <a:ext cx="473197" cy="459822"/>
            </a:xfrm>
            <a:custGeom>
              <a:avLst/>
              <a:gdLst/>
              <a:ahLst/>
              <a:cxnLst/>
              <a:rect r="r" b="b" t="t" l="l"/>
              <a:pathLst>
                <a:path h="459822" w="473197">
                  <a:moveTo>
                    <a:pt x="0" y="0"/>
                  </a:moveTo>
                  <a:lnTo>
                    <a:pt x="473197" y="0"/>
                  </a:lnTo>
                  <a:lnTo>
                    <a:pt x="473197" y="459822"/>
                  </a:lnTo>
                  <a:lnTo>
                    <a:pt x="0" y="459822"/>
                  </a:lnTo>
                  <a:close/>
                </a:path>
              </a:pathLst>
            </a:custGeom>
            <a:solidFill>
              <a:srgbClr val="415636"/>
            </a:solidFill>
          </p:spPr>
        </p:sp>
        <p:sp>
          <p:nvSpPr>
            <p:cNvPr name="TextBox 6" id="6"/>
            <p:cNvSpPr txBox="true"/>
            <p:nvPr/>
          </p:nvSpPr>
          <p:spPr>
            <a:xfrm>
              <a:off x="0" y="66675"/>
              <a:ext cx="473197" cy="393147"/>
            </a:xfrm>
            <a:prstGeom prst="rect">
              <a:avLst/>
            </a:prstGeom>
          </p:spPr>
          <p:txBody>
            <a:bodyPr anchor="ctr" rtlCol="false" tIns="50800" lIns="50800" bIns="50800" rIns="50800"/>
            <a:lstStyle/>
            <a:p>
              <a:pPr algn="ctr">
                <a:lnSpc>
                  <a:spcPts val="1977"/>
                </a:lnSpc>
              </a:pPr>
            </a:p>
          </p:txBody>
        </p:sp>
      </p:grpSp>
      <p:grpSp>
        <p:nvGrpSpPr>
          <p:cNvPr name="Group 7" id="7"/>
          <p:cNvGrpSpPr>
            <a:grpSpLocks noChangeAspect="true"/>
          </p:cNvGrpSpPr>
          <p:nvPr/>
        </p:nvGrpSpPr>
        <p:grpSpPr>
          <a:xfrm rot="0">
            <a:off x="12165729" y="1360636"/>
            <a:ext cx="5659970" cy="5659970"/>
            <a:chOff x="0" y="0"/>
            <a:chExt cx="14840029" cy="14840029"/>
          </a:xfrm>
        </p:grpSpPr>
        <p:sp>
          <p:nvSpPr>
            <p:cNvPr name="Freeform 8" id="8"/>
            <p:cNvSpPr/>
            <p:nvPr/>
          </p:nvSpPr>
          <p:spPr>
            <a:xfrm flipH="false" flipV="false" rot="0">
              <a:off x="-33258" y="-75"/>
              <a:ext cx="14906544" cy="14840178"/>
            </a:xfrm>
            <a:custGeom>
              <a:avLst/>
              <a:gdLst/>
              <a:ahLst/>
              <a:cxnLst/>
              <a:rect r="r" b="b" t="t" l="l"/>
              <a:pathLst>
                <a:path h="14840178" w="14906544">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55833D"/>
            </a:solidFill>
          </p:spPr>
        </p:sp>
        <p:sp>
          <p:nvSpPr>
            <p:cNvPr name="Freeform 9" id="9"/>
            <p:cNvSpPr/>
            <p:nvPr/>
          </p:nvSpPr>
          <p:spPr>
            <a:xfrm flipH="false" flipV="false" rot="0">
              <a:off x="168022" y="200309"/>
              <a:ext cx="14503985" cy="14439411"/>
            </a:xfrm>
            <a:custGeom>
              <a:avLst/>
              <a:gdLst/>
              <a:ahLst/>
              <a:cxnLst/>
              <a:rect r="r" b="b" t="t" l="l"/>
              <a:pathLst>
                <a:path h="14439411" w="14503985">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FFFFFF"/>
            </a:solidFill>
          </p:spPr>
        </p:sp>
        <p:sp>
          <p:nvSpPr>
            <p:cNvPr name="Freeform 10" id="10"/>
            <p:cNvSpPr/>
            <p:nvPr/>
          </p:nvSpPr>
          <p:spPr>
            <a:xfrm flipH="false" flipV="false" rot="0">
              <a:off x="531276" y="561946"/>
              <a:ext cx="13777477" cy="13716137"/>
            </a:xfrm>
            <a:custGeom>
              <a:avLst/>
              <a:gdLst/>
              <a:ahLst/>
              <a:cxnLst/>
              <a:rect r="r" b="b" t="t" l="l"/>
              <a:pathLst>
                <a:path h="13716137" w="1377747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5"/>
              <a:stretch>
                <a:fillRect l="-42969" t="0" r="-42969" b="0"/>
              </a:stretch>
            </a:blipFill>
          </p:spPr>
        </p:sp>
      </p:grpSp>
      <p:sp>
        <p:nvSpPr>
          <p:cNvPr name="Freeform 11" id="11">
            <a:hlinkClick r:id="rId8" action="ppaction://hlinksldjump"/>
          </p:cNvPr>
          <p:cNvSpPr/>
          <p:nvPr/>
        </p:nvSpPr>
        <p:spPr>
          <a:xfrm flipH="false" flipV="false" rot="0">
            <a:off x="17274393" y="9411793"/>
            <a:ext cx="676385" cy="676385"/>
          </a:xfrm>
          <a:custGeom>
            <a:avLst/>
            <a:gdLst/>
            <a:ahLst/>
            <a:cxnLst/>
            <a:rect r="r" b="b" t="t" l="l"/>
            <a:pathLst>
              <a:path h="676385" w="676385">
                <a:moveTo>
                  <a:pt x="0" y="0"/>
                </a:moveTo>
                <a:lnTo>
                  <a:pt x="676385" y="0"/>
                </a:lnTo>
                <a:lnTo>
                  <a:pt x="676385" y="676384"/>
                </a:lnTo>
                <a:lnTo>
                  <a:pt x="0" y="67638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2" id="12"/>
          <p:cNvSpPr txBox="true"/>
          <p:nvPr/>
        </p:nvSpPr>
        <p:spPr>
          <a:xfrm rot="0">
            <a:off x="2211266" y="624459"/>
            <a:ext cx="16613490" cy="1155245"/>
          </a:xfrm>
          <a:prstGeom prst="rect">
            <a:avLst/>
          </a:prstGeom>
        </p:spPr>
        <p:txBody>
          <a:bodyPr anchor="t" rtlCol="false" tIns="0" lIns="0" bIns="0" rIns="0">
            <a:spAutoFit/>
          </a:bodyPr>
          <a:lstStyle/>
          <a:p>
            <a:pPr algn="l">
              <a:lnSpc>
                <a:spcPts val="8818"/>
              </a:lnSpc>
            </a:pPr>
            <a:r>
              <a:rPr lang="en-US" sz="8241" b="true">
                <a:solidFill>
                  <a:srgbClr val="009444"/>
                </a:solidFill>
                <a:latin typeface="Muli Ultra-Bold"/>
                <a:ea typeface="Muli Ultra-Bold"/>
                <a:cs typeface="Muli Ultra-Bold"/>
                <a:sym typeface="Muli Ultra-Bold"/>
              </a:rPr>
              <a:t>Problems &amp; Conclusion</a:t>
            </a:r>
          </a:p>
        </p:txBody>
      </p:sp>
      <p:sp>
        <p:nvSpPr>
          <p:cNvPr name="TextBox 13" id="13"/>
          <p:cNvSpPr txBox="true"/>
          <p:nvPr/>
        </p:nvSpPr>
        <p:spPr>
          <a:xfrm rot="0">
            <a:off x="17488913" y="256401"/>
            <a:ext cx="673573" cy="497991"/>
          </a:xfrm>
          <a:prstGeom prst="rect">
            <a:avLst/>
          </a:prstGeom>
        </p:spPr>
        <p:txBody>
          <a:bodyPr anchor="t" rtlCol="false" tIns="0" lIns="0" bIns="0" rIns="0">
            <a:spAutoFit/>
          </a:bodyPr>
          <a:lstStyle/>
          <a:p>
            <a:pPr algn="l">
              <a:lnSpc>
                <a:spcPts val="4181"/>
              </a:lnSpc>
              <a:spcBef>
                <a:spcPct val="0"/>
              </a:spcBef>
            </a:pPr>
            <a:r>
              <a:rPr lang="en-US" b="true" sz="2987">
                <a:solidFill>
                  <a:srgbClr val="FFFFFF"/>
                </a:solidFill>
                <a:latin typeface="Muli Ultra-Bold"/>
                <a:ea typeface="Muli Ultra-Bold"/>
                <a:cs typeface="Muli Ultra-Bold"/>
                <a:sym typeface="Muli Ultra-Bold"/>
              </a:rPr>
              <a:t>07</a:t>
            </a:r>
          </a:p>
        </p:txBody>
      </p:sp>
      <p:sp>
        <p:nvSpPr>
          <p:cNvPr name="TextBox 14" id="14"/>
          <p:cNvSpPr txBox="true"/>
          <p:nvPr/>
        </p:nvSpPr>
        <p:spPr>
          <a:xfrm rot="0">
            <a:off x="1028700" y="7333112"/>
            <a:ext cx="12371179" cy="2601573"/>
          </a:xfrm>
          <a:prstGeom prst="rect">
            <a:avLst/>
          </a:prstGeom>
        </p:spPr>
        <p:txBody>
          <a:bodyPr anchor="t" rtlCol="false" tIns="0" lIns="0" bIns="0" rIns="0">
            <a:spAutoFit/>
          </a:bodyPr>
          <a:lstStyle/>
          <a:p>
            <a:pPr algn="l">
              <a:lnSpc>
                <a:spcPts val="4131"/>
              </a:lnSpc>
              <a:spcBef>
                <a:spcPct val="0"/>
              </a:spcBef>
            </a:pPr>
            <a:r>
              <a:rPr lang="en-US" b="true" sz="2950">
                <a:solidFill>
                  <a:srgbClr val="2B3B29"/>
                </a:solidFill>
                <a:latin typeface="Muli Bold"/>
                <a:ea typeface="Muli Bold"/>
                <a:cs typeface="Muli Bold"/>
                <a:sym typeface="Muli Bold"/>
              </a:rPr>
              <a:t>Despite having many natural resources, Bangladesh faces several challenges such as overpopulation, pollution, and deforestation. Climate change also affects our resources. Therefore, we must use these resources wisely. Proper management and awareness are essential to ensure a sustainable future.</a:t>
            </a:r>
          </a:p>
        </p:txBody>
      </p:sp>
      <p:sp>
        <p:nvSpPr>
          <p:cNvPr name="TextBox 15" id="15"/>
          <p:cNvSpPr txBox="true"/>
          <p:nvPr/>
        </p:nvSpPr>
        <p:spPr>
          <a:xfrm rot="0">
            <a:off x="2020585" y="2124296"/>
            <a:ext cx="3810199" cy="2023821"/>
          </a:xfrm>
          <a:prstGeom prst="rect">
            <a:avLst/>
          </a:prstGeom>
        </p:spPr>
        <p:txBody>
          <a:bodyPr anchor="t" rtlCol="false" tIns="0" lIns="0" bIns="0" rIns="0">
            <a:spAutoFit/>
          </a:bodyPr>
          <a:lstStyle/>
          <a:p>
            <a:pPr algn="l">
              <a:lnSpc>
                <a:spcPts val="3775"/>
              </a:lnSpc>
              <a:spcBef>
                <a:spcPct val="0"/>
              </a:spcBef>
            </a:pPr>
            <a:r>
              <a:rPr lang="en-US" b="true" sz="2697">
                <a:solidFill>
                  <a:srgbClr val="000000"/>
                </a:solidFill>
                <a:latin typeface="Muli Ultra-Bold"/>
                <a:ea typeface="Muli Ultra-Bold"/>
                <a:cs typeface="Muli Ultra-Bold"/>
                <a:sym typeface="Muli Ultra-Bold"/>
              </a:rPr>
              <a:t>Problems &amp; Challenges</a:t>
            </a:r>
          </a:p>
          <a:p>
            <a:pPr algn="l" marL="474338" indent="-237169" lvl="1">
              <a:lnSpc>
                <a:spcPts val="3075"/>
              </a:lnSpc>
              <a:buFont typeface="Arial"/>
              <a:buChar char="•"/>
            </a:pPr>
            <a:r>
              <a:rPr lang="en-US" b="true" sz="2197">
                <a:solidFill>
                  <a:srgbClr val="000000"/>
                </a:solidFill>
                <a:latin typeface="Muli Ultra-Bold"/>
                <a:ea typeface="Muli Ultra-Bold"/>
                <a:cs typeface="Muli Ultra-Bold"/>
                <a:sym typeface="Muli Ultra-Bold"/>
              </a:rPr>
              <a:t>Overpopulation</a:t>
            </a:r>
          </a:p>
          <a:p>
            <a:pPr algn="l" marL="474338" indent="-237169" lvl="1">
              <a:lnSpc>
                <a:spcPts val="3075"/>
              </a:lnSpc>
              <a:buFont typeface="Arial"/>
              <a:buChar char="•"/>
            </a:pPr>
            <a:r>
              <a:rPr lang="en-US" b="true" sz="2197">
                <a:solidFill>
                  <a:srgbClr val="000000"/>
                </a:solidFill>
                <a:latin typeface="Muli Ultra-Bold"/>
                <a:ea typeface="Muli Ultra-Bold"/>
                <a:cs typeface="Muli Ultra-Bold"/>
                <a:sym typeface="Muli Ultra-Bold"/>
              </a:rPr>
              <a:t>Environmental pollution</a:t>
            </a:r>
          </a:p>
          <a:p>
            <a:pPr algn="l" marL="474338" indent="-237169" lvl="1">
              <a:lnSpc>
                <a:spcPts val="3075"/>
              </a:lnSpc>
              <a:buFont typeface="Arial"/>
              <a:buChar char="•"/>
            </a:pPr>
            <a:r>
              <a:rPr lang="en-US" b="true" sz="2197">
                <a:solidFill>
                  <a:srgbClr val="000000"/>
                </a:solidFill>
                <a:latin typeface="Muli Ultra-Bold"/>
                <a:ea typeface="Muli Ultra-Bold"/>
                <a:cs typeface="Muli Ultra-Bold"/>
                <a:sym typeface="Muli Ultra-Bold"/>
              </a:rPr>
              <a:t>Deforestation</a:t>
            </a:r>
          </a:p>
          <a:p>
            <a:pPr algn="l" marL="474338" indent="-237169" lvl="1">
              <a:lnSpc>
                <a:spcPts val="3075"/>
              </a:lnSpc>
              <a:buFont typeface="Arial"/>
              <a:buChar char="•"/>
            </a:pPr>
            <a:r>
              <a:rPr lang="en-US" b="true" sz="2197">
                <a:solidFill>
                  <a:srgbClr val="000000"/>
                </a:solidFill>
                <a:latin typeface="Muli Ultra-Bold"/>
                <a:ea typeface="Muli Ultra-Bold"/>
                <a:cs typeface="Muli Ultra-Bold"/>
                <a:sym typeface="Muli Ultra-Bold"/>
              </a:rPr>
              <a:t>Climate change</a:t>
            </a:r>
          </a:p>
        </p:txBody>
      </p:sp>
      <p:sp>
        <p:nvSpPr>
          <p:cNvPr name="TextBox 16" id="16"/>
          <p:cNvSpPr txBox="true"/>
          <p:nvPr/>
        </p:nvSpPr>
        <p:spPr>
          <a:xfrm rot="0">
            <a:off x="4793201" y="4785536"/>
            <a:ext cx="6119515" cy="1919681"/>
          </a:xfrm>
          <a:prstGeom prst="rect">
            <a:avLst/>
          </a:prstGeom>
        </p:spPr>
        <p:txBody>
          <a:bodyPr anchor="t" rtlCol="false" tIns="0" lIns="0" bIns="0" rIns="0">
            <a:spAutoFit/>
          </a:bodyPr>
          <a:lstStyle/>
          <a:p>
            <a:pPr algn="l">
              <a:lnSpc>
                <a:spcPts val="4055"/>
              </a:lnSpc>
            </a:pPr>
            <a:r>
              <a:rPr lang="en-US" sz="2897" b="true">
                <a:solidFill>
                  <a:srgbClr val="000000"/>
                </a:solidFill>
                <a:latin typeface="Muli Ultra-Bold"/>
                <a:ea typeface="Muli Ultra-Bold"/>
                <a:cs typeface="Muli Ultra-Bold"/>
                <a:sym typeface="Muli Ultra-Bold"/>
              </a:rPr>
              <a:t>Conclusion</a:t>
            </a:r>
          </a:p>
          <a:p>
            <a:pPr algn="l" marL="582286" indent="-291143" lvl="1">
              <a:lnSpc>
                <a:spcPts val="3775"/>
              </a:lnSpc>
              <a:buFont typeface="Arial"/>
              <a:buChar char="•"/>
            </a:pPr>
            <a:r>
              <a:rPr lang="en-US" b="true" sz="2697">
                <a:solidFill>
                  <a:srgbClr val="000000"/>
                </a:solidFill>
                <a:latin typeface="Muli Ultra-Bold"/>
                <a:ea typeface="Muli Ultra-Bold"/>
                <a:cs typeface="Muli Ultra-Bold"/>
                <a:sym typeface="Muli Ultra-Bold"/>
              </a:rPr>
              <a:t>Proper management is nec</a:t>
            </a:r>
            <a:r>
              <a:rPr lang="en-US" b="true" sz="2697">
                <a:solidFill>
                  <a:srgbClr val="000000"/>
                </a:solidFill>
                <a:latin typeface="Muli Ultra-Bold"/>
                <a:ea typeface="Muli Ultra-Bold"/>
                <a:cs typeface="Muli Ultra-Bold"/>
                <a:sym typeface="Muli Ultra-Bold"/>
              </a:rPr>
              <a:t>essary</a:t>
            </a:r>
          </a:p>
          <a:p>
            <a:pPr algn="l" marL="582286" indent="-291143" lvl="1">
              <a:lnSpc>
                <a:spcPts val="3775"/>
              </a:lnSpc>
              <a:buFont typeface="Arial"/>
              <a:buChar char="•"/>
            </a:pPr>
            <a:r>
              <a:rPr lang="en-US" b="true" sz="2697">
                <a:solidFill>
                  <a:srgbClr val="000000"/>
                </a:solidFill>
                <a:latin typeface="Muli Ultra-Bold"/>
                <a:ea typeface="Muli Ultra-Bold"/>
                <a:cs typeface="Muli Ultra-Bold"/>
                <a:sym typeface="Muli Ultra-Bold"/>
              </a:rPr>
              <a:t>Sustainable use of resources</a:t>
            </a:r>
          </a:p>
          <a:p>
            <a:pPr algn="l" marL="582286" indent="-291143" lvl="1">
              <a:lnSpc>
                <a:spcPts val="3775"/>
              </a:lnSpc>
              <a:buFont typeface="Arial"/>
              <a:buChar char="•"/>
            </a:pPr>
            <a:r>
              <a:rPr lang="en-US" b="true" sz="2697">
                <a:solidFill>
                  <a:srgbClr val="000000"/>
                </a:solidFill>
                <a:latin typeface="Muli Ultra-Bold"/>
                <a:ea typeface="Muli Ultra-Bold"/>
                <a:cs typeface="Muli Ultra-Bold"/>
                <a:sym typeface="Muli Ultra-Bold"/>
              </a:rPr>
              <a:t>Government &amp; public awareness</a:t>
            </a:r>
          </a:p>
        </p:txBody>
      </p:sp>
      <p:grpSp>
        <p:nvGrpSpPr>
          <p:cNvPr name="Group 17" id="17"/>
          <p:cNvGrpSpPr>
            <a:grpSpLocks noChangeAspect="true"/>
          </p:cNvGrpSpPr>
          <p:nvPr/>
        </p:nvGrpSpPr>
        <p:grpSpPr>
          <a:xfrm rot="0">
            <a:off x="13399879" y="4707402"/>
            <a:ext cx="4550898" cy="4550898"/>
            <a:chOff x="0" y="0"/>
            <a:chExt cx="14840029" cy="14840029"/>
          </a:xfrm>
        </p:grpSpPr>
        <p:sp>
          <p:nvSpPr>
            <p:cNvPr name="Freeform 18" id="18"/>
            <p:cNvSpPr/>
            <p:nvPr/>
          </p:nvSpPr>
          <p:spPr>
            <a:xfrm flipH="false" flipV="false" rot="0">
              <a:off x="-33258" y="-75"/>
              <a:ext cx="14906544" cy="14840178"/>
            </a:xfrm>
            <a:custGeom>
              <a:avLst/>
              <a:gdLst/>
              <a:ahLst/>
              <a:cxnLst/>
              <a:rect r="r" b="b" t="t" l="l"/>
              <a:pathLst>
                <a:path h="14840178" w="14906544">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94B143"/>
            </a:solidFill>
          </p:spPr>
        </p:sp>
        <p:sp>
          <p:nvSpPr>
            <p:cNvPr name="Freeform 19" id="19"/>
            <p:cNvSpPr/>
            <p:nvPr/>
          </p:nvSpPr>
          <p:spPr>
            <a:xfrm flipH="false" flipV="false" rot="0">
              <a:off x="168022" y="200309"/>
              <a:ext cx="14503985" cy="14439411"/>
            </a:xfrm>
            <a:custGeom>
              <a:avLst/>
              <a:gdLst/>
              <a:ahLst/>
              <a:cxnLst/>
              <a:rect r="r" b="b" t="t" l="l"/>
              <a:pathLst>
                <a:path h="14439411" w="14503985">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FFFFFF"/>
            </a:solidFill>
          </p:spPr>
        </p:sp>
        <p:sp>
          <p:nvSpPr>
            <p:cNvPr name="Freeform 20" id="20"/>
            <p:cNvSpPr/>
            <p:nvPr/>
          </p:nvSpPr>
          <p:spPr>
            <a:xfrm flipH="false" flipV="false" rot="0">
              <a:off x="531276" y="561946"/>
              <a:ext cx="13777477" cy="13716137"/>
            </a:xfrm>
            <a:custGeom>
              <a:avLst/>
              <a:gdLst/>
              <a:ahLst/>
              <a:cxnLst/>
              <a:rect r="r" b="b" t="t" l="l"/>
              <a:pathLst>
                <a:path h="13716137" w="1377747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9"/>
              <a:stretch>
                <a:fillRect l="-16369" t="0" r="-16369" b="0"/>
              </a:stretch>
            </a:blipFill>
          </p:spPr>
        </p:sp>
      </p:grpSp>
      <p:sp>
        <p:nvSpPr>
          <p:cNvPr name="Freeform 21" id="21">
            <a:hlinkClick r:id="rId12" action="ppaction://hlinksldjump"/>
          </p:cNvPr>
          <p:cNvSpPr/>
          <p:nvPr/>
        </p:nvSpPr>
        <p:spPr>
          <a:xfrm flipH="false" flipV="false" rot="-10800000">
            <a:off x="212097" y="9534926"/>
            <a:ext cx="553252" cy="553252"/>
          </a:xfrm>
          <a:custGeom>
            <a:avLst/>
            <a:gdLst/>
            <a:ahLst/>
            <a:cxnLst/>
            <a:rect r="r" b="b" t="t" l="l"/>
            <a:pathLst>
              <a:path h="553252" w="553252">
                <a:moveTo>
                  <a:pt x="0" y="0"/>
                </a:moveTo>
                <a:lnTo>
                  <a:pt x="553251" y="0"/>
                </a:lnTo>
                <a:lnTo>
                  <a:pt x="553251" y="553251"/>
                </a:lnTo>
                <a:lnTo>
                  <a:pt x="0" y="55325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17259300" y="-717188"/>
            <a:ext cx="1796670" cy="1745888"/>
            <a:chOff x="0" y="0"/>
            <a:chExt cx="473197" cy="459822"/>
          </a:xfrm>
        </p:grpSpPr>
        <p:sp>
          <p:nvSpPr>
            <p:cNvPr name="Freeform 4" id="4"/>
            <p:cNvSpPr/>
            <p:nvPr/>
          </p:nvSpPr>
          <p:spPr>
            <a:xfrm flipH="false" flipV="false" rot="0">
              <a:off x="0" y="0"/>
              <a:ext cx="473197" cy="459822"/>
            </a:xfrm>
            <a:custGeom>
              <a:avLst/>
              <a:gdLst/>
              <a:ahLst/>
              <a:cxnLst/>
              <a:rect r="r" b="b" t="t" l="l"/>
              <a:pathLst>
                <a:path h="459822" w="473197">
                  <a:moveTo>
                    <a:pt x="0" y="0"/>
                  </a:moveTo>
                  <a:lnTo>
                    <a:pt x="473197" y="0"/>
                  </a:lnTo>
                  <a:lnTo>
                    <a:pt x="473197" y="459822"/>
                  </a:lnTo>
                  <a:lnTo>
                    <a:pt x="0" y="459822"/>
                  </a:lnTo>
                  <a:close/>
                </a:path>
              </a:pathLst>
            </a:custGeom>
            <a:solidFill>
              <a:srgbClr val="415636"/>
            </a:solidFill>
          </p:spPr>
        </p:sp>
        <p:sp>
          <p:nvSpPr>
            <p:cNvPr name="TextBox 5" id="5"/>
            <p:cNvSpPr txBox="true"/>
            <p:nvPr/>
          </p:nvSpPr>
          <p:spPr>
            <a:xfrm>
              <a:off x="0" y="66675"/>
              <a:ext cx="473197" cy="393147"/>
            </a:xfrm>
            <a:prstGeom prst="rect">
              <a:avLst/>
            </a:prstGeom>
          </p:spPr>
          <p:txBody>
            <a:bodyPr anchor="ctr" rtlCol="false" tIns="50800" lIns="50800" bIns="50800" rIns="50800"/>
            <a:lstStyle/>
            <a:p>
              <a:pPr algn="ctr">
                <a:lnSpc>
                  <a:spcPts val="1977"/>
                </a:lnSpc>
              </a:pPr>
            </a:p>
          </p:txBody>
        </p:sp>
      </p:grpSp>
      <p:grpSp>
        <p:nvGrpSpPr>
          <p:cNvPr name="Group 6" id="6"/>
          <p:cNvGrpSpPr>
            <a:grpSpLocks noChangeAspect="true"/>
          </p:cNvGrpSpPr>
          <p:nvPr/>
        </p:nvGrpSpPr>
        <p:grpSpPr>
          <a:xfrm rot="0">
            <a:off x="13079886" y="4561669"/>
            <a:ext cx="4550898" cy="4550898"/>
            <a:chOff x="0" y="0"/>
            <a:chExt cx="14840029" cy="14840029"/>
          </a:xfrm>
        </p:grpSpPr>
        <p:sp>
          <p:nvSpPr>
            <p:cNvPr name="Freeform 7" id="7"/>
            <p:cNvSpPr/>
            <p:nvPr/>
          </p:nvSpPr>
          <p:spPr>
            <a:xfrm flipH="false" flipV="false" rot="0">
              <a:off x="-33258" y="-75"/>
              <a:ext cx="14906544" cy="14840178"/>
            </a:xfrm>
            <a:custGeom>
              <a:avLst/>
              <a:gdLst/>
              <a:ahLst/>
              <a:cxnLst/>
              <a:rect r="r" b="b" t="t" l="l"/>
              <a:pathLst>
                <a:path h="14840178" w="14906544">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94B143"/>
            </a:solidFill>
          </p:spPr>
        </p:sp>
        <p:sp>
          <p:nvSpPr>
            <p:cNvPr name="Freeform 8" id="8"/>
            <p:cNvSpPr/>
            <p:nvPr/>
          </p:nvSpPr>
          <p:spPr>
            <a:xfrm flipH="false" flipV="false" rot="0">
              <a:off x="168022" y="200309"/>
              <a:ext cx="14503985" cy="14439411"/>
            </a:xfrm>
            <a:custGeom>
              <a:avLst/>
              <a:gdLst/>
              <a:ahLst/>
              <a:cxnLst/>
              <a:rect r="r" b="b" t="t" l="l"/>
              <a:pathLst>
                <a:path h="14439411" w="14503985">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FFFFFF"/>
            </a:solidFill>
          </p:spPr>
        </p:sp>
        <p:sp>
          <p:nvSpPr>
            <p:cNvPr name="Freeform 9" id="9"/>
            <p:cNvSpPr/>
            <p:nvPr/>
          </p:nvSpPr>
          <p:spPr>
            <a:xfrm flipH="false" flipV="false" rot="0">
              <a:off x="531276" y="561946"/>
              <a:ext cx="13777477" cy="13716137"/>
            </a:xfrm>
            <a:custGeom>
              <a:avLst/>
              <a:gdLst/>
              <a:ahLst/>
              <a:cxnLst/>
              <a:rect r="r" b="b" t="t" l="l"/>
              <a:pathLst>
                <a:path h="13716137" w="1377747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3"/>
              <a:stretch>
                <a:fillRect l="-16369" t="0" r="-16369" b="0"/>
              </a:stretch>
            </a:blipFill>
          </p:spPr>
        </p:sp>
      </p:grpSp>
      <p:grpSp>
        <p:nvGrpSpPr>
          <p:cNvPr name="Group 10" id="10"/>
          <p:cNvGrpSpPr>
            <a:grpSpLocks noChangeAspect="true"/>
          </p:cNvGrpSpPr>
          <p:nvPr/>
        </p:nvGrpSpPr>
        <p:grpSpPr>
          <a:xfrm rot="0">
            <a:off x="11592349" y="754392"/>
            <a:ext cx="4550898" cy="4550898"/>
            <a:chOff x="0" y="0"/>
            <a:chExt cx="14840029" cy="14840029"/>
          </a:xfrm>
        </p:grpSpPr>
        <p:sp>
          <p:nvSpPr>
            <p:cNvPr name="Freeform 11" id="11"/>
            <p:cNvSpPr/>
            <p:nvPr/>
          </p:nvSpPr>
          <p:spPr>
            <a:xfrm flipH="false" flipV="false" rot="0">
              <a:off x="-33258" y="-75"/>
              <a:ext cx="14906544" cy="14840178"/>
            </a:xfrm>
            <a:custGeom>
              <a:avLst/>
              <a:gdLst/>
              <a:ahLst/>
              <a:cxnLst/>
              <a:rect r="r" b="b" t="t" l="l"/>
              <a:pathLst>
                <a:path h="14840178" w="14906544">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94B143"/>
            </a:solidFill>
          </p:spPr>
        </p:sp>
        <p:sp>
          <p:nvSpPr>
            <p:cNvPr name="Freeform 12" id="12"/>
            <p:cNvSpPr/>
            <p:nvPr/>
          </p:nvSpPr>
          <p:spPr>
            <a:xfrm flipH="false" flipV="false" rot="0">
              <a:off x="168022" y="200309"/>
              <a:ext cx="14503985" cy="14439411"/>
            </a:xfrm>
            <a:custGeom>
              <a:avLst/>
              <a:gdLst/>
              <a:ahLst/>
              <a:cxnLst/>
              <a:rect r="r" b="b" t="t" l="l"/>
              <a:pathLst>
                <a:path h="14439411" w="14503985">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FFFFFF"/>
            </a:solidFill>
          </p:spPr>
        </p:sp>
        <p:sp>
          <p:nvSpPr>
            <p:cNvPr name="Freeform 13" id="13"/>
            <p:cNvSpPr/>
            <p:nvPr/>
          </p:nvSpPr>
          <p:spPr>
            <a:xfrm flipH="false" flipV="false" rot="0">
              <a:off x="531276" y="561946"/>
              <a:ext cx="13777477" cy="13716137"/>
            </a:xfrm>
            <a:custGeom>
              <a:avLst/>
              <a:gdLst/>
              <a:ahLst/>
              <a:cxnLst/>
              <a:rect r="r" b="b" t="t" l="l"/>
              <a:pathLst>
                <a:path h="13716137" w="1377747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4"/>
              <a:stretch>
                <a:fillRect l="223" t="-25046" r="223" b="-25046"/>
              </a:stretch>
            </a:blipFill>
          </p:spPr>
        </p:sp>
      </p:grpSp>
      <p:grpSp>
        <p:nvGrpSpPr>
          <p:cNvPr name="Group 14" id="14"/>
          <p:cNvGrpSpPr>
            <a:grpSpLocks noChangeAspect="true"/>
          </p:cNvGrpSpPr>
          <p:nvPr/>
        </p:nvGrpSpPr>
        <p:grpSpPr>
          <a:xfrm rot="0">
            <a:off x="9144000" y="3029842"/>
            <a:ext cx="5560624" cy="5560624"/>
            <a:chOff x="0" y="0"/>
            <a:chExt cx="14840029" cy="14840029"/>
          </a:xfrm>
        </p:grpSpPr>
        <p:sp>
          <p:nvSpPr>
            <p:cNvPr name="Freeform 15" id="15"/>
            <p:cNvSpPr/>
            <p:nvPr/>
          </p:nvSpPr>
          <p:spPr>
            <a:xfrm flipH="false" flipV="false" rot="0">
              <a:off x="-33258" y="-75"/>
              <a:ext cx="14906544" cy="14840178"/>
            </a:xfrm>
            <a:custGeom>
              <a:avLst/>
              <a:gdLst/>
              <a:ahLst/>
              <a:cxnLst/>
              <a:rect r="r" b="b" t="t" l="l"/>
              <a:pathLst>
                <a:path h="14840178" w="14906544">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94B143"/>
            </a:solidFill>
          </p:spPr>
        </p:sp>
        <p:sp>
          <p:nvSpPr>
            <p:cNvPr name="Freeform 16" id="16"/>
            <p:cNvSpPr/>
            <p:nvPr/>
          </p:nvSpPr>
          <p:spPr>
            <a:xfrm flipH="false" flipV="false" rot="0">
              <a:off x="168022" y="200309"/>
              <a:ext cx="14503985" cy="14439411"/>
            </a:xfrm>
            <a:custGeom>
              <a:avLst/>
              <a:gdLst/>
              <a:ahLst/>
              <a:cxnLst/>
              <a:rect r="r" b="b" t="t" l="l"/>
              <a:pathLst>
                <a:path h="14439411" w="14503985">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FFFFFF"/>
            </a:solidFill>
          </p:spPr>
        </p:sp>
        <p:sp>
          <p:nvSpPr>
            <p:cNvPr name="Freeform 17" id="17"/>
            <p:cNvSpPr/>
            <p:nvPr/>
          </p:nvSpPr>
          <p:spPr>
            <a:xfrm flipH="false" flipV="false" rot="0">
              <a:off x="531276" y="561946"/>
              <a:ext cx="13777477" cy="13716137"/>
            </a:xfrm>
            <a:custGeom>
              <a:avLst/>
              <a:gdLst/>
              <a:ahLst/>
              <a:cxnLst/>
              <a:rect r="r" b="b" t="t" l="l"/>
              <a:pathLst>
                <a:path h="13716137" w="1377747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5"/>
              <a:stretch>
                <a:fillRect l="-24572" t="0" r="-24572" b="0"/>
              </a:stretch>
            </a:blipFill>
          </p:spPr>
        </p:sp>
      </p:grpSp>
      <p:grpSp>
        <p:nvGrpSpPr>
          <p:cNvPr name="Group 18" id="18"/>
          <p:cNvGrpSpPr/>
          <p:nvPr/>
        </p:nvGrpSpPr>
        <p:grpSpPr>
          <a:xfrm rot="0">
            <a:off x="10460616" y="2160486"/>
            <a:ext cx="869355" cy="869355"/>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cap="sq">
              <a:noFill/>
              <a:prstDash val="solid"/>
              <a:miter/>
            </a:ln>
          </p:spPr>
        </p:sp>
        <p:sp>
          <p:nvSpPr>
            <p:cNvPr name="TextBox 20" id="20"/>
            <p:cNvSpPr txBox="true"/>
            <p:nvPr/>
          </p:nvSpPr>
          <p:spPr>
            <a:xfrm>
              <a:off x="76200" y="142875"/>
              <a:ext cx="660400" cy="593725"/>
            </a:xfrm>
            <a:prstGeom prst="rect">
              <a:avLst/>
            </a:prstGeom>
          </p:spPr>
          <p:txBody>
            <a:bodyPr anchor="ctr" rtlCol="false" tIns="50800" lIns="50800" bIns="50800" rIns="50800"/>
            <a:lstStyle/>
            <a:p>
              <a:pPr algn="ctr">
                <a:lnSpc>
                  <a:spcPts val="1977"/>
                </a:lnSpc>
              </a:pPr>
            </a:p>
          </p:txBody>
        </p:sp>
      </p:grpSp>
      <p:grpSp>
        <p:nvGrpSpPr>
          <p:cNvPr name="Group 21" id="21"/>
          <p:cNvGrpSpPr/>
          <p:nvPr/>
        </p:nvGrpSpPr>
        <p:grpSpPr>
          <a:xfrm rot="0">
            <a:off x="-6055245" y="3585881"/>
            <a:ext cx="15199245" cy="3856964"/>
            <a:chOff x="0" y="0"/>
            <a:chExt cx="1601512" cy="406400"/>
          </a:xfrm>
        </p:grpSpPr>
        <p:sp>
          <p:nvSpPr>
            <p:cNvPr name="Freeform 22" id="22"/>
            <p:cNvSpPr/>
            <p:nvPr/>
          </p:nvSpPr>
          <p:spPr>
            <a:xfrm flipH="false" flipV="false" rot="0">
              <a:off x="0" y="0"/>
              <a:ext cx="1601512" cy="406400"/>
            </a:xfrm>
            <a:custGeom>
              <a:avLst/>
              <a:gdLst/>
              <a:ahLst/>
              <a:cxnLst/>
              <a:rect r="r" b="b" t="t" l="l"/>
              <a:pathLst>
                <a:path h="406400" w="1601512">
                  <a:moveTo>
                    <a:pt x="1398312" y="0"/>
                  </a:moveTo>
                  <a:cubicBezTo>
                    <a:pt x="1510536" y="0"/>
                    <a:pt x="1601512" y="90976"/>
                    <a:pt x="1601512" y="203200"/>
                  </a:cubicBezTo>
                  <a:cubicBezTo>
                    <a:pt x="1601512" y="315424"/>
                    <a:pt x="1510536" y="406400"/>
                    <a:pt x="1398312" y="406400"/>
                  </a:cubicBezTo>
                  <a:lnTo>
                    <a:pt x="203200" y="406400"/>
                  </a:lnTo>
                  <a:cubicBezTo>
                    <a:pt x="90976" y="406400"/>
                    <a:pt x="0" y="315424"/>
                    <a:pt x="0" y="203200"/>
                  </a:cubicBezTo>
                  <a:cubicBezTo>
                    <a:pt x="0" y="90976"/>
                    <a:pt x="90976" y="0"/>
                    <a:pt x="203200" y="0"/>
                  </a:cubicBezTo>
                  <a:close/>
                </a:path>
              </a:pathLst>
            </a:custGeom>
            <a:solidFill>
              <a:srgbClr val="55833D"/>
            </a:solidFill>
            <a:ln w="47625" cap="sq">
              <a:solidFill>
                <a:srgbClr val="D7E8BD"/>
              </a:solidFill>
              <a:prstDash val="solid"/>
              <a:miter/>
            </a:ln>
          </p:spPr>
        </p:sp>
        <p:sp>
          <p:nvSpPr>
            <p:cNvPr name="TextBox 23" id="23"/>
            <p:cNvSpPr txBox="true"/>
            <p:nvPr/>
          </p:nvSpPr>
          <p:spPr>
            <a:xfrm>
              <a:off x="0" y="66675"/>
              <a:ext cx="1601512" cy="339725"/>
            </a:xfrm>
            <a:prstGeom prst="rect">
              <a:avLst/>
            </a:prstGeom>
          </p:spPr>
          <p:txBody>
            <a:bodyPr anchor="ctr" rtlCol="false" tIns="50800" lIns="50800" bIns="50800" rIns="50800"/>
            <a:lstStyle/>
            <a:p>
              <a:pPr algn="ctr">
                <a:lnSpc>
                  <a:spcPts val="1977"/>
                </a:lnSpc>
              </a:pPr>
            </a:p>
          </p:txBody>
        </p:sp>
      </p:grpSp>
      <p:sp>
        <p:nvSpPr>
          <p:cNvPr name="TextBox 24" id="24"/>
          <p:cNvSpPr txBox="true"/>
          <p:nvPr/>
        </p:nvSpPr>
        <p:spPr>
          <a:xfrm rot="0">
            <a:off x="17488913" y="256401"/>
            <a:ext cx="673573" cy="497991"/>
          </a:xfrm>
          <a:prstGeom prst="rect">
            <a:avLst/>
          </a:prstGeom>
        </p:spPr>
        <p:txBody>
          <a:bodyPr anchor="t" rtlCol="false" tIns="0" lIns="0" bIns="0" rIns="0">
            <a:spAutoFit/>
          </a:bodyPr>
          <a:lstStyle/>
          <a:p>
            <a:pPr algn="l">
              <a:lnSpc>
                <a:spcPts val="4181"/>
              </a:lnSpc>
              <a:spcBef>
                <a:spcPct val="0"/>
              </a:spcBef>
            </a:pPr>
            <a:r>
              <a:rPr lang="en-US" b="true" sz="2987">
                <a:solidFill>
                  <a:srgbClr val="FFFFFF"/>
                </a:solidFill>
                <a:latin typeface="Muli Ultra-Bold"/>
                <a:ea typeface="Muli Ultra-Bold"/>
                <a:cs typeface="Muli Ultra-Bold"/>
                <a:sym typeface="Muli Ultra-Bold"/>
              </a:rPr>
              <a:t>08</a:t>
            </a:r>
          </a:p>
        </p:txBody>
      </p:sp>
      <p:sp>
        <p:nvSpPr>
          <p:cNvPr name="TextBox 25" id="25"/>
          <p:cNvSpPr txBox="true"/>
          <p:nvPr/>
        </p:nvSpPr>
        <p:spPr>
          <a:xfrm rot="0">
            <a:off x="1175176" y="4984403"/>
            <a:ext cx="6152025" cy="1155171"/>
          </a:xfrm>
          <a:prstGeom prst="rect">
            <a:avLst/>
          </a:prstGeom>
        </p:spPr>
        <p:txBody>
          <a:bodyPr anchor="t" rtlCol="false" tIns="0" lIns="0" bIns="0" rIns="0">
            <a:spAutoFit/>
          </a:bodyPr>
          <a:lstStyle/>
          <a:p>
            <a:pPr algn="l">
              <a:lnSpc>
                <a:spcPts val="8818"/>
              </a:lnSpc>
            </a:pPr>
            <a:r>
              <a:rPr lang="en-US" sz="8241" b="true">
                <a:solidFill>
                  <a:srgbClr val="E7E5E5"/>
                </a:solidFill>
                <a:latin typeface="Muli Ultra-Bold"/>
                <a:ea typeface="Muli Ultra-Bold"/>
                <a:cs typeface="Muli Ultra-Bold"/>
                <a:sym typeface="Muli Ultra-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DAHGemGbFm8</dc:identifier>
  <dcterms:modified xsi:type="dcterms:W3CDTF">2011-08-01T06:04:30Z</dcterms:modified>
  <cp:revision>1</cp:revision>
  <dc:title>BNS presentation</dc:title>
</cp:coreProperties>
</file>