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Barlow" charset="1" panose="00000500000000000000"/>
      <p:regular r:id="rId22"/>
    </p:embeddedFont>
    <p:embeddedFont>
      <p:font typeface="Barlow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8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096051" y="3349815"/>
            <a:ext cx="10634083" cy="263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5"/>
              </a:lnSpc>
              <a:spcBef>
                <a:spcPct val="0"/>
              </a:spcBef>
            </a:pPr>
            <a:r>
              <a:rPr lang="en-US" b="true" sz="81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Algorithms:Data Compression Tool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-65789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8862" y="1230351"/>
            <a:ext cx="9261577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Group Member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32294" y="-34290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32125" y="673728"/>
            <a:ext cx="922734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In</a:t>
            </a: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troduction &amp; 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894" y="3361385"/>
            <a:ext cx="9227344" cy="235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at is Huffman Coding?</a:t>
            </a:r>
          </a:p>
          <a:p>
            <a:pPr algn="l" marL="501966" indent="-250983" lvl="1">
              <a:lnSpc>
                <a:spcPts val="3759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It is a famous Lossless Data Compression algorithm developed by David Huffman in 1952.</a:t>
            </a:r>
          </a:p>
          <a:p>
            <a:pPr algn="l" marL="501966" indent="-250983" lvl="1">
              <a:lnSpc>
                <a:spcPts val="3759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It reduces file size without losing any original information.</a:t>
            </a:r>
          </a:p>
          <a:p>
            <a:pPr algn="l">
              <a:lnSpc>
                <a:spcPts val="376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721894" y="6481630"/>
            <a:ext cx="9227344" cy="187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Core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Concept:</a:t>
            </a:r>
          </a:p>
          <a:p>
            <a:pPr algn="l" marL="501966" indent="-250983" lvl="1">
              <a:lnSpc>
                <a:spcPts val="3759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It uses Variable-Length Encoding instead of Fixed-Length Encoding.</a:t>
            </a:r>
          </a:p>
          <a:p>
            <a:pPr algn="l" marL="501966" indent="-250983" lvl="1">
              <a:lnSpc>
                <a:spcPts val="3761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requent characters are assigned shorter binary codes, while rare characters are assigned longer codes.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5725" y="-857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15603" y="1215912"/>
            <a:ext cx="16085344" cy="662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</a:pPr>
            <a:r>
              <a:rPr lang="en-US" sz="2924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Problem</a:t>
            </a:r>
            <a:r>
              <a:rPr lang="en-US" sz="2924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 Statement</a:t>
            </a:r>
          </a:p>
          <a:p>
            <a:pPr algn="l" marL="653092" indent="-326546" lvl="1">
              <a:lnSpc>
                <a:spcPts val="4891"/>
              </a:lnSpc>
              <a:buFont typeface="Arial"/>
              <a:buChar char="•"/>
            </a:pPr>
            <a:r>
              <a:rPr lang="en-US" sz="30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Inefficiency of ASCII: Standard systems use ASCII or Unicode, where every character (like 'A' or 'Z') takes exactly 8 bits. This is a waste of memory for characters that appear very often.</a:t>
            </a:r>
          </a:p>
          <a:p>
            <a:pPr algn="l" marL="631503" indent="-315751" lvl="1">
              <a:lnSpc>
                <a:spcPts val="4729"/>
              </a:lnSpc>
              <a:buFont typeface="Arial"/>
              <a:buChar char="•"/>
            </a:pPr>
            <a:r>
              <a:rPr lang="en-US" sz="29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Storage Constraints: As data grows globally, storing massive text files becomes expensive and difficult.</a:t>
            </a:r>
          </a:p>
          <a:p>
            <a:pPr algn="l" marL="631503" indent="-315751" lvl="1">
              <a:lnSpc>
                <a:spcPts val="4729"/>
              </a:lnSpc>
              <a:buFont typeface="Arial"/>
              <a:buChar char="•"/>
            </a:pPr>
            <a:r>
              <a:rPr lang="en-US" sz="29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Transmission Bottlenecks: Large files take more time to upload/download and consume more network bandwidth.</a:t>
            </a:r>
          </a:p>
          <a:p>
            <a:pPr algn="l" marL="631503" indent="-315751" lvl="1">
              <a:lnSpc>
                <a:spcPts val="4729"/>
              </a:lnSpc>
              <a:buFont typeface="Arial"/>
              <a:buChar char="•"/>
            </a:pPr>
            <a:r>
              <a:rPr lang="en-US" sz="29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Goal: We need a way to represent the same information using the minimum number of bits possible to optimize both storage and speed.</a:t>
            </a:r>
          </a:p>
          <a:p>
            <a:pPr algn="l">
              <a:lnSpc>
                <a:spcPts val="4731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26138" y="8338547"/>
            <a:ext cx="1488281" cy="919753"/>
            <a:chOff x="0" y="0"/>
            <a:chExt cx="1984375" cy="122633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84375" cy="1226312"/>
            </a:xfrm>
            <a:custGeom>
              <a:avLst/>
              <a:gdLst/>
              <a:ahLst/>
              <a:cxnLst/>
              <a:rect r="r" b="b" t="t" l="l"/>
              <a:pathLst>
                <a:path h="1226312" w="1984375">
                  <a:moveTo>
                    <a:pt x="0" y="0"/>
                  </a:moveTo>
                  <a:lnTo>
                    <a:pt x="1984375" y="0"/>
                  </a:lnTo>
                  <a:lnTo>
                    <a:pt x="1984375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6" r="0" b="-30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48714" y="8338547"/>
            <a:ext cx="1488281" cy="919753"/>
            <a:chOff x="0" y="0"/>
            <a:chExt cx="1984375" cy="1226337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984375" cy="1226312"/>
            </a:xfrm>
            <a:custGeom>
              <a:avLst/>
              <a:gdLst/>
              <a:ahLst/>
              <a:cxnLst/>
              <a:rect r="r" b="b" t="t" l="l"/>
              <a:pathLst>
                <a:path h="1226312" w="1984375">
                  <a:moveTo>
                    <a:pt x="0" y="0"/>
                  </a:moveTo>
                  <a:lnTo>
                    <a:pt x="1984375" y="0"/>
                  </a:lnTo>
                  <a:lnTo>
                    <a:pt x="1984375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6" r="0" b="-3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582650" y="8069918"/>
            <a:ext cx="1488281" cy="919753"/>
            <a:chOff x="0" y="0"/>
            <a:chExt cx="1984375" cy="12263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984375" cy="1226312"/>
            </a:xfrm>
            <a:custGeom>
              <a:avLst/>
              <a:gdLst/>
              <a:ahLst/>
              <a:cxnLst/>
              <a:rect r="r" b="b" t="t" l="l"/>
              <a:pathLst>
                <a:path h="1226312" w="1984375">
                  <a:moveTo>
                    <a:pt x="0" y="0"/>
                  </a:moveTo>
                  <a:lnTo>
                    <a:pt x="1984375" y="0"/>
                  </a:lnTo>
                  <a:lnTo>
                    <a:pt x="1984375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06" r="0" b="-30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57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31204" y="1297983"/>
            <a:ext cx="9571434" cy="294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0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</a:t>
            </a:r>
            <a:r>
              <a:rPr lang="en-US" sz="20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Greedy Strategy</a:t>
            </a:r>
          </a:p>
          <a:p>
            <a:pPr algn="l" marL="434498" indent="-217249" lvl="1">
              <a:lnSpc>
                <a:spcPts val="2982"/>
              </a:lnSpc>
              <a:buFont typeface="Arial"/>
              <a:buChar char="•"/>
            </a:pPr>
            <a:r>
              <a:rPr lang="en-US" sz="20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Why Greedy? * Huffman Coding is a Greedy Algorithm because it makes the best local choice at each step.</a:t>
            </a:r>
          </a:p>
          <a:p>
            <a:pPr algn="l" marL="868996" indent="-289665" lvl="2">
              <a:lnSpc>
                <a:spcPts val="2982"/>
              </a:lnSpc>
              <a:buFont typeface="Arial"/>
              <a:buChar char="⚬"/>
            </a:pPr>
            <a:r>
              <a:rPr lang="en-US" sz="20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It always picks the two characters with the lowest frequencies to combine first.</a:t>
            </a:r>
          </a:p>
          <a:p>
            <a:pPr algn="l" marL="434498" indent="-217249" lvl="1">
              <a:lnSpc>
                <a:spcPts val="2982"/>
              </a:lnSpc>
              <a:buFont typeface="Arial"/>
              <a:buChar char="•"/>
            </a:pPr>
            <a:r>
              <a:rPr lang="en-US" sz="20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Goal: * To build an optimal tree where the most frequent characters are closest to the root (resulting in shorter codes).</a:t>
            </a:r>
          </a:p>
          <a:p>
            <a:pPr algn="l">
              <a:lnSpc>
                <a:spcPts val="2984"/>
              </a:lnSpc>
            </a:pP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3133649" y="3731419"/>
            <a:ext cx="278759" cy="278759"/>
          </a:xfrm>
          <a:custGeom>
            <a:avLst/>
            <a:gdLst/>
            <a:ahLst/>
            <a:cxnLst/>
            <a:rect r="r" b="b" t="t" l="l"/>
            <a:pathLst>
              <a:path h="278759" w="278759">
                <a:moveTo>
                  <a:pt x="0" y="0"/>
                </a:moveTo>
                <a:lnTo>
                  <a:pt x="278758" y="0"/>
                </a:lnTo>
                <a:lnTo>
                  <a:pt x="278758" y="278758"/>
                </a:lnTo>
                <a:lnTo>
                  <a:pt x="0" y="2787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4733907"/>
            <a:ext cx="9571434" cy="114300"/>
            <a:chOff x="0" y="0"/>
            <a:chExt cx="12761912" cy="152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61976" cy="152400"/>
            </a:xfrm>
            <a:custGeom>
              <a:avLst/>
              <a:gdLst/>
              <a:ahLst/>
              <a:cxnLst/>
              <a:rect r="r" b="b" t="t" l="l"/>
              <a:pathLst>
                <a:path h="152400" w="12761976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685776" y="0"/>
                  </a:lnTo>
                  <a:cubicBezTo>
                    <a:pt x="12727813" y="0"/>
                    <a:pt x="12761976" y="34163"/>
                    <a:pt x="12761976" y="76200"/>
                  </a:cubicBezTo>
                  <a:cubicBezTo>
                    <a:pt x="12761976" y="118237"/>
                    <a:pt x="12727813" y="152400"/>
                    <a:pt x="12685776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19958" y="4442575"/>
            <a:ext cx="696963" cy="696963"/>
            <a:chOff x="0" y="0"/>
            <a:chExt cx="929284" cy="9292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9259" cy="929259"/>
            </a:xfrm>
            <a:custGeom>
              <a:avLst/>
              <a:gdLst/>
              <a:ahLst/>
              <a:cxnLst/>
              <a:rect r="r" b="b" t="t" l="l"/>
              <a:pathLst>
                <a:path h="929259" w="929259">
                  <a:moveTo>
                    <a:pt x="0" y="464693"/>
                  </a:moveTo>
                  <a:cubicBezTo>
                    <a:pt x="0" y="208026"/>
                    <a:pt x="208026" y="0"/>
                    <a:pt x="464693" y="0"/>
                  </a:cubicBezTo>
                  <a:cubicBezTo>
                    <a:pt x="721360" y="0"/>
                    <a:pt x="929259" y="208026"/>
                    <a:pt x="929259" y="464693"/>
                  </a:cubicBezTo>
                  <a:cubicBezTo>
                    <a:pt x="929259" y="721360"/>
                    <a:pt x="721233" y="929259"/>
                    <a:pt x="464693" y="929259"/>
                  </a:cubicBezTo>
                  <a:cubicBezTo>
                    <a:pt x="208153" y="929259"/>
                    <a:pt x="0" y="721233"/>
                    <a:pt x="0" y="464693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5129055" y="4632875"/>
            <a:ext cx="278759" cy="278759"/>
          </a:xfrm>
          <a:custGeom>
            <a:avLst/>
            <a:gdLst/>
            <a:ahLst/>
            <a:cxnLst/>
            <a:rect r="r" b="b" t="t" l="l"/>
            <a:pathLst>
              <a:path h="278759" w="278759">
                <a:moveTo>
                  <a:pt x="0" y="0"/>
                </a:moveTo>
                <a:lnTo>
                  <a:pt x="278759" y="0"/>
                </a:lnTo>
                <a:lnTo>
                  <a:pt x="278759" y="278759"/>
                </a:lnTo>
                <a:lnTo>
                  <a:pt x="0" y="2787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9999" t="0" r="-19999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1204" y="5395495"/>
            <a:ext cx="10112003" cy="386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Step-by-Step</a:t>
            </a: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Logic</a:t>
            </a:r>
          </a:p>
          <a:p>
            <a:pPr algn="l" marL="413420" indent="-206710" lvl="1">
              <a:lnSpc>
                <a:spcPts val="2837"/>
              </a:lnSpc>
              <a:buAutoNum type="arabicPeriod" startAt="1"/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Frequency Counting: The algorithm scans the input text and counts how many times each character appears.</a:t>
            </a:r>
          </a:p>
          <a:p>
            <a:pPr algn="l" marL="413420" indent="-206710" lvl="1">
              <a:lnSpc>
                <a:spcPts val="2837"/>
              </a:lnSpc>
              <a:buAutoNum type="arabicPeriod" startAt="1"/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Min-Heap Initialization: Every unique character is placed into a Priority Queue (Min-Heap) based on its frequency.</a:t>
            </a:r>
          </a:p>
          <a:p>
            <a:pPr algn="l" marL="413420" indent="-206710" lvl="1">
              <a:lnSpc>
                <a:spcPts val="2837"/>
              </a:lnSpc>
              <a:buAutoNum type="arabicPeriod" startAt="1"/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Iterative Combination:</a:t>
            </a:r>
          </a:p>
          <a:p>
            <a:pPr algn="l" marL="826840" indent="-275613" lvl="2">
              <a:lnSpc>
                <a:spcPts val="2837"/>
              </a:lnSpc>
              <a:buFont typeface="Arial"/>
              <a:buChar char="⚬"/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Extract the two nodes with the smallest frequencies.</a:t>
            </a:r>
          </a:p>
          <a:p>
            <a:pPr algn="l" marL="826840" indent="-275613" lvl="2">
              <a:lnSpc>
                <a:spcPts val="2837"/>
              </a:lnSpc>
              <a:buFont typeface="Arial"/>
              <a:buChar char="⚬"/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Create a new internal node with a frequency equal to the sum of the two nodes.</a:t>
            </a:r>
          </a:p>
          <a:p>
            <a:pPr algn="l" marL="826840" indent="-275613" lvl="2">
              <a:lnSpc>
                <a:spcPts val="2837"/>
              </a:lnSpc>
              <a:buFont typeface="Arial"/>
              <a:buChar char="⚬"/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Insert this new node back into the Min-Heap.</a:t>
            </a:r>
          </a:p>
          <a:p>
            <a:pPr algn="l" marL="413419" indent="-206710" lvl="1">
              <a:lnSpc>
                <a:spcPts val="2839"/>
              </a:lnSpc>
              <a:buAutoNum type="arabicPeriod" startAt="1"/>
            </a:pPr>
            <a:r>
              <a:rPr lang="en-US" sz="19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Completion: This process repeats until only one node—the Root—remains in the heap.</a:t>
            </a:r>
          </a:p>
          <a:p>
            <a:pPr algn="l">
              <a:lnSpc>
                <a:spcPts val="283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69961" y="358342"/>
            <a:ext cx="922734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 The G</a:t>
            </a: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reedy Algorithm &amp; Logic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90871" y="-857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5289" y="254794"/>
            <a:ext cx="9296105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Huff</a:t>
            </a:r>
            <a:r>
              <a:rPr lang="en-US" sz="4625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man Tree Construction (The Visualizer)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3806" y="2217288"/>
            <a:ext cx="9296105" cy="325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Building</a:t>
            </a: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the Huffman Tree</a:t>
            </a:r>
          </a:p>
          <a:p>
            <a:pPr algn="l" marL="445294" indent="-222647" lvl="1">
              <a:lnSpc>
                <a:spcPts val="3248"/>
              </a:lnSpc>
              <a:buFont typeface="Arial"/>
              <a:buChar char="•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Blueprint: * The tree is a Binary Tree built from the bottom up.</a:t>
            </a:r>
          </a:p>
          <a:p>
            <a:pPr algn="l" marL="890588" indent="-296862" lvl="2">
              <a:lnSpc>
                <a:spcPts val="3248"/>
              </a:lnSpc>
              <a:buFont typeface="Arial"/>
              <a:buChar char="⚬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Leaf nodes represent the actual characters.</a:t>
            </a:r>
          </a:p>
          <a:p>
            <a:pPr algn="l" marL="890588" indent="-296862" lvl="2">
              <a:lnSpc>
                <a:spcPts val="3248"/>
              </a:lnSpc>
              <a:buFont typeface="Arial"/>
              <a:buChar char="⚬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Internal nodes represent the combined frequencies of their children.</a:t>
            </a:r>
          </a:p>
          <a:p>
            <a:pPr algn="l" marL="445294" indent="-222647" lvl="1">
              <a:lnSpc>
                <a:spcPts val="3248"/>
              </a:lnSpc>
              <a:buFont typeface="Arial"/>
              <a:buChar char="•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Path Rule:</a:t>
            </a:r>
          </a:p>
          <a:p>
            <a:pPr algn="l" marL="890588" indent="-296862" lvl="2">
              <a:lnSpc>
                <a:spcPts val="3248"/>
              </a:lnSpc>
              <a:buFont typeface="Arial"/>
              <a:buChar char="⚬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Left branch = 0</a:t>
            </a:r>
          </a:p>
          <a:p>
            <a:pPr algn="l" marL="890588" indent="-296862" lvl="2">
              <a:lnSpc>
                <a:spcPts val="3248"/>
              </a:lnSpc>
              <a:buFont typeface="Arial"/>
              <a:buChar char="⚬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Right branch = 1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43806" y="5594251"/>
            <a:ext cx="9296105" cy="366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Visualizing</a:t>
            </a: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the Output</a:t>
            </a:r>
          </a:p>
          <a:p>
            <a:pPr algn="l" marL="445294" indent="-222647" lvl="1">
              <a:lnSpc>
                <a:spcPts val="3248"/>
              </a:lnSpc>
              <a:buFont typeface="Arial"/>
              <a:buChar char="•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Structur</a:t>
            </a: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e: Our program generates a Top-Down Vertical Tree (as seen in our terminal output).</a:t>
            </a:r>
          </a:p>
          <a:p>
            <a:pPr algn="l" marL="445294" indent="-222647" lvl="1">
              <a:lnSpc>
                <a:spcPts val="3248"/>
              </a:lnSpc>
              <a:buFont typeface="Arial"/>
              <a:buChar char="•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Connectors: We use sticks (|---) to show the relationship between the Parent (frequency sum) and the Child (individual character).</a:t>
            </a:r>
          </a:p>
          <a:p>
            <a:pPr algn="l" marL="445294" indent="-222647" lvl="1">
              <a:lnSpc>
                <a:spcPts val="3248"/>
              </a:lnSpc>
              <a:buFont typeface="Arial"/>
              <a:buChar char="•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Tree Hi</a:t>
            </a: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erarchy: * The Root is at the very top (the total count of all characters).</a:t>
            </a:r>
          </a:p>
          <a:p>
            <a:pPr algn="l" marL="890588" indent="-296862" lvl="2">
              <a:lnSpc>
                <a:spcPts val="3248"/>
              </a:lnSpc>
              <a:buFont typeface="Arial"/>
              <a:buChar char="⚬"/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most frequent characters are higher up, requiring fewer "steps" or bits to reach</a:t>
            </a:r>
          </a:p>
          <a:p>
            <a:pPr algn="l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2495" y="-27221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91" y="916781"/>
            <a:ext cx="8581231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Implemen</a:t>
            </a:r>
            <a:r>
              <a:rPr lang="en-US" sz="43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tation &amp; Coding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91" y="2006754"/>
            <a:ext cx="9809394" cy="268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Technical</a:t>
            </a: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Implementation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Language Used: C (Standard Library).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Core Data Structure:</a:t>
            </a:r>
          </a:p>
          <a:p>
            <a:pPr algn="l" marL="869937" indent="-289979" lvl="2">
              <a:lnSpc>
                <a:spcPts val="3054"/>
              </a:lnSpc>
              <a:buFont typeface="Arial"/>
              <a:buChar char="⚬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struct Node: Stores character, frequency, and pointers to left/right children.</a:t>
            </a:r>
          </a:p>
          <a:p>
            <a:pPr algn="l" marL="869937" indent="-289979" lvl="2">
              <a:lnSpc>
                <a:spcPts val="3054"/>
              </a:lnSpc>
              <a:buFont typeface="Arial"/>
              <a:buChar char="⚬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MinHeap: Used as a priority queue to always fetch the two smallest nodes.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Memory Management: Dynamic allocation using malloc to build the tree nodes.</a:t>
            </a:r>
          </a:p>
          <a:p>
            <a:pPr algn="l">
              <a:lnSpc>
                <a:spcPts val="3054"/>
              </a:lnSpc>
            </a:pP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617484" y="9391055"/>
            <a:ext cx="623735" cy="623735"/>
          </a:xfrm>
          <a:custGeom>
            <a:avLst/>
            <a:gdLst/>
            <a:ahLst/>
            <a:cxnLst/>
            <a:rect r="r" b="b" t="t" l="l"/>
            <a:pathLst>
              <a:path h="623735" w="623735">
                <a:moveTo>
                  <a:pt x="0" y="0"/>
                </a:moveTo>
                <a:lnTo>
                  <a:pt x="623736" y="0"/>
                </a:lnTo>
                <a:lnTo>
                  <a:pt x="623736" y="623735"/>
                </a:lnTo>
                <a:lnTo>
                  <a:pt x="0" y="623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preencoded.png"/>
          <p:cNvSpPr/>
          <p:nvPr/>
        </p:nvSpPr>
        <p:spPr>
          <a:xfrm flipH="false" flipV="false" rot="0">
            <a:off x="13480851" y="9391055"/>
            <a:ext cx="623735" cy="623735"/>
          </a:xfrm>
          <a:custGeom>
            <a:avLst/>
            <a:gdLst/>
            <a:ahLst/>
            <a:cxnLst/>
            <a:rect r="r" b="b" t="t" l="l"/>
            <a:pathLst>
              <a:path h="623735" w="623735">
                <a:moveTo>
                  <a:pt x="0" y="0"/>
                </a:moveTo>
                <a:lnTo>
                  <a:pt x="623736" y="0"/>
                </a:lnTo>
                <a:lnTo>
                  <a:pt x="623736" y="623735"/>
                </a:lnTo>
                <a:lnTo>
                  <a:pt x="0" y="6237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546" t="0" r="-4546" b="0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16947432" y="9391055"/>
            <a:ext cx="623735" cy="623735"/>
          </a:xfrm>
          <a:custGeom>
            <a:avLst/>
            <a:gdLst/>
            <a:ahLst/>
            <a:cxnLst/>
            <a:rect r="r" b="b" t="t" l="l"/>
            <a:pathLst>
              <a:path h="623735" w="623735">
                <a:moveTo>
                  <a:pt x="0" y="0"/>
                </a:moveTo>
                <a:lnTo>
                  <a:pt x="623736" y="0"/>
                </a:lnTo>
                <a:lnTo>
                  <a:pt x="623736" y="623735"/>
                </a:lnTo>
                <a:lnTo>
                  <a:pt x="0" y="6237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272" r="0" b="-2273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7888005" y="9391055"/>
            <a:ext cx="623735" cy="623735"/>
          </a:xfrm>
          <a:custGeom>
            <a:avLst/>
            <a:gdLst/>
            <a:ahLst/>
            <a:cxnLst/>
            <a:rect r="r" b="b" t="t" l="l"/>
            <a:pathLst>
              <a:path h="623735" w="623735">
                <a:moveTo>
                  <a:pt x="0" y="0"/>
                </a:moveTo>
                <a:lnTo>
                  <a:pt x="623735" y="0"/>
                </a:lnTo>
                <a:lnTo>
                  <a:pt x="623735" y="623735"/>
                </a:lnTo>
                <a:lnTo>
                  <a:pt x="0" y="6237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757" r="0" b="-75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56191" y="4629790"/>
            <a:ext cx="9809394" cy="306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Key</a:t>
            </a: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Functions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uildHuffmanTree(): The heart of the program. It extracts two minimums, merges them, and re-inserts them into the heap.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storeCodes(): A recursive function that traverses the tree to generate and store binary codes for each character.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printTreeVisual(): Our custom visualizer that uses recursion and spacing to print the tree vertically.</a:t>
            </a:r>
          </a:p>
          <a:p>
            <a:pPr algn="l">
              <a:lnSpc>
                <a:spcPts val="305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888005" y="7483413"/>
            <a:ext cx="9809394" cy="190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Data Handling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</a:t>
            </a: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requency Map: An array of size 256 to count character occurrences.</a:t>
            </a:r>
          </a:p>
          <a:p>
            <a:pPr algn="l" marL="434968" indent="-217484" lvl="1">
              <a:lnSpc>
                <a:spcPts val="3054"/>
              </a:lnSpc>
              <a:buFont typeface="Arial"/>
              <a:buChar char="•"/>
            </a:pPr>
            <a:r>
              <a:rPr lang="en-US" sz="201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Bitstream Generation: A loop that replaces every original character with its newly generated Huffman code to form the compressed string.</a:t>
            </a:r>
          </a:p>
          <a:p>
            <a:pPr algn="l">
              <a:lnSpc>
                <a:spcPts val="305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0" y="-235153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67" t="0" r="-676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920228" y="8418832"/>
            <a:ext cx="7416566" cy="1168363"/>
          </a:xfrm>
          <a:custGeom>
            <a:avLst/>
            <a:gdLst/>
            <a:ahLst/>
            <a:cxnLst/>
            <a:rect r="r" b="b" t="t" l="l"/>
            <a:pathLst>
              <a:path h="1168363" w="7416566">
                <a:moveTo>
                  <a:pt x="0" y="0"/>
                </a:moveTo>
                <a:lnTo>
                  <a:pt x="7416567" y="0"/>
                </a:lnTo>
                <a:lnTo>
                  <a:pt x="7416567" y="1168363"/>
                </a:lnTo>
                <a:lnTo>
                  <a:pt x="0" y="1168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52122" y="321367"/>
            <a:ext cx="9261577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 R</a:t>
            </a:r>
            <a:r>
              <a:rPr lang="en-US" sz="4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esults, Statistics &amp; 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42212" y="2188649"/>
            <a:ext cx="9261577" cy="37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324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Analyzing the Results</a:t>
            </a:r>
          </a:p>
          <a:p>
            <a:pPr algn="l" marL="501966" indent="-250983" lvl="1">
              <a:lnSpc>
                <a:spcPts val="3692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Step-by-Step Output: Our program displays the frequency table, the visual tree, and the generated binary codes.</a:t>
            </a:r>
          </a:p>
          <a:p>
            <a:pPr algn="l" marL="501966" indent="-250983" lvl="1">
              <a:lnSpc>
                <a:spcPts val="3692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Encoded Bitstream: We show the original text converted into a dense string of 0s and 1s.</a:t>
            </a:r>
          </a:p>
          <a:p>
            <a:pPr algn="l" marL="501966" indent="-250983" lvl="1">
              <a:lnSpc>
                <a:spcPts val="3692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Efficiency: You can clearly see that characters like 'e' or 'space' might only take 2 or 3 bits, whereas rare characters take more.</a:t>
            </a:r>
          </a:p>
          <a:p>
            <a:pPr algn="l">
              <a:lnSpc>
                <a:spcPts val="369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997723" y="5807848"/>
            <a:ext cx="9261577" cy="27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Fi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nal 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Sta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ic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</a:t>
            </a:r>
          </a:p>
          <a:p>
            <a:pPr algn="l" marL="501966" indent="-250983" lvl="1">
              <a:lnSpc>
                <a:spcPts val="3692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Original Size: Calculated as (Number of characters × 8 bits).</a:t>
            </a:r>
          </a:p>
          <a:p>
            <a:pPr algn="l" marL="501966" indent="-250983" lvl="1">
              <a:lnSpc>
                <a:spcPts val="3692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ompressed Size: The total number of bits in the Huffman encoded stream.</a:t>
            </a:r>
          </a:p>
          <a:p>
            <a:pPr algn="l" marL="501966" indent="-250983" lvl="1">
              <a:lnSpc>
                <a:spcPts val="3692"/>
              </a:lnSpc>
              <a:buFont typeface="Arial"/>
              <a:buChar char="•"/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Space Saved Percentage: Calculated using the formula:</a:t>
            </a:r>
          </a:p>
          <a:p>
            <a:pPr algn="l">
              <a:lnSpc>
                <a:spcPts val="369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92091" y="-405376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46923" y="1143473"/>
            <a:ext cx="9227344" cy="604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2724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Conclusion</a:t>
            </a:r>
            <a:r>
              <a:rPr lang="en-US" sz="2724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 &amp; Future Scope</a:t>
            </a:r>
          </a:p>
          <a:p>
            <a:pPr algn="l" marL="588324" indent="-294162" lvl="1">
              <a:lnSpc>
                <a:spcPts val="4406"/>
              </a:lnSpc>
              <a:buFont typeface="Arial"/>
              <a:buChar char="•"/>
            </a:pPr>
            <a:r>
              <a:rPr lang="en-US" sz="27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Conclusion: We successfully implemented a Lossless Data Compression tool using a Greedy approach and Binary Trees.</a:t>
            </a:r>
          </a:p>
          <a:p>
            <a:pPr algn="l" marL="588324" indent="-294162" lvl="1">
              <a:lnSpc>
                <a:spcPts val="4406"/>
              </a:lnSpc>
              <a:buFont typeface="Arial"/>
              <a:buChar char="•"/>
            </a:pPr>
            <a:r>
              <a:rPr lang="en-US" sz="27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Future Scope: * Implementing file I/O to read and write actual .txt and .zip files.</a:t>
            </a:r>
          </a:p>
          <a:p>
            <a:pPr algn="l" marL="1176647" indent="-392216" lvl="2">
              <a:lnSpc>
                <a:spcPts val="4406"/>
              </a:lnSpc>
              <a:buFont typeface="Arial"/>
              <a:buChar char="⚬"/>
            </a:pPr>
            <a:r>
              <a:rPr lang="en-US" sz="27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Adding a Decompression (unzipping) feature to reconstruct the original text.</a:t>
            </a:r>
          </a:p>
          <a:p>
            <a:pPr algn="l" marL="1176647" indent="-392216" lvl="2">
              <a:lnSpc>
                <a:spcPts val="4406"/>
              </a:lnSpc>
              <a:buFont typeface="Arial"/>
              <a:buChar char="⚬"/>
            </a:pPr>
            <a:r>
              <a:rPr lang="en-US" sz="27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Extending the tool to handle images or audio files using bit-level manipulation.</a:t>
            </a:r>
          </a:p>
          <a:p>
            <a:pPr algn="l">
              <a:lnSpc>
                <a:spcPts val="440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54633" y="3954079"/>
            <a:ext cx="5465564" cy="138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31"/>
              </a:lnSpc>
              <a:spcBef>
                <a:spcPct val="0"/>
              </a:spcBef>
            </a:pPr>
            <a:r>
              <a:rPr lang="en-US" b="true" sz="85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79238" y="-452286"/>
            <a:ext cx="7159524" cy="10739286"/>
            <a:chOff x="0" y="0"/>
            <a:chExt cx="9144000" cy="13716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DAHHX-AMx0g</dc:identifier>
  <dcterms:modified xsi:type="dcterms:W3CDTF">2011-08-01T06:04:30Z</dcterms:modified>
  <cp:revision>1</cp:revision>
  <dc:title>Algorithms Project presentation</dc:title>
</cp:coreProperties>
</file>