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imo Bold" charset="1" panose="020B0704020202020204"/>
      <p:regular r:id="rId18"/>
    </p:embeddedFont>
    <p:embeddedFont>
      <p:font typeface="Barlow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349903" y="3818422"/>
            <a:ext cx="5479256" cy="1325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25"/>
              </a:lnSpc>
              <a:spcBef>
                <a:spcPct val="0"/>
              </a:spcBef>
            </a:pPr>
            <a:r>
              <a:rPr lang="en-US" b="true" sz="8174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Algorithms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-65789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630345" y="784058"/>
            <a:ext cx="9261577" cy="75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4"/>
              </a:lnSpc>
            </a:pPr>
            <a:r>
              <a:rPr lang="en-US" sz="4687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Group Member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432294" y="-34290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432125" y="845178"/>
            <a:ext cx="9227344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12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What is an Algorithm?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21894" y="2283453"/>
            <a:ext cx="9227344" cy="235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9"/>
              </a:lnSpc>
            </a:pPr>
            <a:r>
              <a:rPr lang="en-US" sz="23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An algorithm is a finite, step-by-step sequence of well-defined instructions used to solve a specific problem or perform a computation.</a:t>
            </a:r>
          </a:p>
          <a:p>
            <a:pPr algn="l">
              <a:lnSpc>
                <a:spcPts val="3759"/>
              </a:lnSpc>
            </a:pPr>
            <a:r>
              <a:rPr lang="en-US" sz="23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In simple terms, it is a logical "map." You provide an input (data), the algorithm follows a set of rules, and it produces an output (the result).</a:t>
            </a:r>
          </a:p>
          <a:p>
            <a:pPr algn="l">
              <a:lnSpc>
                <a:spcPts val="3761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7721894" y="5392493"/>
            <a:ext cx="2920756" cy="2946197"/>
            <a:chOff x="0" y="0"/>
            <a:chExt cx="3894341" cy="39282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9050" y="19050"/>
              <a:ext cx="3856228" cy="3890137"/>
            </a:xfrm>
            <a:custGeom>
              <a:avLst/>
              <a:gdLst/>
              <a:ahLst/>
              <a:cxnLst/>
              <a:rect r="r" b="b" t="t" l="l"/>
              <a:pathLst>
                <a:path h="3890137" w="3856228">
                  <a:moveTo>
                    <a:pt x="0" y="550799"/>
                  </a:moveTo>
                  <a:cubicBezTo>
                    <a:pt x="0" y="246634"/>
                    <a:pt x="246634" y="0"/>
                    <a:pt x="550799" y="0"/>
                  </a:cubicBezTo>
                  <a:lnTo>
                    <a:pt x="3305429" y="0"/>
                  </a:lnTo>
                  <a:cubicBezTo>
                    <a:pt x="3609594" y="0"/>
                    <a:pt x="3856228" y="246634"/>
                    <a:pt x="3856228" y="550799"/>
                  </a:cubicBezTo>
                  <a:lnTo>
                    <a:pt x="3856228" y="3339338"/>
                  </a:lnTo>
                  <a:cubicBezTo>
                    <a:pt x="3856228" y="3643503"/>
                    <a:pt x="3609594" y="3890137"/>
                    <a:pt x="3305429" y="3890137"/>
                  </a:cubicBezTo>
                  <a:lnTo>
                    <a:pt x="550799" y="3890137"/>
                  </a:lnTo>
                  <a:cubicBezTo>
                    <a:pt x="246634" y="3890137"/>
                    <a:pt x="0" y="3643503"/>
                    <a:pt x="0" y="3339338"/>
                  </a:cubicBezTo>
                  <a:close/>
                </a:path>
              </a:pathLst>
            </a:custGeom>
            <a:solidFill>
              <a:srgbClr val="0A081B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94328" cy="3928237"/>
            </a:xfrm>
            <a:custGeom>
              <a:avLst/>
              <a:gdLst/>
              <a:ahLst/>
              <a:cxnLst/>
              <a:rect r="r" b="b" t="t" l="l"/>
              <a:pathLst>
                <a:path h="3928237" w="3894328">
                  <a:moveTo>
                    <a:pt x="0" y="569849"/>
                  </a:moveTo>
                  <a:cubicBezTo>
                    <a:pt x="0" y="255143"/>
                    <a:pt x="255143" y="0"/>
                    <a:pt x="569849" y="0"/>
                  </a:cubicBezTo>
                  <a:lnTo>
                    <a:pt x="3324479" y="0"/>
                  </a:lnTo>
                  <a:lnTo>
                    <a:pt x="3324479" y="19050"/>
                  </a:lnTo>
                  <a:lnTo>
                    <a:pt x="3324479" y="0"/>
                  </a:lnTo>
                  <a:cubicBezTo>
                    <a:pt x="3639185" y="0"/>
                    <a:pt x="3894328" y="255143"/>
                    <a:pt x="3894328" y="569849"/>
                  </a:cubicBezTo>
                  <a:lnTo>
                    <a:pt x="3875278" y="569849"/>
                  </a:lnTo>
                  <a:lnTo>
                    <a:pt x="3894328" y="569849"/>
                  </a:lnTo>
                  <a:lnTo>
                    <a:pt x="3894328" y="3358388"/>
                  </a:lnTo>
                  <a:lnTo>
                    <a:pt x="3875278" y="3358388"/>
                  </a:lnTo>
                  <a:lnTo>
                    <a:pt x="3894328" y="3358388"/>
                  </a:lnTo>
                  <a:cubicBezTo>
                    <a:pt x="3894328" y="3673094"/>
                    <a:pt x="3639185" y="3928237"/>
                    <a:pt x="3324479" y="3928237"/>
                  </a:cubicBezTo>
                  <a:lnTo>
                    <a:pt x="3324479" y="3909187"/>
                  </a:lnTo>
                  <a:lnTo>
                    <a:pt x="3324479" y="3928237"/>
                  </a:lnTo>
                  <a:lnTo>
                    <a:pt x="569849" y="3928237"/>
                  </a:lnTo>
                  <a:lnTo>
                    <a:pt x="569849" y="3909187"/>
                  </a:lnTo>
                  <a:lnTo>
                    <a:pt x="569849" y="3928237"/>
                  </a:lnTo>
                  <a:cubicBezTo>
                    <a:pt x="255143" y="3928237"/>
                    <a:pt x="0" y="3673094"/>
                    <a:pt x="0" y="3358388"/>
                  </a:cubicBezTo>
                  <a:lnTo>
                    <a:pt x="0" y="569849"/>
                  </a:lnTo>
                  <a:lnTo>
                    <a:pt x="19050" y="569849"/>
                  </a:lnTo>
                  <a:lnTo>
                    <a:pt x="0" y="569849"/>
                  </a:lnTo>
                  <a:moveTo>
                    <a:pt x="38100" y="569849"/>
                  </a:moveTo>
                  <a:lnTo>
                    <a:pt x="38100" y="3358388"/>
                  </a:lnTo>
                  <a:lnTo>
                    <a:pt x="19050" y="3358388"/>
                  </a:lnTo>
                  <a:lnTo>
                    <a:pt x="38100" y="3358388"/>
                  </a:lnTo>
                  <a:cubicBezTo>
                    <a:pt x="38100" y="3652012"/>
                    <a:pt x="276098" y="3890137"/>
                    <a:pt x="569849" y="3890137"/>
                  </a:cubicBezTo>
                  <a:lnTo>
                    <a:pt x="3324479" y="3890137"/>
                  </a:lnTo>
                  <a:cubicBezTo>
                    <a:pt x="3618103" y="3890137"/>
                    <a:pt x="3856228" y="3652012"/>
                    <a:pt x="3856228" y="3358388"/>
                  </a:cubicBezTo>
                  <a:lnTo>
                    <a:pt x="3856228" y="569849"/>
                  </a:lnTo>
                  <a:cubicBezTo>
                    <a:pt x="3856228" y="276225"/>
                    <a:pt x="3618230" y="38100"/>
                    <a:pt x="3324479" y="38100"/>
                  </a:cubicBezTo>
                  <a:lnTo>
                    <a:pt x="569849" y="38100"/>
                  </a:lnTo>
                  <a:lnTo>
                    <a:pt x="569849" y="19050"/>
                  </a:lnTo>
                  <a:lnTo>
                    <a:pt x="569849" y="38100"/>
                  </a:lnTo>
                  <a:cubicBezTo>
                    <a:pt x="276098" y="38100"/>
                    <a:pt x="38100" y="276225"/>
                    <a:pt x="38100" y="569849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040087" y="5682110"/>
            <a:ext cx="2284362" cy="41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Key properties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40087" y="6172648"/>
            <a:ext cx="2284362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Deterministic steps, termination, and measurable resources.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889405" y="5392493"/>
            <a:ext cx="2920756" cy="2946197"/>
            <a:chOff x="0" y="0"/>
            <a:chExt cx="3894341" cy="39282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9050" y="19050"/>
              <a:ext cx="3856228" cy="3890137"/>
            </a:xfrm>
            <a:custGeom>
              <a:avLst/>
              <a:gdLst/>
              <a:ahLst/>
              <a:cxnLst/>
              <a:rect r="r" b="b" t="t" l="l"/>
              <a:pathLst>
                <a:path h="3890137" w="3856228">
                  <a:moveTo>
                    <a:pt x="0" y="550799"/>
                  </a:moveTo>
                  <a:cubicBezTo>
                    <a:pt x="0" y="246634"/>
                    <a:pt x="246634" y="0"/>
                    <a:pt x="550799" y="0"/>
                  </a:cubicBezTo>
                  <a:lnTo>
                    <a:pt x="3305429" y="0"/>
                  </a:lnTo>
                  <a:cubicBezTo>
                    <a:pt x="3609594" y="0"/>
                    <a:pt x="3856228" y="246634"/>
                    <a:pt x="3856228" y="550799"/>
                  </a:cubicBezTo>
                  <a:lnTo>
                    <a:pt x="3856228" y="3339338"/>
                  </a:lnTo>
                  <a:cubicBezTo>
                    <a:pt x="3856228" y="3643503"/>
                    <a:pt x="3609594" y="3890137"/>
                    <a:pt x="3305429" y="3890137"/>
                  </a:cubicBezTo>
                  <a:lnTo>
                    <a:pt x="550799" y="3890137"/>
                  </a:lnTo>
                  <a:cubicBezTo>
                    <a:pt x="246634" y="3890137"/>
                    <a:pt x="0" y="3643503"/>
                    <a:pt x="0" y="3339338"/>
                  </a:cubicBezTo>
                  <a:close/>
                </a:path>
              </a:pathLst>
            </a:custGeom>
            <a:solidFill>
              <a:srgbClr val="0A081B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94328" cy="3928237"/>
            </a:xfrm>
            <a:custGeom>
              <a:avLst/>
              <a:gdLst/>
              <a:ahLst/>
              <a:cxnLst/>
              <a:rect r="r" b="b" t="t" l="l"/>
              <a:pathLst>
                <a:path h="3928237" w="3894328">
                  <a:moveTo>
                    <a:pt x="0" y="569849"/>
                  </a:moveTo>
                  <a:cubicBezTo>
                    <a:pt x="0" y="255143"/>
                    <a:pt x="255143" y="0"/>
                    <a:pt x="569849" y="0"/>
                  </a:cubicBezTo>
                  <a:lnTo>
                    <a:pt x="3324479" y="0"/>
                  </a:lnTo>
                  <a:lnTo>
                    <a:pt x="3324479" y="19050"/>
                  </a:lnTo>
                  <a:lnTo>
                    <a:pt x="3324479" y="0"/>
                  </a:lnTo>
                  <a:cubicBezTo>
                    <a:pt x="3639185" y="0"/>
                    <a:pt x="3894328" y="255143"/>
                    <a:pt x="3894328" y="569849"/>
                  </a:cubicBezTo>
                  <a:lnTo>
                    <a:pt x="3875278" y="569849"/>
                  </a:lnTo>
                  <a:lnTo>
                    <a:pt x="3894328" y="569849"/>
                  </a:lnTo>
                  <a:lnTo>
                    <a:pt x="3894328" y="3358388"/>
                  </a:lnTo>
                  <a:lnTo>
                    <a:pt x="3875278" y="3358388"/>
                  </a:lnTo>
                  <a:lnTo>
                    <a:pt x="3894328" y="3358388"/>
                  </a:lnTo>
                  <a:cubicBezTo>
                    <a:pt x="3894328" y="3673094"/>
                    <a:pt x="3639185" y="3928237"/>
                    <a:pt x="3324479" y="3928237"/>
                  </a:cubicBezTo>
                  <a:lnTo>
                    <a:pt x="3324479" y="3909187"/>
                  </a:lnTo>
                  <a:lnTo>
                    <a:pt x="3324479" y="3928237"/>
                  </a:lnTo>
                  <a:lnTo>
                    <a:pt x="569849" y="3928237"/>
                  </a:lnTo>
                  <a:lnTo>
                    <a:pt x="569849" y="3909187"/>
                  </a:lnTo>
                  <a:lnTo>
                    <a:pt x="569849" y="3928237"/>
                  </a:lnTo>
                  <a:cubicBezTo>
                    <a:pt x="255143" y="3928237"/>
                    <a:pt x="0" y="3673094"/>
                    <a:pt x="0" y="3358388"/>
                  </a:cubicBezTo>
                  <a:lnTo>
                    <a:pt x="0" y="569849"/>
                  </a:lnTo>
                  <a:lnTo>
                    <a:pt x="19050" y="569849"/>
                  </a:lnTo>
                  <a:lnTo>
                    <a:pt x="0" y="569849"/>
                  </a:lnTo>
                  <a:moveTo>
                    <a:pt x="38100" y="569849"/>
                  </a:moveTo>
                  <a:lnTo>
                    <a:pt x="38100" y="3358388"/>
                  </a:lnTo>
                  <a:lnTo>
                    <a:pt x="19050" y="3358388"/>
                  </a:lnTo>
                  <a:lnTo>
                    <a:pt x="38100" y="3358388"/>
                  </a:lnTo>
                  <a:cubicBezTo>
                    <a:pt x="38100" y="3652012"/>
                    <a:pt x="276098" y="3890137"/>
                    <a:pt x="569849" y="3890137"/>
                  </a:cubicBezTo>
                  <a:lnTo>
                    <a:pt x="3324479" y="3890137"/>
                  </a:lnTo>
                  <a:cubicBezTo>
                    <a:pt x="3618103" y="3890137"/>
                    <a:pt x="3856228" y="3652012"/>
                    <a:pt x="3856228" y="3358388"/>
                  </a:cubicBezTo>
                  <a:lnTo>
                    <a:pt x="3856228" y="569849"/>
                  </a:lnTo>
                  <a:cubicBezTo>
                    <a:pt x="3856228" y="276225"/>
                    <a:pt x="3618230" y="38100"/>
                    <a:pt x="3324479" y="38100"/>
                  </a:cubicBezTo>
                  <a:lnTo>
                    <a:pt x="569849" y="38100"/>
                  </a:lnTo>
                  <a:lnTo>
                    <a:pt x="569849" y="19050"/>
                  </a:lnTo>
                  <a:lnTo>
                    <a:pt x="569849" y="38100"/>
                  </a:lnTo>
                  <a:cubicBezTo>
                    <a:pt x="276098" y="38100"/>
                    <a:pt x="38100" y="276225"/>
                    <a:pt x="38100" y="569849"/>
                  </a:cubicBezTo>
                  <a:close/>
                </a:path>
              </a:pathLst>
            </a:custGeom>
            <a:solidFill>
              <a:srgbClr val="29DDDA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207597" y="5682110"/>
            <a:ext cx="2284362" cy="41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Analogy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07597" y="6172648"/>
            <a:ext cx="2284362" cy="140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Recipe → precise order; wrong order = failed dish (bug).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4056915" y="5392493"/>
            <a:ext cx="2920756" cy="2946197"/>
            <a:chOff x="0" y="0"/>
            <a:chExt cx="3894341" cy="392826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9050" y="19050"/>
              <a:ext cx="3856228" cy="3890137"/>
            </a:xfrm>
            <a:custGeom>
              <a:avLst/>
              <a:gdLst/>
              <a:ahLst/>
              <a:cxnLst/>
              <a:rect r="r" b="b" t="t" l="l"/>
              <a:pathLst>
                <a:path h="3890137" w="3856228">
                  <a:moveTo>
                    <a:pt x="0" y="550799"/>
                  </a:moveTo>
                  <a:cubicBezTo>
                    <a:pt x="0" y="246634"/>
                    <a:pt x="246634" y="0"/>
                    <a:pt x="550799" y="0"/>
                  </a:cubicBezTo>
                  <a:lnTo>
                    <a:pt x="3305429" y="0"/>
                  </a:lnTo>
                  <a:cubicBezTo>
                    <a:pt x="3609594" y="0"/>
                    <a:pt x="3856228" y="246634"/>
                    <a:pt x="3856228" y="550799"/>
                  </a:cubicBezTo>
                  <a:lnTo>
                    <a:pt x="3856228" y="3339338"/>
                  </a:lnTo>
                  <a:cubicBezTo>
                    <a:pt x="3856228" y="3643503"/>
                    <a:pt x="3609594" y="3890137"/>
                    <a:pt x="3305429" y="3890137"/>
                  </a:cubicBezTo>
                  <a:lnTo>
                    <a:pt x="550799" y="3890137"/>
                  </a:lnTo>
                  <a:cubicBezTo>
                    <a:pt x="246634" y="3890137"/>
                    <a:pt x="0" y="3643503"/>
                    <a:pt x="0" y="3339338"/>
                  </a:cubicBezTo>
                  <a:close/>
                </a:path>
              </a:pathLst>
            </a:custGeom>
            <a:solidFill>
              <a:srgbClr val="0A081B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94328" cy="3928237"/>
            </a:xfrm>
            <a:custGeom>
              <a:avLst/>
              <a:gdLst/>
              <a:ahLst/>
              <a:cxnLst/>
              <a:rect r="r" b="b" t="t" l="l"/>
              <a:pathLst>
                <a:path h="3928237" w="3894328">
                  <a:moveTo>
                    <a:pt x="0" y="569849"/>
                  </a:moveTo>
                  <a:cubicBezTo>
                    <a:pt x="0" y="255143"/>
                    <a:pt x="255143" y="0"/>
                    <a:pt x="569849" y="0"/>
                  </a:cubicBezTo>
                  <a:lnTo>
                    <a:pt x="3324479" y="0"/>
                  </a:lnTo>
                  <a:lnTo>
                    <a:pt x="3324479" y="19050"/>
                  </a:lnTo>
                  <a:lnTo>
                    <a:pt x="3324479" y="0"/>
                  </a:lnTo>
                  <a:cubicBezTo>
                    <a:pt x="3639185" y="0"/>
                    <a:pt x="3894328" y="255143"/>
                    <a:pt x="3894328" y="569849"/>
                  </a:cubicBezTo>
                  <a:lnTo>
                    <a:pt x="3875278" y="569849"/>
                  </a:lnTo>
                  <a:lnTo>
                    <a:pt x="3894328" y="569849"/>
                  </a:lnTo>
                  <a:lnTo>
                    <a:pt x="3894328" y="3358388"/>
                  </a:lnTo>
                  <a:lnTo>
                    <a:pt x="3875278" y="3358388"/>
                  </a:lnTo>
                  <a:lnTo>
                    <a:pt x="3894328" y="3358388"/>
                  </a:lnTo>
                  <a:cubicBezTo>
                    <a:pt x="3894328" y="3673094"/>
                    <a:pt x="3639185" y="3928237"/>
                    <a:pt x="3324479" y="3928237"/>
                  </a:cubicBezTo>
                  <a:lnTo>
                    <a:pt x="3324479" y="3909187"/>
                  </a:lnTo>
                  <a:lnTo>
                    <a:pt x="3324479" y="3928237"/>
                  </a:lnTo>
                  <a:lnTo>
                    <a:pt x="569849" y="3928237"/>
                  </a:lnTo>
                  <a:lnTo>
                    <a:pt x="569849" y="3909187"/>
                  </a:lnTo>
                  <a:lnTo>
                    <a:pt x="569849" y="3928237"/>
                  </a:lnTo>
                  <a:cubicBezTo>
                    <a:pt x="255143" y="3928237"/>
                    <a:pt x="0" y="3673094"/>
                    <a:pt x="0" y="3358388"/>
                  </a:cubicBezTo>
                  <a:lnTo>
                    <a:pt x="0" y="569849"/>
                  </a:lnTo>
                  <a:lnTo>
                    <a:pt x="19050" y="569849"/>
                  </a:lnTo>
                  <a:lnTo>
                    <a:pt x="0" y="569849"/>
                  </a:lnTo>
                  <a:moveTo>
                    <a:pt x="38100" y="569849"/>
                  </a:moveTo>
                  <a:lnTo>
                    <a:pt x="38100" y="3358388"/>
                  </a:lnTo>
                  <a:lnTo>
                    <a:pt x="19050" y="3358388"/>
                  </a:lnTo>
                  <a:lnTo>
                    <a:pt x="38100" y="3358388"/>
                  </a:lnTo>
                  <a:cubicBezTo>
                    <a:pt x="38100" y="3652012"/>
                    <a:pt x="276098" y="3890137"/>
                    <a:pt x="569849" y="3890137"/>
                  </a:cubicBezTo>
                  <a:lnTo>
                    <a:pt x="3324479" y="3890137"/>
                  </a:lnTo>
                  <a:cubicBezTo>
                    <a:pt x="3618103" y="3890137"/>
                    <a:pt x="3856228" y="3652012"/>
                    <a:pt x="3856228" y="3358388"/>
                  </a:cubicBezTo>
                  <a:lnTo>
                    <a:pt x="3856228" y="569849"/>
                  </a:lnTo>
                  <a:cubicBezTo>
                    <a:pt x="3856228" y="276225"/>
                    <a:pt x="3618230" y="38100"/>
                    <a:pt x="3324479" y="38100"/>
                  </a:cubicBezTo>
                  <a:lnTo>
                    <a:pt x="569849" y="38100"/>
                  </a:lnTo>
                  <a:lnTo>
                    <a:pt x="569849" y="19050"/>
                  </a:lnTo>
                  <a:lnTo>
                    <a:pt x="569849" y="38100"/>
                  </a:lnTo>
                  <a:cubicBezTo>
                    <a:pt x="276098" y="38100"/>
                    <a:pt x="38100" y="276225"/>
                    <a:pt x="38100" y="569849"/>
                  </a:cubicBezTo>
                  <a:close/>
                </a:path>
              </a:pathLst>
            </a:custGeom>
            <a:solidFill>
              <a:srgbClr val="37A7E7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4375107" y="5682110"/>
            <a:ext cx="2284362" cy="41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Why it matters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375107" y="6172648"/>
            <a:ext cx="2284362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Algorithms power everything from search to real‑time systems.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85725" y="-85725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1683530"/>
            <a:ext cx="15493451" cy="812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12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The Power of Visualisation: Bringing Algorithms to Life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1328" y="3161902"/>
            <a:ext cx="16085344" cy="140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    Visualisations convert abstract steps into motion: pointers, swaps, node     expansions and colour changes reveal behaviour over time. They reduce     cognitive load and expose performance patterns (best/worst/average cases).     Use interactive tools during the talk to demonstrate the dynamics live.  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01328" y="5682253"/>
            <a:ext cx="1488281" cy="919753"/>
            <a:chOff x="0" y="0"/>
            <a:chExt cx="1984375" cy="1226337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984375" cy="1226312"/>
            </a:xfrm>
            <a:custGeom>
              <a:avLst/>
              <a:gdLst/>
              <a:ahLst/>
              <a:cxnLst/>
              <a:rect r="r" b="b" t="t" l="l"/>
              <a:pathLst>
                <a:path h="1226312" w="1984375">
                  <a:moveTo>
                    <a:pt x="0" y="0"/>
                  </a:moveTo>
                  <a:lnTo>
                    <a:pt x="1984375" y="0"/>
                  </a:lnTo>
                  <a:lnTo>
                    <a:pt x="1984375" y="1226312"/>
                  </a:lnTo>
                  <a:lnTo>
                    <a:pt x="0" y="1226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06" r="0" b="-309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933700" y="5653678"/>
            <a:ext cx="3059611" cy="41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Sorting animators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33700" y="6144216"/>
            <a:ext cx="3299965" cy="140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Step through comparisons and swaps to see where time is spent.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77755" y="5682253"/>
            <a:ext cx="1488281" cy="919753"/>
            <a:chOff x="0" y="0"/>
            <a:chExt cx="1984375" cy="1226337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984375" cy="1226312"/>
            </a:xfrm>
            <a:custGeom>
              <a:avLst/>
              <a:gdLst/>
              <a:ahLst/>
              <a:cxnLst/>
              <a:rect r="r" b="b" t="t" l="l"/>
              <a:pathLst>
                <a:path h="1226312" w="1984375">
                  <a:moveTo>
                    <a:pt x="0" y="0"/>
                  </a:moveTo>
                  <a:lnTo>
                    <a:pt x="1984375" y="0"/>
                  </a:lnTo>
                  <a:lnTo>
                    <a:pt x="1984375" y="1226312"/>
                  </a:lnTo>
                  <a:lnTo>
                    <a:pt x="0" y="1226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06" r="0" b="-309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410127" y="5653678"/>
            <a:ext cx="3059611" cy="41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Pathfinding demos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10127" y="6144216"/>
            <a:ext cx="3299965" cy="140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Watch BFS/DFS expansion patterns and Dijkstra's distance updates.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54183" y="5682253"/>
            <a:ext cx="1488281" cy="919753"/>
            <a:chOff x="0" y="0"/>
            <a:chExt cx="1984375" cy="1226337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984375" cy="1226312"/>
            </a:xfrm>
            <a:custGeom>
              <a:avLst/>
              <a:gdLst/>
              <a:ahLst/>
              <a:cxnLst/>
              <a:rect r="r" b="b" t="t" l="l"/>
              <a:pathLst>
                <a:path h="1226312" w="1984375">
                  <a:moveTo>
                    <a:pt x="0" y="0"/>
                  </a:moveTo>
                  <a:lnTo>
                    <a:pt x="1984375" y="0"/>
                  </a:lnTo>
                  <a:lnTo>
                    <a:pt x="1984375" y="1226312"/>
                  </a:lnTo>
                  <a:lnTo>
                    <a:pt x="0" y="1226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06" r="0" b="-309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886555" y="5653678"/>
            <a:ext cx="3059611" cy="41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Structure traversal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86555" y="6144216"/>
            <a:ext cx="3300117" cy="140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Visual step order clarifies recursion and stack behaviour.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66952" y="718842"/>
            <a:ext cx="9296105" cy="153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25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Graph Algorithms: Navigating the Connected World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6952" y="2569073"/>
            <a:ext cx="9296105" cy="1336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    Graphs model relationships: road networks, social graphs, dependency trees.     Understanding traversal and pathfinding is critical for routing, recommendations,     and network analysis.  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66952" y="4195915"/>
            <a:ext cx="9296105" cy="3764309"/>
            <a:chOff x="0" y="0"/>
            <a:chExt cx="12394806" cy="5019078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2394819" cy="5019040"/>
            </a:xfrm>
            <a:custGeom>
              <a:avLst/>
              <a:gdLst/>
              <a:ahLst/>
              <a:cxnLst/>
              <a:rect r="r" b="b" t="t" l="l"/>
              <a:pathLst>
                <a:path h="5019040" w="12394819">
                  <a:moveTo>
                    <a:pt x="0" y="0"/>
                  </a:moveTo>
                  <a:lnTo>
                    <a:pt x="12394819" y="0"/>
                  </a:lnTo>
                  <a:lnTo>
                    <a:pt x="12394819" y="5019040"/>
                  </a:lnTo>
                  <a:lnTo>
                    <a:pt x="0" y="5019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7" t="0" r="-27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758620" y="5591908"/>
            <a:ext cx="2084908" cy="334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2"/>
              </a:lnSpc>
            </a:pPr>
            <a:r>
              <a:rPr lang="en-US" sz="1812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BFS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58620" y="6012199"/>
            <a:ext cx="2084908" cy="535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2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Layered exploration, unweighted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682604" y="5585965"/>
            <a:ext cx="2084908" cy="334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2"/>
              </a:lnSpc>
            </a:pPr>
            <a:r>
              <a:rPr lang="en-US" sz="1812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Dijkstra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82604" y="6006265"/>
            <a:ext cx="2084908" cy="535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2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Weighted shortest path, priority queue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10675" y="5580031"/>
            <a:ext cx="2084908" cy="334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2"/>
              </a:lnSpc>
            </a:pPr>
            <a:r>
              <a:rPr lang="en-US" sz="1812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A*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10675" y="6000331"/>
            <a:ext cx="2084908" cy="535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2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Heuristic-guided shortest path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6952" y="8174679"/>
            <a:ext cx="9296105" cy="1336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Use the diagram to explain: BFS explores uniformly (unweighted), Dijkstra handles weights with a priority queue, and A* adds heuristics for efficient search when good estimates exist.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391223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449388" y="4949502"/>
            <a:ext cx="10011562" cy="4768006"/>
          </a:xfrm>
          <a:custGeom>
            <a:avLst/>
            <a:gdLst/>
            <a:ahLst/>
            <a:cxnLst/>
            <a:rect r="r" b="b" t="t" l="l"/>
            <a:pathLst>
              <a:path h="4768006" w="10011562">
                <a:moveTo>
                  <a:pt x="0" y="0"/>
                </a:moveTo>
                <a:lnTo>
                  <a:pt x="10011562" y="0"/>
                </a:lnTo>
                <a:lnTo>
                  <a:pt x="10011562" y="4768007"/>
                </a:lnTo>
                <a:lnTo>
                  <a:pt x="0" y="47680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164438" y="664369"/>
            <a:ext cx="5204123" cy="690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312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Dijkstra’s Algorithm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49388" y="1547402"/>
            <a:ext cx="3389223" cy="340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1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Imagin</a:t>
            </a:r>
            <a:r>
              <a:rPr lang="en-US" sz="21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 a small network of four cities (Nodes A, B, C, D).</a:t>
            </a:r>
          </a:p>
          <a:p>
            <a:pPr algn="l" marL="458787" indent="-229393" lvl="1">
              <a:lnSpc>
                <a:spcPts val="3436"/>
              </a:lnSpc>
              <a:buFont typeface="Arial"/>
              <a:buChar char="•"/>
            </a:pPr>
            <a:r>
              <a:rPr lang="en-US" sz="21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 → B (weight 5)</a:t>
            </a:r>
          </a:p>
          <a:p>
            <a:pPr algn="l" marL="458787" indent="-229393" lvl="1">
              <a:lnSpc>
                <a:spcPts val="3436"/>
              </a:lnSpc>
              <a:buFont typeface="Arial"/>
              <a:buChar char="•"/>
            </a:pPr>
            <a:r>
              <a:rPr lang="en-US" sz="21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 → C (weight 2)</a:t>
            </a:r>
          </a:p>
          <a:p>
            <a:pPr algn="l" marL="458787" indent="-229393" lvl="1">
              <a:lnSpc>
                <a:spcPts val="3436"/>
              </a:lnSpc>
              <a:buFont typeface="Arial"/>
              <a:buChar char="•"/>
            </a:pPr>
            <a:r>
              <a:rPr lang="en-US" sz="21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 → B (weight 1)</a:t>
            </a:r>
          </a:p>
          <a:p>
            <a:pPr algn="l" marL="458787" indent="-229393" lvl="1">
              <a:lnSpc>
                <a:spcPts val="3436"/>
              </a:lnSpc>
              <a:buFont typeface="Arial"/>
              <a:buChar char="•"/>
            </a:pPr>
            <a:r>
              <a:rPr lang="en-US" sz="21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 → D (weight 9)</a:t>
            </a:r>
          </a:p>
          <a:p>
            <a:pPr algn="l" marL="458787" indent="-229393" lvl="1">
              <a:lnSpc>
                <a:spcPts val="3436"/>
              </a:lnSpc>
              <a:buFont typeface="Arial"/>
              <a:buChar char="•"/>
            </a:pPr>
            <a:r>
              <a:rPr lang="en-US" sz="2124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B → D (weight 3)</a:t>
            </a:r>
          </a:p>
          <a:p>
            <a:pPr algn="l">
              <a:lnSpc>
                <a:spcPts val="3437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498227" y="-404517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767" t="0" r="-6767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218718" y="4046315"/>
            <a:ext cx="10708565" cy="5836168"/>
          </a:xfrm>
          <a:custGeom>
            <a:avLst/>
            <a:gdLst/>
            <a:ahLst/>
            <a:cxnLst/>
            <a:rect r="r" b="b" t="t" l="l"/>
            <a:pathLst>
              <a:path h="5836168" w="10708565">
                <a:moveTo>
                  <a:pt x="0" y="0"/>
                </a:moveTo>
                <a:lnTo>
                  <a:pt x="10708564" y="0"/>
                </a:lnTo>
                <a:lnTo>
                  <a:pt x="10708564" y="5836168"/>
                </a:lnTo>
                <a:lnTo>
                  <a:pt x="0" y="58361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339717" y="426142"/>
            <a:ext cx="9261577" cy="75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4"/>
              </a:lnSpc>
            </a:pPr>
            <a:r>
              <a:rPr lang="en-US" sz="4687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Kruskal’s</a:t>
            </a:r>
            <a:r>
              <a:rPr lang="en-US" sz="4687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 Algorithm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74852" y="1396058"/>
            <a:ext cx="9596296" cy="170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20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Kruskal’s Algorithm is a great move because it highlights a different goal: instead of finding the shortest path between two points, Kruskal’s finds the Minimum Spanning Tree (MST)—the cheapest way to connect all points in a network without any loops.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61414" y="-156202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111372" y="3893706"/>
            <a:ext cx="10724135" cy="5844654"/>
          </a:xfrm>
          <a:custGeom>
            <a:avLst/>
            <a:gdLst/>
            <a:ahLst/>
            <a:cxnLst/>
            <a:rect r="r" b="b" t="t" l="l"/>
            <a:pathLst>
              <a:path h="5844654" w="10724135">
                <a:moveTo>
                  <a:pt x="0" y="0"/>
                </a:moveTo>
                <a:lnTo>
                  <a:pt x="10724135" y="0"/>
                </a:lnTo>
                <a:lnTo>
                  <a:pt x="10724135" y="5844654"/>
                </a:lnTo>
                <a:lnTo>
                  <a:pt x="0" y="58446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245260" y="614363"/>
            <a:ext cx="9227344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12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P</a:t>
            </a:r>
            <a:r>
              <a:rPr lang="en-US" sz="4812" b="true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rim’s Algorithm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13036" y="1972253"/>
            <a:ext cx="9227344" cy="125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Prim’s</a:t>
            </a:r>
            <a:r>
              <a:rPr lang="en-US" sz="212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Algorithm is the perfect final piece for your presentation. While Kruskal’s focuses on the shortest edges anywhere in the graph, Prim’s focuses on the nodes, growing the tree like a spreading vine from a single starting point.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154633" y="3954079"/>
            <a:ext cx="5465564" cy="1388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31"/>
              </a:lnSpc>
              <a:spcBef>
                <a:spcPct val="0"/>
              </a:spcBef>
            </a:pPr>
            <a:r>
              <a:rPr lang="en-US" b="true" sz="8574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Thank You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279238" y="-452286"/>
            <a:ext cx="7159524" cy="10739286"/>
            <a:chOff x="0" y="0"/>
            <a:chExt cx="9144000" cy="137160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DAHHXSwlabg</dc:identifier>
  <dcterms:modified xsi:type="dcterms:W3CDTF">2011-08-01T06:04:30Z</dcterms:modified>
  <cp:revision>1</cp:revision>
  <dc:title>algorithms presentation</dc:title>
</cp:coreProperties>
</file>