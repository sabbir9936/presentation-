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omfortaa Bold" charset="1" panose="00000800000000000000"/>
      <p:regular r:id="rId21"/>
    </p:embeddedFont>
    <p:embeddedFont>
      <p:font typeface="Muli Ultra-Bold" charset="1" panose="00000900000000000000"/>
      <p:regular r:id="rId23"/>
    </p:embeddedFont>
    <p:embeddedFont>
      <p:font typeface="Raleway Medium" charset="1" panose="00000000000000000000"/>
      <p:regular r:id="rId25"/>
    </p:embeddedFont>
    <p:embeddedFont>
      <p:font typeface="Comfortaa Light" charset="1" panose="00000400000000000000"/>
      <p:regular r:id="rId28"/>
    </p:embeddedFont>
    <p:embeddedFont>
      <p:font typeface="League Spartan" charset="1" panose="000008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notesSlides/notesSlide2.xml" Type="http://schemas.openxmlformats.org/officeDocument/2006/relationships/notesSlide"/><Relationship Id="rId23" Target="fonts/font23.fntdata" Type="http://schemas.openxmlformats.org/officeDocument/2006/relationships/font"/><Relationship Id="rId24" Target="notesSlides/notesSlide3.xml" Type="http://schemas.openxmlformats.org/officeDocument/2006/relationships/notesSlide"/><Relationship Id="rId25" Target="fonts/font25.fntdata" Type="http://schemas.openxmlformats.org/officeDocument/2006/relationships/font"/><Relationship Id="rId26" Target="notesSlides/notesSlide4.xml" Type="http://schemas.openxmlformats.org/officeDocument/2006/relationships/notesSlide"/><Relationship Id="rId27" Target="notesSlides/notesSlide5.xml" Type="http://schemas.openxmlformats.org/officeDocument/2006/relationships/notesSlide"/><Relationship Id="rId28" Target="fonts/font28.fntdata" Type="http://schemas.openxmlformats.org/officeDocument/2006/relationships/font"/><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notesSlides/notesSlide4.xml" Type="http://schemas.openxmlformats.org/officeDocument/2006/relationships/notesSlide"/><Relationship Id="rId3" Target="https://gamma.app/?utm_source=made-with-gamma" TargetMode="External" Type="http://schemas.openxmlformats.org/officeDocument/2006/relationships/hyperlink"/><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2" Target="../notesSlides/notesSlide7.xml" Type="http://schemas.openxmlformats.org/officeDocument/2006/relationships/notesSlide"/><Relationship Id="rId3" Target="https://gamma.app/?utm_source=made-with-gamma" TargetMode="External" Type="http://schemas.openxmlformats.org/officeDocument/2006/relationships/hyperlink"/><Relationship Id="rId4" Target="../media/image5.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2" Target="../notesSlides/notesSlide8.xml" Type="http://schemas.openxmlformats.org/officeDocument/2006/relationships/notesSlide"/><Relationship Id="rId3" Target="https://gamma.app/?utm_source=made-with-gamma" TargetMode="External" Type="http://schemas.openxmlformats.org/officeDocument/2006/relationships/hyperlink"/><Relationship Id="rId4" Target="../media/image5.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https://gamma.app/?utm_source=made-with-gamma" TargetMode="External" Type="http://schemas.openxmlformats.org/officeDocument/2006/relationships/hyperlink"/><Relationship Id="rId4" Target="../media/image5.png" Type="http://schemas.openxmlformats.org/officeDocument/2006/relationships/image"/><Relationship Id="rId5" Target="../media/image3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3.png" Type="http://schemas.openxmlformats.org/officeDocument/2006/relationships/image"/><Relationship Id="rId4" Target="../media/image3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5.pn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40.png" Type="http://schemas.openxmlformats.org/officeDocument/2006/relationships/image"/><Relationship Id="rId9" Target="../media/image4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98301" y="3755858"/>
            <a:ext cx="9227344" cy="2323509"/>
          </a:xfrm>
          <a:prstGeom prst="rect">
            <a:avLst/>
          </a:prstGeom>
        </p:spPr>
        <p:txBody>
          <a:bodyPr anchor="t" rtlCol="false" tIns="0" lIns="0" bIns="0" rIns="0">
            <a:spAutoFit/>
          </a:bodyPr>
          <a:lstStyle/>
          <a:p>
            <a:pPr algn="l">
              <a:lnSpc>
                <a:spcPts val="6000"/>
              </a:lnSpc>
            </a:pPr>
            <a:r>
              <a:rPr lang="en-US" sz="4812" b="true">
                <a:solidFill>
                  <a:srgbClr val="FFE14D"/>
                </a:solidFill>
                <a:latin typeface="Comfortaa Bold"/>
                <a:ea typeface="Comfortaa Bold"/>
                <a:cs typeface="Comfortaa Bold"/>
                <a:sym typeface="Comfortaa Bold"/>
              </a:rPr>
              <a:t>Discrete Mathematics: The Unseen Architecture of Computing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grpSp>
        <p:nvGrpSpPr>
          <p:cNvPr name="Group 6" id="6"/>
          <p:cNvGrpSpPr/>
          <p:nvPr/>
        </p:nvGrpSpPr>
        <p:grpSpPr>
          <a:xfrm rot="0">
            <a:off x="-803327"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6355860" y="1717664"/>
            <a:ext cx="8638844" cy="1155245"/>
          </a:xfrm>
          <a:prstGeom prst="rect">
            <a:avLst/>
          </a:prstGeom>
        </p:spPr>
        <p:txBody>
          <a:bodyPr anchor="t" rtlCol="false" tIns="0" lIns="0" bIns="0" rIns="0">
            <a:spAutoFit/>
          </a:bodyPr>
          <a:lstStyle/>
          <a:p>
            <a:pPr algn="l">
              <a:lnSpc>
                <a:spcPts val="8818"/>
              </a:lnSpc>
            </a:pPr>
            <a:r>
              <a:rPr lang="en-US" sz="8241" b="true">
                <a:solidFill>
                  <a:srgbClr val="CABC43"/>
                </a:solidFill>
                <a:latin typeface="Muli Ultra-Bold"/>
                <a:ea typeface="Muli Ultra-Bold"/>
                <a:cs typeface="Muli Ultra-Bold"/>
                <a:sym typeface="Muli Ultra-Bold"/>
              </a:rPr>
              <a:t>Group Member</a:t>
            </a:r>
          </a:p>
          <a:p>
            <a:pPr algn="l">
              <a:lnSpc>
                <a:spcPts val="8818"/>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6" id="6"/>
          <p:cNvSpPr txBox="true"/>
          <p:nvPr/>
        </p:nvSpPr>
        <p:spPr>
          <a:xfrm rot="0">
            <a:off x="1101328" y="1854698"/>
            <a:ext cx="9855403" cy="793547"/>
          </a:xfrm>
          <a:prstGeom prst="rect">
            <a:avLst/>
          </a:prstGeom>
        </p:spPr>
        <p:txBody>
          <a:bodyPr anchor="t" rtlCol="false" tIns="0" lIns="0" bIns="0" rIns="0">
            <a:spAutoFit/>
          </a:bodyPr>
          <a:lstStyle/>
          <a:p>
            <a:pPr algn="l">
              <a:lnSpc>
                <a:spcPts val="6000"/>
              </a:lnSpc>
            </a:pPr>
            <a:r>
              <a:rPr lang="en-US" sz="4812" b="true">
                <a:solidFill>
                  <a:srgbClr val="FFE14D"/>
                </a:solidFill>
                <a:latin typeface="Comfortaa Bold"/>
                <a:ea typeface="Comfortaa Bold"/>
                <a:cs typeface="Comfortaa Bold"/>
                <a:sym typeface="Comfortaa Bold"/>
              </a:rPr>
              <a:t>What is Discrete Mathematics?</a:t>
            </a:r>
          </a:p>
        </p:txBody>
      </p:sp>
      <p:sp>
        <p:nvSpPr>
          <p:cNvPr name="TextBox 7" id="7"/>
          <p:cNvSpPr txBox="true"/>
          <p:nvPr/>
        </p:nvSpPr>
        <p:spPr>
          <a:xfrm rot="0">
            <a:off x="1101328" y="3094139"/>
            <a:ext cx="16085344" cy="1866900"/>
          </a:xfrm>
          <a:prstGeom prst="rect">
            <a:avLst/>
          </a:prstGeom>
        </p:spPr>
        <p:txBody>
          <a:bodyPr anchor="t" rtlCol="false" tIns="0" lIns="0" bIns="0" rIns="0">
            <a:spAutoFit/>
          </a:bodyPr>
          <a:lstStyle/>
          <a:p>
            <a:pPr algn="l">
              <a:lnSpc>
                <a:spcPts val="3437"/>
              </a:lnSpc>
            </a:pPr>
            <a:r>
              <a:rPr lang="en-US" sz="2125" b="true">
                <a:solidFill>
                  <a:srgbClr val="D7D4CC"/>
                </a:solidFill>
                <a:latin typeface="Raleway Medium"/>
                <a:ea typeface="Raleway Medium"/>
                <a:cs typeface="Raleway Medium"/>
                <a:sym typeface="Raleway Medium"/>
              </a:rPr>
              <a:t>     Discrete mathematics studies structures made of distinct, separate elements rather than continuous ranges. It focuses on countable sets, finite graphs, logical statements and combinatorial systems. These discrete structures model digital phenomena — bits, finite state machines, graphs and algorithms — making the subject essential for designing reliable, efficient computing systems.   </a:t>
            </a:r>
          </a:p>
        </p:txBody>
      </p:sp>
      <p:grpSp>
        <p:nvGrpSpPr>
          <p:cNvPr name="Group 8" id="8"/>
          <p:cNvGrpSpPr/>
          <p:nvPr/>
        </p:nvGrpSpPr>
        <p:grpSpPr>
          <a:xfrm rot="0">
            <a:off x="1101328" y="5270744"/>
            <a:ext cx="1488281" cy="919753"/>
            <a:chOff x="0" y="0"/>
            <a:chExt cx="1984375" cy="1226337"/>
          </a:xfrm>
        </p:grpSpPr>
        <p:sp>
          <p:nvSpPr>
            <p:cNvPr name="Freeform 9" id="9" descr="preencoded.png"/>
            <p:cNvSpPr/>
            <p:nvPr/>
          </p:nvSpPr>
          <p:spPr>
            <a:xfrm flipH="false" flipV="false" rot="0">
              <a:off x="0" y="0"/>
              <a:ext cx="1984375" cy="1226312"/>
            </a:xfrm>
            <a:custGeom>
              <a:avLst/>
              <a:gdLst/>
              <a:ahLst/>
              <a:cxnLst/>
              <a:rect r="r" b="b" t="t" l="l"/>
              <a:pathLst>
                <a:path h="1226312" w="1984375">
                  <a:moveTo>
                    <a:pt x="0" y="0"/>
                  </a:moveTo>
                  <a:lnTo>
                    <a:pt x="1984375" y="0"/>
                  </a:lnTo>
                  <a:lnTo>
                    <a:pt x="1984375" y="1226312"/>
                  </a:lnTo>
                  <a:lnTo>
                    <a:pt x="0" y="1226312"/>
                  </a:lnTo>
                  <a:lnTo>
                    <a:pt x="0" y="0"/>
                  </a:lnTo>
                  <a:close/>
                </a:path>
              </a:pathLst>
            </a:custGeom>
            <a:blipFill>
              <a:blip r:embed="rId3"/>
              <a:stretch>
                <a:fillRect l="0" t="-306" r="0" b="-309"/>
              </a:stretch>
            </a:blipFill>
          </p:spPr>
        </p:sp>
      </p:grpSp>
      <p:sp>
        <p:nvSpPr>
          <p:cNvPr name="TextBox 10" id="10"/>
          <p:cNvSpPr txBox="true"/>
          <p:nvPr/>
        </p:nvSpPr>
        <p:spPr>
          <a:xfrm rot="0">
            <a:off x="2933700" y="5242169"/>
            <a:ext cx="3299965" cy="793547"/>
          </a:xfrm>
          <a:prstGeom prst="rect">
            <a:avLst/>
          </a:prstGeom>
        </p:spPr>
        <p:txBody>
          <a:bodyPr anchor="t" rtlCol="false" tIns="0" lIns="0" bIns="0" rIns="0">
            <a:spAutoFit/>
          </a:bodyPr>
          <a:lstStyle/>
          <a:p>
            <a:pPr algn="l">
              <a:lnSpc>
                <a:spcPts val="3000"/>
              </a:lnSpc>
            </a:pPr>
            <a:r>
              <a:rPr lang="en-US" sz="2375" b="true">
                <a:solidFill>
                  <a:srgbClr val="D7D4CC"/>
                </a:solidFill>
                <a:latin typeface="Comfortaa Bold"/>
                <a:ea typeface="Comfortaa Bold"/>
                <a:cs typeface="Comfortaa Bold"/>
                <a:sym typeface="Comfortaa Bold"/>
              </a:rPr>
              <a:t>Digital Representation</a:t>
            </a:r>
          </a:p>
        </p:txBody>
      </p:sp>
      <p:sp>
        <p:nvSpPr>
          <p:cNvPr name="TextBox 11" id="11"/>
          <p:cNvSpPr txBox="true"/>
          <p:nvPr/>
        </p:nvSpPr>
        <p:spPr>
          <a:xfrm rot="0">
            <a:off x="2933700" y="6096152"/>
            <a:ext cx="3299965" cy="2307431"/>
          </a:xfrm>
          <a:prstGeom prst="rect">
            <a:avLst/>
          </a:prstGeom>
        </p:spPr>
        <p:txBody>
          <a:bodyPr anchor="t" rtlCol="false" tIns="0" lIns="0" bIns="0" rIns="0">
            <a:spAutoFit/>
          </a:bodyPr>
          <a:lstStyle/>
          <a:p>
            <a:pPr algn="l">
              <a:lnSpc>
                <a:spcPts val="3437"/>
              </a:lnSpc>
            </a:pPr>
            <a:r>
              <a:rPr lang="en-US" sz="2125" b="true">
                <a:solidFill>
                  <a:srgbClr val="D7D4CC"/>
                </a:solidFill>
                <a:latin typeface="Raleway Medium"/>
                <a:ea typeface="Raleway Medium"/>
                <a:cs typeface="Raleway Medium"/>
                <a:sym typeface="Raleway Medium"/>
              </a:rPr>
              <a:t>Bits and finite states underpin all computation; discrete maths formalises their behaviour.</a:t>
            </a:r>
          </a:p>
        </p:txBody>
      </p:sp>
      <p:grpSp>
        <p:nvGrpSpPr>
          <p:cNvPr name="Group 12" id="12"/>
          <p:cNvGrpSpPr/>
          <p:nvPr/>
        </p:nvGrpSpPr>
        <p:grpSpPr>
          <a:xfrm rot="0">
            <a:off x="6577755" y="5270744"/>
            <a:ext cx="1488281" cy="919753"/>
            <a:chOff x="0" y="0"/>
            <a:chExt cx="1984375" cy="1226337"/>
          </a:xfrm>
        </p:grpSpPr>
        <p:sp>
          <p:nvSpPr>
            <p:cNvPr name="Freeform 13" id="13" descr="preencoded.png"/>
            <p:cNvSpPr/>
            <p:nvPr/>
          </p:nvSpPr>
          <p:spPr>
            <a:xfrm flipH="false" flipV="false" rot="0">
              <a:off x="0" y="0"/>
              <a:ext cx="1984375" cy="1226312"/>
            </a:xfrm>
            <a:custGeom>
              <a:avLst/>
              <a:gdLst/>
              <a:ahLst/>
              <a:cxnLst/>
              <a:rect r="r" b="b" t="t" l="l"/>
              <a:pathLst>
                <a:path h="1226312" w="1984375">
                  <a:moveTo>
                    <a:pt x="0" y="0"/>
                  </a:moveTo>
                  <a:lnTo>
                    <a:pt x="1984375" y="0"/>
                  </a:lnTo>
                  <a:lnTo>
                    <a:pt x="1984375" y="1226312"/>
                  </a:lnTo>
                  <a:lnTo>
                    <a:pt x="0" y="1226312"/>
                  </a:lnTo>
                  <a:lnTo>
                    <a:pt x="0" y="0"/>
                  </a:lnTo>
                  <a:close/>
                </a:path>
              </a:pathLst>
            </a:custGeom>
            <a:blipFill>
              <a:blip r:embed="rId4"/>
              <a:stretch>
                <a:fillRect l="0" t="-306" r="0" b="-309"/>
              </a:stretch>
            </a:blipFill>
          </p:spPr>
        </p:sp>
      </p:grpSp>
      <p:sp>
        <p:nvSpPr>
          <p:cNvPr name="TextBox 14" id="14"/>
          <p:cNvSpPr txBox="true"/>
          <p:nvPr/>
        </p:nvSpPr>
        <p:spPr>
          <a:xfrm rot="0">
            <a:off x="8410127" y="5242169"/>
            <a:ext cx="3170482" cy="411061"/>
          </a:xfrm>
          <a:prstGeom prst="rect">
            <a:avLst/>
          </a:prstGeom>
        </p:spPr>
        <p:txBody>
          <a:bodyPr anchor="t" rtlCol="false" tIns="0" lIns="0" bIns="0" rIns="0">
            <a:spAutoFit/>
          </a:bodyPr>
          <a:lstStyle/>
          <a:p>
            <a:pPr algn="l">
              <a:lnSpc>
                <a:spcPts val="3000"/>
              </a:lnSpc>
            </a:pPr>
            <a:r>
              <a:rPr lang="en-US" sz="2375" b="true">
                <a:solidFill>
                  <a:srgbClr val="D7D4CC"/>
                </a:solidFill>
                <a:latin typeface="Comfortaa Bold"/>
                <a:ea typeface="Comfortaa Bold"/>
                <a:cs typeface="Comfortaa Bold"/>
                <a:sym typeface="Comfortaa Bold"/>
              </a:rPr>
              <a:t>Modelling Networks</a:t>
            </a:r>
          </a:p>
        </p:txBody>
      </p:sp>
      <p:sp>
        <p:nvSpPr>
          <p:cNvPr name="TextBox 15" id="15"/>
          <p:cNvSpPr txBox="true"/>
          <p:nvPr/>
        </p:nvSpPr>
        <p:spPr>
          <a:xfrm rot="0">
            <a:off x="8410127" y="5713657"/>
            <a:ext cx="3299965" cy="2307431"/>
          </a:xfrm>
          <a:prstGeom prst="rect">
            <a:avLst/>
          </a:prstGeom>
        </p:spPr>
        <p:txBody>
          <a:bodyPr anchor="t" rtlCol="false" tIns="0" lIns="0" bIns="0" rIns="0">
            <a:spAutoFit/>
          </a:bodyPr>
          <a:lstStyle/>
          <a:p>
            <a:pPr algn="l">
              <a:lnSpc>
                <a:spcPts val="3437"/>
              </a:lnSpc>
            </a:pPr>
            <a:r>
              <a:rPr lang="en-US" sz="2125" b="true">
                <a:solidFill>
                  <a:srgbClr val="D7D4CC"/>
                </a:solidFill>
                <a:latin typeface="Raleway Medium"/>
                <a:ea typeface="Raleway Medium"/>
                <a:cs typeface="Raleway Medium"/>
                <a:sym typeface="Raleway Medium"/>
              </a:rPr>
              <a:t>Graphs represent relationships: from social networks to communications systems.</a:t>
            </a:r>
          </a:p>
        </p:txBody>
      </p:sp>
      <p:grpSp>
        <p:nvGrpSpPr>
          <p:cNvPr name="Group 16" id="16"/>
          <p:cNvGrpSpPr/>
          <p:nvPr/>
        </p:nvGrpSpPr>
        <p:grpSpPr>
          <a:xfrm rot="0">
            <a:off x="12054183" y="5270744"/>
            <a:ext cx="1488281" cy="919753"/>
            <a:chOff x="0" y="0"/>
            <a:chExt cx="1984375" cy="1226337"/>
          </a:xfrm>
        </p:grpSpPr>
        <p:sp>
          <p:nvSpPr>
            <p:cNvPr name="Freeform 17" id="17" descr="preencoded.png"/>
            <p:cNvSpPr/>
            <p:nvPr/>
          </p:nvSpPr>
          <p:spPr>
            <a:xfrm flipH="false" flipV="false" rot="0">
              <a:off x="0" y="0"/>
              <a:ext cx="1984375" cy="1226312"/>
            </a:xfrm>
            <a:custGeom>
              <a:avLst/>
              <a:gdLst/>
              <a:ahLst/>
              <a:cxnLst/>
              <a:rect r="r" b="b" t="t" l="l"/>
              <a:pathLst>
                <a:path h="1226312" w="1984375">
                  <a:moveTo>
                    <a:pt x="0" y="0"/>
                  </a:moveTo>
                  <a:lnTo>
                    <a:pt x="1984375" y="0"/>
                  </a:lnTo>
                  <a:lnTo>
                    <a:pt x="1984375" y="1226312"/>
                  </a:lnTo>
                  <a:lnTo>
                    <a:pt x="0" y="1226312"/>
                  </a:lnTo>
                  <a:lnTo>
                    <a:pt x="0" y="0"/>
                  </a:lnTo>
                  <a:close/>
                </a:path>
              </a:pathLst>
            </a:custGeom>
            <a:blipFill>
              <a:blip r:embed="rId5"/>
              <a:stretch>
                <a:fillRect l="0" t="-306" r="0" b="-309"/>
              </a:stretch>
            </a:blipFill>
          </p:spPr>
        </p:sp>
      </p:grpSp>
      <p:sp>
        <p:nvSpPr>
          <p:cNvPr name="TextBox 18" id="18"/>
          <p:cNvSpPr txBox="true"/>
          <p:nvPr/>
        </p:nvSpPr>
        <p:spPr>
          <a:xfrm rot="0">
            <a:off x="13886555" y="5242169"/>
            <a:ext cx="3093091" cy="411061"/>
          </a:xfrm>
          <a:prstGeom prst="rect">
            <a:avLst/>
          </a:prstGeom>
        </p:spPr>
        <p:txBody>
          <a:bodyPr anchor="t" rtlCol="false" tIns="0" lIns="0" bIns="0" rIns="0">
            <a:spAutoFit/>
          </a:bodyPr>
          <a:lstStyle/>
          <a:p>
            <a:pPr algn="l">
              <a:lnSpc>
                <a:spcPts val="3000"/>
              </a:lnSpc>
            </a:pPr>
            <a:r>
              <a:rPr lang="en-US" sz="2375" b="true">
                <a:solidFill>
                  <a:srgbClr val="D7D4CC"/>
                </a:solidFill>
                <a:latin typeface="Comfortaa Bold"/>
                <a:ea typeface="Comfortaa Bold"/>
                <a:cs typeface="Comfortaa Bold"/>
                <a:sym typeface="Comfortaa Bold"/>
              </a:rPr>
              <a:t>Reasoning &amp; Proofs</a:t>
            </a:r>
          </a:p>
        </p:txBody>
      </p:sp>
      <p:sp>
        <p:nvSpPr>
          <p:cNvPr name="TextBox 19" id="19"/>
          <p:cNvSpPr txBox="true"/>
          <p:nvPr/>
        </p:nvSpPr>
        <p:spPr>
          <a:xfrm rot="0">
            <a:off x="13886555" y="5713657"/>
            <a:ext cx="3300117" cy="1426369"/>
          </a:xfrm>
          <a:prstGeom prst="rect">
            <a:avLst/>
          </a:prstGeom>
        </p:spPr>
        <p:txBody>
          <a:bodyPr anchor="t" rtlCol="false" tIns="0" lIns="0" bIns="0" rIns="0">
            <a:spAutoFit/>
          </a:bodyPr>
          <a:lstStyle/>
          <a:p>
            <a:pPr algn="l">
              <a:lnSpc>
                <a:spcPts val="3437"/>
              </a:lnSpc>
            </a:pPr>
            <a:r>
              <a:rPr lang="en-US" sz="2125" b="true">
                <a:solidFill>
                  <a:srgbClr val="D7D4CC"/>
                </a:solidFill>
                <a:latin typeface="Raleway Medium"/>
                <a:ea typeface="Raleway Medium"/>
                <a:cs typeface="Raleway Medium"/>
                <a:sym typeface="Raleway Medium"/>
              </a:rPr>
              <a:t>Formal proofs guarantee algorithm correctness and system safety.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12019" y="652167"/>
            <a:ext cx="9399241" cy="661987"/>
          </a:xfrm>
          <a:prstGeom prst="rect">
            <a:avLst/>
          </a:prstGeom>
        </p:spPr>
        <p:txBody>
          <a:bodyPr anchor="t" rtlCol="false" tIns="0" lIns="0" bIns="0" rIns="0">
            <a:spAutoFit/>
          </a:bodyPr>
          <a:lstStyle/>
          <a:p>
            <a:pPr algn="l">
              <a:lnSpc>
                <a:spcPts val="4937"/>
              </a:lnSpc>
            </a:pPr>
            <a:r>
              <a:rPr lang="en-US" sz="3937" b="true">
                <a:solidFill>
                  <a:srgbClr val="FFE14D"/>
                </a:solidFill>
                <a:latin typeface="Comfortaa Bold"/>
                <a:ea typeface="Comfortaa Bold"/>
                <a:cs typeface="Comfortaa Bold"/>
                <a:sym typeface="Comfortaa Bold"/>
              </a:rPr>
              <a:t>The Building Blocks: Logic and Sets</a:t>
            </a:r>
          </a:p>
        </p:txBody>
      </p:sp>
      <p:sp>
        <p:nvSpPr>
          <p:cNvPr name="TextBox 11" id="11"/>
          <p:cNvSpPr txBox="true"/>
          <p:nvPr/>
        </p:nvSpPr>
        <p:spPr>
          <a:xfrm rot="0">
            <a:off x="912019" y="1540221"/>
            <a:ext cx="9605962" cy="1724025"/>
          </a:xfrm>
          <a:prstGeom prst="rect">
            <a:avLst/>
          </a:prstGeom>
        </p:spPr>
        <p:txBody>
          <a:bodyPr anchor="t" rtlCol="false" tIns="0" lIns="0" bIns="0" rIns="0">
            <a:spAutoFit/>
          </a:bodyPr>
          <a:lstStyle/>
          <a:p>
            <a:pPr algn="l">
              <a:lnSpc>
                <a:spcPts val="2625"/>
              </a:lnSpc>
            </a:pPr>
            <a:r>
              <a:rPr lang="en-US" sz="1750" b="true">
                <a:solidFill>
                  <a:srgbClr val="D7D4CC"/>
                </a:solidFill>
                <a:latin typeface="Raleway Medium"/>
                <a:ea typeface="Raleway Medium"/>
                <a:cs typeface="Raleway Medium"/>
                <a:sym typeface="Raleway Medium"/>
              </a:rPr>
              <a:t>     Logic and set theory form the bedrock of discrete mathematics. Propositional and predicate logic let us express precise rules and reason about truth. Sets organise distinct elements and underpin relations, functions and more complex structures. Historical challenges such as Russell’s paradox motivated rigorous axiomatic systems that keep modern foundations consistent.   </a:t>
            </a:r>
          </a:p>
        </p:txBody>
      </p:sp>
      <p:sp>
        <p:nvSpPr>
          <p:cNvPr name="Freeform 12" id="12" descr="preencoded.png"/>
          <p:cNvSpPr/>
          <p:nvPr/>
        </p:nvSpPr>
        <p:spPr>
          <a:xfrm flipH="false" flipV="false" rot="0">
            <a:off x="912019" y="3476625"/>
            <a:ext cx="570014" cy="570014"/>
          </a:xfrm>
          <a:custGeom>
            <a:avLst/>
            <a:gdLst/>
            <a:ahLst/>
            <a:cxnLst/>
            <a:rect r="r" b="b" t="t" l="l"/>
            <a:pathLst>
              <a:path h="570014" w="570014">
                <a:moveTo>
                  <a:pt x="0" y="0"/>
                </a:moveTo>
                <a:lnTo>
                  <a:pt x="570014" y="0"/>
                </a:lnTo>
                <a:lnTo>
                  <a:pt x="570014" y="570014"/>
                </a:lnTo>
                <a:lnTo>
                  <a:pt x="0" y="570014"/>
                </a:lnTo>
                <a:lnTo>
                  <a:pt x="0" y="0"/>
                </a:lnTo>
                <a:close/>
              </a:path>
            </a:pathLst>
          </a:custGeom>
          <a:blipFill>
            <a:blip r:embed="rId6">
              <a:extLst>
                <a:ext uri="{96DAC541-7B7A-43D3-8B79-37D633B846F1}">
                  <asvg:svgBlip xmlns:asvg="http://schemas.microsoft.com/office/drawing/2016/SVG/main" r:embed="rId7"/>
                </a:ext>
              </a:extLst>
            </a:blip>
            <a:stretch>
              <a:fillRect l="-21666" t="0" r="-21666" b="0"/>
            </a:stretch>
          </a:blipFill>
        </p:spPr>
      </p:sp>
      <p:sp>
        <p:nvSpPr>
          <p:cNvPr name="TextBox 13" id="13"/>
          <p:cNvSpPr txBox="true"/>
          <p:nvPr/>
        </p:nvSpPr>
        <p:spPr>
          <a:xfrm rot="0">
            <a:off x="912019" y="4263628"/>
            <a:ext cx="2581275" cy="335604"/>
          </a:xfrm>
          <a:prstGeom prst="rect">
            <a:avLst/>
          </a:prstGeom>
        </p:spPr>
        <p:txBody>
          <a:bodyPr anchor="t" rtlCol="false" tIns="0" lIns="0" bIns="0" rIns="0">
            <a:spAutoFit/>
          </a:bodyPr>
          <a:lstStyle/>
          <a:p>
            <a:pPr algn="l">
              <a:lnSpc>
                <a:spcPts val="2437"/>
              </a:lnSpc>
            </a:pPr>
            <a:r>
              <a:rPr lang="en-US" sz="1937" b="true">
                <a:solidFill>
                  <a:srgbClr val="D7D4CC"/>
                </a:solidFill>
                <a:latin typeface="Comfortaa Bold"/>
                <a:ea typeface="Comfortaa Bold"/>
                <a:cs typeface="Comfortaa Bold"/>
                <a:sym typeface="Comfortaa Bold"/>
              </a:rPr>
              <a:t>Propositional Logic</a:t>
            </a:r>
          </a:p>
        </p:txBody>
      </p:sp>
      <p:sp>
        <p:nvSpPr>
          <p:cNvPr name="TextBox 14" id="14"/>
          <p:cNvSpPr txBox="true"/>
          <p:nvPr/>
        </p:nvSpPr>
        <p:spPr>
          <a:xfrm rot="0">
            <a:off x="912019" y="4655344"/>
            <a:ext cx="9605962" cy="723900"/>
          </a:xfrm>
          <a:prstGeom prst="rect">
            <a:avLst/>
          </a:prstGeom>
        </p:spPr>
        <p:txBody>
          <a:bodyPr anchor="t" rtlCol="false" tIns="0" lIns="0" bIns="0" rIns="0">
            <a:spAutoFit/>
          </a:bodyPr>
          <a:lstStyle/>
          <a:p>
            <a:pPr algn="l">
              <a:lnSpc>
                <a:spcPts val="2625"/>
              </a:lnSpc>
            </a:pPr>
            <a:r>
              <a:rPr lang="en-US" sz="1750" b="true">
                <a:solidFill>
                  <a:srgbClr val="D7D4CC"/>
                </a:solidFill>
                <a:latin typeface="Raleway Medium"/>
                <a:ea typeface="Raleway Medium"/>
                <a:cs typeface="Raleway Medium"/>
                <a:sym typeface="Raleway Medium"/>
              </a:rPr>
              <a:t>Syntax and semantics for true/false statements — used in verification and programming languages.</a:t>
            </a:r>
          </a:p>
        </p:txBody>
      </p:sp>
      <p:sp>
        <p:nvSpPr>
          <p:cNvPr name="Freeform 15" id="15" descr="preencoded.png"/>
          <p:cNvSpPr/>
          <p:nvPr/>
        </p:nvSpPr>
        <p:spPr>
          <a:xfrm flipH="false" flipV="false" rot="0">
            <a:off x="912019" y="5756824"/>
            <a:ext cx="570014" cy="570014"/>
          </a:xfrm>
          <a:custGeom>
            <a:avLst/>
            <a:gdLst/>
            <a:ahLst/>
            <a:cxnLst/>
            <a:rect r="r" b="b" t="t" l="l"/>
            <a:pathLst>
              <a:path h="570014" w="570014">
                <a:moveTo>
                  <a:pt x="0" y="0"/>
                </a:moveTo>
                <a:lnTo>
                  <a:pt x="570014" y="0"/>
                </a:lnTo>
                <a:lnTo>
                  <a:pt x="570014" y="570014"/>
                </a:lnTo>
                <a:lnTo>
                  <a:pt x="0" y="570014"/>
                </a:lnTo>
                <a:lnTo>
                  <a:pt x="0" y="0"/>
                </a:lnTo>
                <a:close/>
              </a:path>
            </a:pathLst>
          </a:custGeom>
          <a:blipFill>
            <a:blip r:embed="rId8">
              <a:extLst>
                <a:ext uri="{96DAC541-7B7A-43D3-8B79-37D633B846F1}">
                  <asvg:svgBlip xmlns:asvg="http://schemas.microsoft.com/office/drawing/2016/SVG/main" r:embed="rId9"/>
                </a:ext>
              </a:extLst>
            </a:blip>
            <a:stretch>
              <a:fillRect l="-19166" t="0" r="-19166" b="0"/>
            </a:stretch>
          </a:blipFill>
        </p:spPr>
      </p:sp>
      <p:sp>
        <p:nvSpPr>
          <p:cNvPr name="TextBox 16" id="16"/>
          <p:cNvSpPr txBox="true"/>
          <p:nvPr/>
        </p:nvSpPr>
        <p:spPr>
          <a:xfrm rot="0">
            <a:off x="912019" y="6543827"/>
            <a:ext cx="2533650" cy="335604"/>
          </a:xfrm>
          <a:prstGeom prst="rect">
            <a:avLst/>
          </a:prstGeom>
        </p:spPr>
        <p:txBody>
          <a:bodyPr anchor="t" rtlCol="false" tIns="0" lIns="0" bIns="0" rIns="0">
            <a:spAutoFit/>
          </a:bodyPr>
          <a:lstStyle/>
          <a:p>
            <a:pPr algn="l">
              <a:lnSpc>
                <a:spcPts val="2437"/>
              </a:lnSpc>
            </a:pPr>
            <a:r>
              <a:rPr lang="en-US" sz="1937" b="true">
                <a:solidFill>
                  <a:srgbClr val="D7D4CC"/>
                </a:solidFill>
                <a:latin typeface="Comfortaa Bold"/>
                <a:ea typeface="Comfortaa Bold"/>
                <a:cs typeface="Comfortaa Bold"/>
                <a:sym typeface="Comfortaa Bold"/>
              </a:rPr>
              <a:t>Sets &amp; Relations</a:t>
            </a:r>
          </a:p>
        </p:txBody>
      </p:sp>
      <p:sp>
        <p:nvSpPr>
          <p:cNvPr name="TextBox 17" id="17"/>
          <p:cNvSpPr txBox="true"/>
          <p:nvPr/>
        </p:nvSpPr>
        <p:spPr>
          <a:xfrm rot="0">
            <a:off x="912019" y="6935543"/>
            <a:ext cx="9605962" cy="723900"/>
          </a:xfrm>
          <a:prstGeom prst="rect">
            <a:avLst/>
          </a:prstGeom>
        </p:spPr>
        <p:txBody>
          <a:bodyPr anchor="t" rtlCol="false" tIns="0" lIns="0" bIns="0" rIns="0">
            <a:spAutoFit/>
          </a:bodyPr>
          <a:lstStyle/>
          <a:p>
            <a:pPr algn="l">
              <a:lnSpc>
                <a:spcPts val="2625"/>
              </a:lnSpc>
            </a:pPr>
            <a:r>
              <a:rPr lang="en-US" sz="1750" b="true">
                <a:solidFill>
                  <a:srgbClr val="D7D4CC"/>
                </a:solidFill>
                <a:latin typeface="Raleway Medium"/>
                <a:ea typeface="Raleway Medium"/>
                <a:cs typeface="Raleway Medium"/>
                <a:sym typeface="Raleway Medium"/>
              </a:rPr>
              <a:t>Unordered collections, subsets, unions and intersections; fundamental for databases and type systems.</a:t>
            </a:r>
          </a:p>
        </p:txBody>
      </p:sp>
      <p:sp>
        <p:nvSpPr>
          <p:cNvPr name="Freeform 18" id="18" descr="preencoded.png"/>
          <p:cNvSpPr/>
          <p:nvPr/>
        </p:nvSpPr>
        <p:spPr>
          <a:xfrm flipH="false" flipV="false" rot="0">
            <a:off x="912019" y="8037014"/>
            <a:ext cx="570014" cy="570014"/>
          </a:xfrm>
          <a:custGeom>
            <a:avLst/>
            <a:gdLst/>
            <a:ahLst/>
            <a:cxnLst/>
            <a:rect r="r" b="b" t="t" l="l"/>
            <a:pathLst>
              <a:path h="570014" w="570014">
                <a:moveTo>
                  <a:pt x="0" y="0"/>
                </a:moveTo>
                <a:lnTo>
                  <a:pt x="570014" y="0"/>
                </a:lnTo>
                <a:lnTo>
                  <a:pt x="570014" y="570014"/>
                </a:lnTo>
                <a:lnTo>
                  <a:pt x="0" y="570014"/>
                </a:lnTo>
                <a:lnTo>
                  <a:pt x="0" y="0"/>
                </a:lnTo>
                <a:close/>
              </a:path>
            </a:pathLst>
          </a:custGeom>
          <a:blipFill>
            <a:blip r:embed="rId10">
              <a:extLst>
                <a:ext uri="{96DAC541-7B7A-43D3-8B79-37D633B846F1}">
                  <asvg:svgBlip xmlns:asvg="http://schemas.microsoft.com/office/drawing/2016/SVG/main" r:embed="rId11"/>
                </a:ext>
              </a:extLst>
            </a:blip>
            <a:stretch>
              <a:fillRect l="-4999" t="0" r="-4999" b="0"/>
            </a:stretch>
          </a:blipFill>
        </p:spPr>
      </p:sp>
      <p:sp>
        <p:nvSpPr>
          <p:cNvPr name="TextBox 19" id="19"/>
          <p:cNvSpPr txBox="true"/>
          <p:nvPr/>
        </p:nvSpPr>
        <p:spPr>
          <a:xfrm rot="0">
            <a:off x="912019" y="8824017"/>
            <a:ext cx="2533650" cy="335604"/>
          </a:xfrm>
          <a:prstGeom prst="rect">
            <a:avLst/>
          </a:prstGeom>
        </p:spPr>
        <p:txBody>
          <a:bodyPr anchor="t" rtlCol="false" tIns="0" lIns="0" bIns="0" rIns="0">
            <a:spAutoFit/>
          </a:bodyPr>
          <a:lstStyle/>
          <a:p>
            <a:pPr algn="l">
              <a:lnSpc>
                <a:spcPts val="2437"/>
              </a:lnSpc>
            </a:pPr>
            <a:r>
              <a:rPr lang="en-US" sz="1937" b="true">
                <a:solidFill>
                  <a:srgbClr val="D7D4CC"/>
                </a:solidFill>
                <a:latin typeface="Comfortaa Bold"/>
                <a:ea typeface="Comfortaa Bold"/>
                <a:cs typeface="Comfortaa Bold"/>
                <a:sym typeface="Comfortaa Bold"/>
              </a:rPr>
              <a:t>Russell's Paradox</a:t>
            </a:r>
          </a:p>
        </p:txBody>
      </p:sp>
      <p:sp>
        <p:nvSpPr>
          <p:cNvPr name="TextBox 20" id="20"/>
          <p:cNvSpPr txBox="true"/>
          <p:nvPr/>
        </p:nvSpPr>
        <p:spPr>
          <a:xfrm rot="0">
            <a:off x="912019" y="9215733"/>
            <a:ext cx="9605962" cy="390525"/>
          </a:xfrm>
          <a:prstGeom prst="rect">
            <a:avLst/>
          </a:prstGeom>
        </p:spPr>
        <p:txBody>
          <a:bodyPr anchor="t" rtlCol="false" tIns="0" lIns="0" bIns="0" rIns="0">
            <a:spAutoFit/>
          </a:bodyPr>
          <a:lstStyle/>
          <a:p>
            <a:pPr algn="l">
              <a:lnSpc>
                <a:spcPts val="2625"/>
              </a:lnSpc>
            </a:pPr>
            <a:r>
              <a:rPr lang="en-US" sz="1750" b="true">
                <a:solidFill>
                  <a:srgbClr val="D7D4CC"/>
                </a:solidFill>
                <a:latin typeface="Raleway Medium"/>
                <a:ea typeface="Raleway Medium"/>
                <a:cs typeface="Raleway Medium"/>
                <a:sym typeface="Raleway Medium"/>
              </a:rPr>
              <a:t>A historical paradox that led to stricter axioms; an important lesson in careful definition.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73308" y="764829"/>
            <a:ext cx="9399384" cy="1438570"/>
          </a:xfrm>
          <a:prstGeom prst="rect">
            <a:avLst/>
          </a:prstGeom>
        </p:spPr>
        <p:txBody>
          <a:bodyPr anchor="t" rtlCol="false" tIns="0" lIns="0" bIns="0" rIns="0">
            <a:spAutoFit/>
          </a:bodyPr>
          <a:lstStyle/>
          <a:p>
            <a:pPr algn="l">
              <a:lnSpc>
                <a:spcPts val="5500"/>
              </a:lnSpc>
            </a:pPr>
            <a:r>
              <a:rPr lang="en-US" sz="4437" b="true">
                <a:solidFill>
                  <a:srgbClr val="FFE14D"/>
                </a:solidFill>
                <a:latin typeface="Comfortaa Bold"/>
                <a:ea typeface="Comfortaa Bold"/>
                <a:cs typeface="Comfortaa Bold"/>
                <a:sym typeface="Comfortaa Bold"/>
              </a:rPr>
              <a:t>From Theory to Application: Proof Techniques</a:t>
            </a:r>
          </a:p>
        </p:txBody>
      </p:sp>
      <p:sp>
        <p:nvSpPr>
          <p:cNvPr name="TextBox 9" id="9"/>
          <p:cNvSpPr txBox="true"/>
          <p:nvPr/>
        </p:nvSpPr>
        <p:spPr>
          <a:xfrm rot="0">
            <a:off x="7873308" y="2478138"/>
            <a:ext cx="9399384" cy="2027339"/>
          </a:xfrm>
          <a:prstGeom prst="rect">
            <a:avLst/>
          </a:prstGeom>
        </p:spPr>
        <p:txBody>
          <a:bodyPr anchor="t" rtlCol="false" tIns="0" lIns="0" bIns="0" rIns="0">
            <a:spAutoFit/>
          </a:bodyPr>
          <a:lstStyle/>
          <a:p>
            <a:pPr algn="l">
              <a:lnSpc>
                <a:spcPts val="3062"/>
              </a:lnSpc>
            </a:pPr>
            <a:r>
              <a:rPr lang="en-US" sz="1937" b="true">
                <a:solidFill>
                  <a:srgbClr val="D7D4CC"/>
                </a:solidFill>
                <a:latin typeface="Raleway Medium"/>
                <a:ea typeface="Raleway Medium"/>
                <a:cs typeface="Raleway Medium"/>
                <a:sym typeface="Raleway Medium"/>
              </a:rPr>
              <a:t>     Proof techniques are practical tools for establishing truth in algorithms and systems. Mathematical induction proves properties across all natural numbers; direct proof and proof by contradiction validate identities and algorithm invariants. In software engineering and formal methods, these techniques underpin correctness proofs, model checking and rigorous specifications.   </a:t>
            </a:r>
          </a:p>
        </p:txBody>
      </p:sp>
      <p:sp>
        <p:nvSpPr>
          <p:cNvPr name="TextBox 10" id="10"/>
          <p:cNvSpPr txBox="true"/>
          <p:nvPr/>
        </p:nvSpPr>
        <p:spPr>
          <a:xfrm rot="0">
            <a:off x="7873308" y="4692406"/>
            <a:ext cx="507654" cy="393497"/>
          </a:xfrm>
          <a:prstGeom prst="rect">
            <a:avLst/>
          </a:prstGeom>
        </p:spPr>
        <p:txBody>
          <a:bodyPr anchor="t" rtlCol="false" tIns="0" lIns="0" bIns="0" rIns="0">
            <a:spAutoFit/>
          </a:bodyPr>
          <a:lstStyle/>
          <a:p>
            <a:pPr algn="l">
              <a:lnSpc>
                <a:spcPts val="3062"/>
              </a:lnSpc>
            </a:pPr>
            <a:r>
              <a:rPr lang="en-US" sz="1937">
                <a:solidFill>
                  <a:srgbClr val="D7D4CC"/>
                </a:solidFill>
                <a:latin typeface="Comfortaa Light"/>
                <a:ea typeface="Comfortaa Light"/>
                <a:cs typeface="Comfortaa Light"/>
                <a:sym typeface="Comfortaa Light"/>
              </a:rPr>
              <a:t>01</a:t>
            </a:r>
          </a:p>
        </p:txBody>
      </p:sp>
      <p:grpSp>
        <p:nvGrpSpPr>
          <p:cNvPr name="Group 11" id="11"/>
          <p:cNvGrpSpPr/>
          <p:nvPr/>
        </p:nvGrpSpPr>
        <p:grpSpPr>
          <a:xfrm rot="0">
            <a:off x="7873308" y="5171484"/>
            <a:ext cx="4582716" cy="28575"/>
            <a:chOff x="0" y="0"/>
            <a:chExt cx="6110288" cy="38100"/>
          </a:xfrm>
        </p:grpSpPr>
        <p:sp>
          <p:nvSpPr>
            <p:cNvPr name="Freeform 12" id="12"/>
            <p:cNvSpPr/>
            <p:nvPr/>
          </p:nvSpPr>
          <p:spPr>
            <a:xfrm flipH="false" flipV="false" rot="0">
              <a:off x="0" y="0"/>
              <a:ext cx="6110351" cy="38100"/>
            </a:xfrm>
            <a:custGeom>
              <a:avLst/>
              <a:gdLst/>
              <a:ahLst/>
              <a:cxnLst/>
              <a:rect r="r" b="b" t="t" l="l"/>
              <a:pathLst>
                <a:path h="38100" w="6110351">
                  <a:moveTo>
                    <a:pt x="0" y="0"/>
                  </a:moveTo>
                  <a:lnTo>
                    <a:pt x="6110351" y="0"/>
                  </a:lnTo>
                  <a:lnTo>
                    <a:pt x="6110351" y="38100"/>
                  </a:lnTo>
                  <a:lnTo>
                    <a:pt x="0" y="38100"/>
                  </a:lnTo>
                  <a:close/>
                </a:path>
              </a:pathLst>
            </a:custGeom>
            <a:solidFill>
              <a:srgbClr val="FFE14D"/>
            </a:solidFill>
          </p:spPr>
        </p:sp>
      </p:grpSp>
      <p:sp>
        <p:nvSpPr>
          <p:cNvPr name="TextBox 13" id="13"/>
          <p:cNvSpPr txBox="true"/>
          <p:nvPr/>
        </p:nvSpPr>
        <p:spPr>
          <a:xfrm rot="0">
            <a:off x="7873308" y="5336381"/>
            <a:ext cx="3547767" cy="371475"/>
          </a:xfrm>
          <a:prstGeom prst="rect">
            <a:avLst/>
          </a:prstGeom>
        </p:spPr>
        <p:txBody>
          <a:bodyPr anchor="t" rtlCol="false" tIns="0" lIns="0" bIns="0" rIns="0">
            <a:spAutoFit/>
          </a:bodyPr>
          <a:lstStyle/>
          <a:p>
            <a:pPr algn="l">
              <a:lnSpc>
                <a:spcPts val="2750"/>
              </a:lnSpc>
            </a:pPr>
            <a:r>
              <a:rPr lang="en-US" sz="2187" b="true">
                <a:solidFill>
                  <a:srgbClr val="D7D4CC"/>
                </a:solidFill>
                <a:latin typeface="Comfortaa Bold"/>
                <a:ea typeface="Comfortaa Bold"/>
                <a:cs typeface="Comfortaa Bold"/>
                <a:sym typeface="Comfortaa Bold"/>
              </a:rPr>
              <a:t>Mathematical Induction</a:t>
            </a:r>
          </a:p>
        </p:txBody>
      </p:sp>
      <p:sp>
        <p:nvSpPr>
          <p:cNvPr name="TextBox 14" id="14"/>
          <p:cNvSpPr txBox="true"/>
          <p:nvPr/>
        </p:nvSpPr>
        <p:spPr>
          <a:xfrm rot="0">
            <a:off x="7873308" y="5771998"/>
            <a:ext cx="4582716" cy="1246880"/>
          </a:xfrm>
          <a:prstGeom prst="rect">
            <a:avLst/>
          </a:prstGeom>
        </p:spPr>
        <p:txBody>
          <a:bodyPr anchor="t" rtlCol="false" tIns="0" lIns="0" bIns="0" rIns="0">
            <a:spAutoFit/>
          </a:bodyPr>
          <a:lstStyle/>
          <a:p>
            <a:pPr algn="l">
              <a:lnSpc>
                <a:spcPts val="3062"/>
              </a:lnSpc>
            </a:pPr>
            <a:r>
              <a:rPr lang="en-US" sz="1937" b="true">
                <a:solidFill>
                  <a:srgbClr val="D7D4CC"/>
                </a:solidFill>
                <a:latin typeface="Raleway Medium"/>
                <a:ea typeface="Raleway Medium"/>
                <a:cs typeface="Raleway Medium"/>
                <a:sym typeface="Raleway Medium"/>
              </a:rPr>
              <a:t>Base case, inductive step — used to prove recurrence solutions and loop invariants.</a:t>
            </a:r>
          </a:p>
        </p:txBody>
      </p:sp>
      <p:sp>
        <p:nvSpPr>
          <p:cNvPr name="TextBox 15" id="15"/>
          <p:cNvSpPr txBox="true"/>
          <p:nvPr/>
        </p:nvSpPr>
        <p:spPr>
          <a:xfrm rot="0">
            <a:off x="12689977" y="4692406"/>
            <a:ext cx="507654" cy="393497"/>
          </a:xfrm>
          <a:prstGeom prst="rect">
            <a:avLst/>
          </a:prstGeom>
        </p:spPr>
        <p:txBody>
          <a:bodyPr anchor="t" rtlCol="false" tIns="0" lIns="0" bIns="0" rIns="0">
            <a:spAutoFit/>
          </a:bodyPr>
          <a:lstStyle/>
          <a:p>
            <a:pPr algn="l">
              <a:lnSpc>
                <a:spcPts val="3062"/>
              </a:lnSpc>
            </a:pPr>
            <a:r>
              <a:rPr lang="en-US" sz="1937">
                <a:solidFill>
                  <a:srgbClr val="D7D4CC"/>
                </a:solidFill>
                <a:latin typeface="Comfortaa Light"/>
                <a:ea typeface="Comfortaa Light"/>
                <a:cs typeface="Comfortaa Light"/>
                <a:sym typeface="Comfortaa Light"/>
              </a:rPr>
              <a:t>02</a:t>
            </a:r>
          </a:p>
        </p:txBody>
      </p:sp>
      <p:grpSp>
        <p:nvGrpSpPr>
          <p:cNvPr name="Group 16" id="16"/>
          <p:cNvGrpSpPr/>
          <p:nvPr/>
        </p:nvGrpSpPr>
        <p:grpSpPr>
          <a:xfrm rot="0">
            <a:off x="12689977" y="5171484"/>
            <a:ext cx="4582716" cy="28575"/>
            <a:chOff x="0" y="0"/>
            <a:chExt cx="6110288" cy="38100"/>
          </a:xfrm>
        </p:grpSpPr>
        <p:sp>
          <p:nvSpPr>
            <p:cNvPr name="Freeform 17" id="17"/>
            <p:cNvSpPr/>
            <p:nvPr/>
          </p:nvSpPr>
          <p:spPr>
            <a:xfrm flipH="false" flipV="false" rot="0">
              <a:off x="0" y="0"/>
              <a:ext cx="6110351" cy="38100"/>
            </a:xfrm>
            <a:custGeom>
              <a:avLst/>
              <a:gdLst/>
              <a:ahLst/>
              <a:cxnLst/>
              <a:rect r="r" b="b" t="t" l="l"/>
              <a:pathLst>
                <a:path h="38100" w="6110351">
                  <a:moveTo>
                    <a:pt x="0" y="0"/>
                  </a:moveTo>
                  <a:lnTo>
                    <a:pt x="6110351" y="0"/>
                  </a:lnTo>
                  <a:lnTo>
                    <a:pt x="6110351" y="38100"/>
                  </a:lnTo>
                  <a:lnTo>
                    <a:pt x="0" y="38100"/>
                  </a:lnTo>
                  <a:close/>
                </a:path>
              </a:pathLst>
            </a:custGeom>
            <a:solidFill>
              <a:srgbClr val="FFE14D"/>
            </a:solidFill>
          </p:spPr>
        </p:sp>
      </p:grpSp>
      <p:sp>
        <p:nvSpPr>
          <p:cNvPr name="TextBox 18" id="18"/>
          <p:cNvSpPr txBox="true"/>
          <p:nvPr/>
        </p:nvSpPr>
        <p:spPr>
          <a:xfrm rot="0">
            <a:off x="12689977" y="5336381"/>
            <a:ext cx="2820591" cy="371475"/>
          </a:xfrm>
          <a:prstGeom prst="rect">
            <a:avLst/>
          </a:prstGeom>
        </p:spPr>
        <p:txBody>
          <a:bodyPr anchor="t" rtlCol="false" tIns="0" lIns="0" bIns="0" rIns="0">
            <a:spAutoFit/>
          </a:bodyPr>
          <a:lstStyle/>
          <a:p>
            <a:pPr algn="l">
              <a:lnSpc>
                <a:spcPts val="2750"/>
              </a:lnSpc>
            </a:pPr>
            <a:r>
              <a:rPr lang="en-US" sz="2187" b="true">
                <a:solidFill>
                  <a:srgbClr val="D7D4CC"/>
                </a:solidFill>
                <a:latin typeface="Comfortaa Bold"/>
                <a:ea typeface="Comfortaa Bold"/>
                <a:cs typeface="Comfortaa Bold"/>
                <a:sym typeface="Comfortaa Bold"/>
              </a:rPr>
              <a:t>Direct Proof</a:t>
            </a:r>
          </a:p>
        </p:txBody>
      </p:sp>
      <p:sp>
        <p:nvSpPr>
          <p:cNvPr name="TextBox 19" id="19"/>
          <p:cNvSpPr txBox="true"/>
          <p:nvPr/>
        </p:nvSpPr>
        <p:spPr>
          <a:xfrm rot="0">
            <a:off x="12689977" y="5771998"/>
            <a:ext cx="4582716" cy="1246880"/>
          </a:xfrm>
          <a:prstGeom prst="rect">
            <a:avLst/>
          </a:prstGeom>
        </p:spPr>
        <p:txBody>
          <a:bodyPr anchor="t" rtlCol="false" tIns="0" lIns="0" bIns="0" rIns="0">
            <a:spAutoFit/>
          </a:bodyPr>
          <a:lstStyle/>
          <a:p>
            <a:pPr algn="l">
              <a:lnSpc>
                <a:spcPts val="3062"/>
              </a:lnSpc>
            </a:pPr>
            <a:r>
              <a:rPr lang="en-US" sz="1937" b="true">
                <a:solidFill>
                  <a:srgbClr val="D7D4CC"/>
                </a:solidFill>
                <a:latin typeface="Raleway Medium"/>
                <a:ea typeface="Raleway Medium"/>
                <a:cs typeface="Raleway Medium"/>
                <a:sym typeface="Raleway Medium"/>
              </a:rPr>
              <a:t>Logical deduction from assumptions to conclusion; common in algorithm analysis.</a:t>
            </a:r>
          </a:p>
        </p:txBody>
      </p:sp>
      <p:sp>
        <p:nvSpPr>
          <p:cNvPr name="TextBox 20" id="20"/>
          <p:cNvSpPr txBox="true"/>
          <p:nvPr/>
        </p:nvSpPr>
        <p:spPr>
          <a:xfrm rot="0">
            <a:off x="7873308" y="7366997"/>
            <a:ext cx="507654" cy="393497"/>
          </a:xfrm>
          <a:prstGeom prst="rect">
            <a:avLst/>
          </a:prstGeom>
        </p:spPr>
        <p:txBody>
          <a:bodyPr anchor="t" rtlCol="false" tIns="0" lIns="0" bIns="0" rIns="0">
            <a:spAutoFit/>
          </a:bodyPr>
          <a:lstStyle/>
          <a:p>
            <a:pPr algn="l">
              <a:lnSpc>
                <a:spcPts val="3062"/>
              </a:lnSpc>
            </a:pPr>
            <a:r>
              <a:rPr lang="en-US" sz="1937">
                <a:solidFill>
                  <a:srgbClr val="D7D4CC"/>
                </a:solidFill>
                <a:latin typeface="Comfortaa Light"/>
                <a:ea typeface="Comfortaa Light"/>
                <a:cs typeface="Comfortaa Light"/>
                <a:sym typeface="Comfortaa Light"/>
              </a:rPr>
              <a:t>03</a:t>
            </a:r>
          </a:p>
        </p:txBody>
      </p:sp>
      <p:grpSp>
        <p:nvGrpSpPr>
          <p:cNvPr name="Group 21" id="21"/>
          <p:cNvGrpSpPr/>
          <p:nvPr/>
        </p:nvGrpSpPr>
        <p:grpSpPr>
          <a:xfrm rot="0">
            <a:off x="7873308" y="7846066"/>
            <a:ext cx="9399384" cy="28575"/>
            <a:chOff x="0" y="0"/>
            <a:chExt cx="12532512" cy="38100"/>
          </a:xfrm>
        </p:grpSpPr>
        <p:sp>
          <p:nvSpPr>
            <p:cNvPr name="Freeform 22" id="22"/>
            <p:cNvSpPr/>
            <p:nvPr/>
          </p:nvSpPr>
          <p:spPr>
            <a:xfrm flipH="false" flipV="false" rot="0">
              <a:off x="0" y="0"/>
              <a:ext cx="12532487" cy="38100"/>
            </a:xfrm>
            <a:custGeom>
              <a:avLst/>
              <a:gdLst/>
              <a:ahLst/>
              <a:cxnLst/>
              <a:rect r="r" b="b" t="t" l="l"/>
              <a:pathLst>
                <a:path h="38100" w="12532487">
                  <a:moveTo>
                    <a:pt x="0" y="0"/>
                  </a:moveTo>
                  <a:lnTo>
                    <a:pt x="12532487" y="0"/>
                  </a:lnTo>
                  <a:lnTo>
                    <a:pt x="12532487" y="38100"/>
                  </a:lnTo>
                  <a:lnTo>
                    <a:pt x="0" y="38100"/>
                  </a:lnTo>
                  <a:close/>
                </a:path>
              </a:pathLst>
            </a:custGeom>
            <a:solidFill>
              <a:srgbClr val="FFE14D"/>
            </a:solidFill>
          </p:spPr>
        </p:sp>
      </p:grpSp>
      <p:sp>
        <p:nvSpPr>
          <p:cNvPr name="TextBox 23" id="23"/>
          <p:cNvSpPr txBox="true"/>
          <p:nvPr/>
        </p:nvSpPr>
        <p:spPr>
          <a:xfrm rot="0">
            <a:off x="7873308" y="8010973"/>
            <a:ext cx="3346694" cy="371475"/>
          </a:xfrm>
          <a:prstGeom prst="rect">
            <a:avLst/>
          </a:prstGeom>
        </p:spPr>
        <p:txBody>
          <a:bodyPr anchor="t" rtlCol="false" tIns="0" lIns="0" bIns="0" rIns="0">
            <a:spAutoFit/>
          </a:bodyPr>
          <a:lstStyle/>
          <a:p>
            <a:pPr algn="l">
              <a:lnSpc>
                <a:spcPts val="2750"/>
              </a:lnSpc>
            </a:pPr>
            <a:r>
              <a:rPr lang="en-US" sz="2187" b="true">
                <a:solidFill>
                  <a:srgbClr val="D7D4CC"/>
                </a:solidFill>
                <a:latin typeface="Comfortaa Bold"/>
                <a:ea typeface="Comfortaa Bold"/>
                <a:cs typeface="Comfortaa Bold"/>
                <a:sym typeface="Comfortaa Bold"/>
              </a:rPr>
              <a:t>Proof by Contradiction</a:t>
            </a:r>
          </a:p>
        </p:txBody>
      </p:sp>
      <p:sp>
        <p:nvSpPr>
          <p:cNvPr name="TextBox 24" id="24"/>
          <p:cNvSpPr txBox="true"/>
          <p:nvPr/>
        </p:nvSpPr>
        <p:spPr>
          <a:xfrm rot="0">
            <a:off x="7873308" y="8446589"/>
            <a:ext cx="9399384" cy="856659"/>
          </a:xfrm>
          <a:prstGeom prst="rect">
            <a:avLst/>
          </a:prstGeom>
        </p:spPr>
        <p:txBody>
          <a:bodyPr anchor="t" rtlCol="false" tIns="0" lIns="0" bIns="0" rIns="0">
            <a:spAutoFit/>
          </a:bodyPr>
          <a:lstStyle/>
          <a:p>
            <a:pPr algn="l">
              <a:lnSpc>
                <a:spcPts val="3062"/>
              </a:lnSpc>
            </a:pPr>
            <a:r>
              <a:rPr lang="en-US" sz="1937" b="true">
                <a:solidFill>
                  <a:srgbClr val="D7D4CC"/>
                </a:solidFill>
                <a:latin typeface="Raleway Medium"/>
                <a:ea typeface="Raleway Medium"/>
                <a:cs typeface="Raleway Medium"/>
                <a:sym typeface="Raleway Medium"/>
              </a:rPr>
              <a:t>Assume the negation and derive an impossibility — useful for impossibility and lower-bound proofs.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6" id="6"/>
          <p:cNvSpPr txBox="true"/>
          <p:nvPr/>
        </p:nvSpPr>
        <p:spPr>
          <a:xfrm rot="0">
            <a:off x="1101328" y="903084"/>
            <a:ext cx="13477427" cy="793547"/>
          </a:xfrm>
          <a:prstGeom prst="rect">
            <a:avLst/>
          </a:prstGeom>
        </p:spPr>
        <p:txBody>
          <a:bodyPr anchor="t" rtlCol="false" tIns="0" lIns="0" bIns="0" rIns="0">
            <a:spAutoFit/>
          </a:bodyPr>
          <a:lstStyle/>
          <a:p>
            <a:pPr algn="l">
              <a:lnSpc>
                <a:spcPts val="6000"/>
              </a:lnSpc>
            </a:pPr>
            <a:r>
              <a:rPr lang="en-US" sz="4812" b="true">
                <a:solidFill>
                  <a:srgbClr val="FFE14D"/>
                </a:solidFill>
                <a:latin typeface="Comfortaa Bold"/>
                <a:ea typeface="Comfortaa Bold"/>
                <a:cs typeface="Comfortaa Bold"/>
                <a:sym typeface="Comfortaa Bold"/>
              </a:rPr>
              <a:t>Counting the Digital World: Combinatorics</a:t>
            </a:r>
          </a:p>
        </p:txBody>
      </p:sp>
      <p:sp>
        <p:nvSpPr>
          <p:cNvPr name="TextBox 7" id="7"/>
          <p:cNvSpPr txBox="true"/>
          <p:nvPr/>
        </p:nvSpPr>
        <p:spPr>
          <a:xfrm rot="0">
            <a:off x="1101328" y="2142534"/>
            <a:ext cx="16085344" cy="1866900"/>
          </a:xfrm>
          <a:prstGeom prst="rect">
            <a:avLst/>
          </a:prstGeom>
        </p:spPr>
        <p:txBody>
          <a:bodyPr anchor="t" rtlCol="false" tIns="0" lIns="0" bIns="0" rIns="0">
            <a:spAutoFit/>
          </a:bodyPr>
          <a:lstStyle/>
          <a:p>
            <a:pPr algn="l">
              <a:lnSpc>
                <a:spcPts val="3437"/>
              </a:lnSpc>
            </a:pPr>
            <a:r>
              <a:rPr lang="en-US" sz="2125" b="true">
                <a:solidFill>
                  <a:srgbClr val="D7D4CC"/>
                </a:solidFill>
                <a:latin typeface="Raleway Medium"/>
                <a:ea typeface="Raleway Medium"/>
                <a:cs typeface="Raleway Medium"/>
                <a:sym typeface="Raleway Medium"/>
              </a:rPr>
              <a:t>     Combinatorics provides methods to count possibilities: permutations for ordered arrangements, combinations for selections, and the inclusion–exclusion principle for overlapping sets. These techniques are indispensable in probability, complexity analysis, hashing design, and resource allocation where precise counts shape algorithmic choices and guarantees.   </a:t>
            </a:r>
          </a:p>
        </p:txBody>
      </p:sp>
      <p:grpSp>
        <p:nvGrpSpPr>
          <p:cNvPr name="Group 8" id="8"/>
          <p:cNvGrpSpPr/>
          <p:nvPr/>
        </p:nvGrpSpPr>
        <p:grpSpPr>
          <a:xfrm rot="0">
            <a:off x="1101328" y="4319140"/>
            <a:ext cx="2258168" cy="2822677"/>
            <a:chOff x="0" y="0"/>
            <a:chExt cx="3010891" cy="3763569"/>
          </a:xfrm>
        </p:grpSpPr>
        <p:sp>
          <p:nvSpPr>
            <p:cNvPr name="Freeform 9" id="9" descr="preencoded.png"/>
            <p:cNvSpPr/>
            <p:nvPr/>
          </p:nvSpPr>
          <p:spPr>
            <a:xfrm flipH="false" flipV="false" rot="0">
              <a:off x="0" y="0"/>
              <a:ext cx="3010916" cy="3763518"/>
            </a:xfrm>
            <a:custGeom>
              <a:avLst/>
              <a:gdLst/>
              <a:ahLst/>
              <a:cxnLst/>
              <a:rect r="r" b="b" t="t" l="l"/>
              <a:pathLst>
                <a:path h="3763518" w="3010916">
                  <a:moveTo>
                    <a:pt x="0" y="0"/>
                  </a:moveTo>
                  <a:lnTo>
                    <a:pt x="3010916" y="0"/>
                  </a:lnTo>
                  <a:lnTo>
                    <a:pt x="3010916" y="3763518"/>
                  </a:lnTo>
                  <a:lnTo>
                    <a:pt x="0" y="3763518"/>
                  </a:lnTo>
                  <a:lnTo>
                    <a:pt x="0" y="0"/>
                  </a:lnTo>
                  <a:close/>
                </a:path>
              </a:pathLst>
            </a:custGeom>
            <a:blipFill>
              <a:blip r:embed="rId3"/>
              <a:stretch>
                <a:fillRect l="-41" t="0" r="-40" b="-1"/>
              </a:stretch>
            </a:blipFill>
          </p:spPr>
        </p:sp>
      </p:grpSp>
      <p:sp>
        <p:nvSpPr>
          <p:cNvPr name="TextBox 10" id="10"/>
          <p:cNvSpPr txBox="true"/>
          <p:nvPr/>
        </p:nvSpPr>
        <p:spPr>
          <a:xfrm rot="0">
            <a:off x="1101328" y="7457332"/>
            <a:ext cx="3059611" cy="411061"/>
          </a:xfrm>
          <a:prstGeom prst="rect">
            <a:avLst/>
          </a:prstGeom>
        </p:spPr>
        <p:txBody>
          <a:bodyPr anchor="t" rtlCol="false" tIns="0" lIns="0" bIns="0" rIns="0">
            <a:spAutoFit/>
          </a:bodyPr>
          <a:lstStyle/>
          <a:p>
            <a:pPr algn="l">
              <a:lnSpc>
                <a:spcPts val="3000"/>
              </a:lnSpc>
            </a:pPr>
            <a:r>
              <a:rPr lang="en-US" sz="2375" b="true">
                <a:solidFill>
                  <a:srgbClr val="D7D4CC"/>
                </a:solidFill>
                <a:latin typeface="Comfortaa Bold"/>
                <a:ea typeface="Comfortaa Bold"/>
                <a:cs typeface="Comfortaa Bold"/>
                <a:sym typeface="Comfortaa Bold"/>
              </a:rPr>
              <a:t>Permutations</a:t>
            </a:r>
          </a:p>
        </p:txBody>
      </p:sp>
      <p:sp>
        <p:nvSpPr>
          <p:cNvPr name="TextBox 11" id="11"/>
          <p:cNvSpPr txBox="true"/>
          <p:nvPr/>
        </p:nvSpPr>
        <p:spPr>
          <a:xfrm rot="0">
            <a:off x="1101328" y="7928820"/>
            <a:ext cx="5132337" cy="1426369"/>
          </a:xfrm>
          <a:prstGeom prst="rect">
            <a:avLst/>
          </a:prstGeom>
        </p:spPr>
        <p:txBody>
          <a:bodyPr anchor="t" rtlCol="false" tIns="0" lIns="0" bIns="0" rIns="0">
            <a:spAutoFit/>
          </a:bodyPr>
          <a:lstStyle/>
          <a:p>
            <a:pPr algn="l">
              <a:lnSpc>
                <a:spcPts val="3437"/>
              </a:lnSpc>
            </a:pPr>
            <a:r>
              <a:rPr lang="en-US" sz="2125" b="true">
                <a:solidFill>
                  <a:srgbClr val="D7D4CC"/>
                </a:solidFill>
                <a:latin typeface="Raleway Medium"/>
                <a:ea typeface="Raleway Medium"/>
                <a:cs typeface="Raleway Medium"/>
                <a:sym typeface="Raleway Medium"/>
              </a:rPr>
              <a:t>Count arrangements where order matters — critical for scheduling and cryptographic keys.</a:t>
            </a:r>
          </a:p>
        </p:txBody>
      </p:sp>
      <p:grpSp>
        <p:nvGrpSpPr>
          <p:cNvPr name="Group 12" id="12"/>
          <p:cNvGrpSpPr/>
          <p:nvPr/>
        </p:nvGrpSpPr>
        <p:grpSpPr>
          <a:xfrm rot="0">
            <a:off x="6577755" y="4319140"/>
            <a:ext cx="2258168" cy="2822677"/>
            <a:chOff x="0" y="0"/>
            <a:chExt cx="3010891" cy="3763569"/>
          </a:xfrm>
        </p:grpSpPr>
        <p:sp>
          <p:nvSpPr>
            <p:cNvPr name="Freeform 13" id="13" descr="preencoded.png"/>
            <p:cNvSpPr/>
            <p:nvPr/>
          </p:nvSpPr>
          <p:spPr>
            <a:xfrm flipH="false" flipV="false" rot="0">
              <a:off x="0" y="0"/>
              <a:ext cx="3010916" cy="3763518"/>
            </a:xfrm>
            <a:custGeom>
              <a:avLst/>
              <a:gdLst/>
              <a:ahLst/>
              <a:cxnLst/>
              <a:rect r="r" b="b" t="t" l="l"/>
              <a:pathLst>
                <a:path h="3763518" w="3010916">
                  <a:moveTo>
                    <a:pt x="0" y="0"/>
                  </a:moveTo>
                  <a:lnTo>
                    <a:pt x="3010916" y="0"/>
                  </a:lnTo>
                  <a:lnTo>
                    <a:pt x="3010916" y="3763518"/>
                  </a:lnTo>
                  <a:lnTo>
                    <a:pt x="0" y="3763518"/>
                  </a:lnTo>
                  <a:lnTo>
                    <a:pt x="0" y="0"/>
                  </a:lnTo>
                  <a:close/>
                </a:path>
              </a:pathLst>
            </a:custGeom>
            <a:blipFill>
              <a:blip r:embed="rId4"/>
              <a:stretch>
                <a:fillRect l="-41" t="0" r="-40" b="-1"/>
              </a:stretch>
            </a:blipFill>
          </p:spPr>
        </p:sp>
      </p:grpSp>
      <p:sp>
        <p:nvSpPr>
          <p:cNvPr name="TextBox 14" id="14"/>
          <p:cNvSpPr txBox="true"/>
          <p:nvPr/>
        </p:nvSpPr>
        <p:spPr>
          <a:xfrm rot="0">
            <a:off x="6577755" y="7457332"/>
            <a:ext cx="3059611" cy="411061"/>
          </a:xfrm>
          <a:prstGeom prst="rect">
            <a:avLst/>
          </a:prstGeom>
        </p:spPr>
        <p:txBody>
          <a:bodyPr anchor="t" rtlCol="false" tIns="0" lIns="0" bIns="0" rIns="0">
            <a:spAutoFit/>
          </a:bodyPr>
          <a:lstStyle/>
          <a:p>
            <a:pPr algn="l">
              <a:lnSpc>
                <a:spcPts val="3000"/>
              </a:lnSpc>
            </a:pPr>
            <a:r>
              <a:rPr lang="en-US" sz="2375" b="true">
                <a:solidFill>
                  <a:srgbClr val="D7D4CC"/>
                </a:solidFill>
                <a:latin typeface="Comfortaa Bold"/>
                <a:ea typeface="Comfortaa Bold"/>
                <a:cs typeface="Comfortaa Bold"/>
                <a:sym typeface="Comfortaa Bold"/>
              </a:rPr>
              <a:t>Combinations</a:t>
            </a:r>
          </a:p>
        </p:txBody>
      </p:sp>
      <p:sp>
        <p:nvSpPr>
          <p:cNvPr name="TextBox 15" id="15"/>
          <p:cNvSpPr txBox="true"/>
          <p:nvPr/>
        </p:nvSpPr>
        <p:spPr>
          <a:xfrm rot="0">
            <a:off x="6577755" y="7928820"/>
            <a:ext cx="5132337" cy="1426369"/>
          </a:xfrm>
          <a:prstGeom prst="rect">
            <a:avLst/>
          </a:prstGeom>
        </p:spPr>
        <p:txBody>
          <a:bodyPr anchor="t" rtlCol="false" tIns="0" lIns="0" bIns="0" rIns="0">
            <a:spAutoFit/>
          </a:bodyPr>
          <a:lstStyle/>
          <a:p>
            <a:pPr algn="l">
              <a:lnSpc>
                <a:spcPts val="3437"/>
              </a:lnSpc>
            </a:pPr>
            <a:r>
              <a:rPr lang="en-US" sz="2125" b="true">
                <a:solidFill>
                  <a:srgbClr val="D7D4CC"/>
                </a:solidFill>
                <a:latin typeface="Raleway Medium"/>
                <a:ea typeface="Raleway Medium"/>
                <a:cs typeface="Raleway Medium"/>
                <a:sym typeface="Raleway Medium"/>
              </a:rPr>
              <a:t>Count selections where order doesn't matter — used in sampling and probability.</a:t>
            </a:r>
          </a:p>
        </p:txBody>
      </p:sp>
      <p:grpSp>
        <p:nvGrpSpPr>
          <p:cNvPr name="Group 16" id="16"/>
          <p:cNvGrpSpPr/>
          <p:nvPr/>
        </p:nvGrpSpPr>
        <p:grpSpPr>
          <a:xfrm rot="0">
            <a:off x="12054183" y="4319140"/>
            <a:ext cx="2258168" cy="2822677"/>
            <a:chOff x="0" y="0"/>
            <a:chExt cx="3010891" cy="3763569"/>
          </a:xfrm>
        </p:grpSpPr>
        <p:sp>
          <p:nvSpPr>
            <p:cNvPr name="Freeform 17" id="17" descr="preencoded.png"/>
            <p:cNvSpPr/>
            <p:nvPr/>
          </p:nvSpPr>
          <p:spPr>
            <a:xfrm flipH="false" flipV="false" rot="0">
              <a:off x="0" y="0"/>
              <a:ext cx="3010916" cy="3763518"/>
            </a:xfrm>
            <a:custGeom>
              <a:avLst/>
              <a:gdLst/>
              <a:ahLst/>
              <a:cxnLst/>
              <a:rect r="r" b="b" t="t" l="l"/>
              <a:pathLst>
                <a:path h="3763518" w="3010916">
                  <a:moveTo>
                    <a:pt x="0" y="0"/>
                  </a:moveTo>
                  <a:lnTo>
                    <a:pt x="3010916" y="0"/>
                  </a:lnTo>
                  <a:lnTo>
                    <a:pt x="3010916" y="3763518"/>
                  </a:lnTo>
                  <a:lnTo>
                    <a:pt x="0" y="3763518"/>
                  </a:lnTo>
                  <a:lnTo>
                    <a:pt x="0" y="0"/>
                  </a:lnTo>
                  <a:close/>
                </a:path>
              </a:pathLst>
            </a:custGeom>
            <a:blipFill>
              <a:blip r:embed="rId5"/>
              <a:stretch>
                <a:fillRect l="-41" t="0" r="-40" b="-1"/>
              </a:stretch>
            </a:blipFill>
          </p:spPr>
        </p:sp>
      </p:grpSp>
      <p:sp>
        <p:nvSpPr>
          <p:cNvPr name="TextBox 18" id="18"/>
          <p:cNvSpPr txBox="true"/>
          <p:nvPr/>
        </p:nvSpPr>
        <p:spPr>
          <a:xfrm rot="0">
            <a:off x="12054183" y="7457332"/>
            <a:ext cx="3096368" cy="411061"/>
          </a:xfrm>
          <a:prstGeom prst="rect">
            <a:avLst/>
          </a:prstGeom>
        </p:spPr>
        <p:txBody>
          <a:bodyPr anchor="t" rtlCol="false" tIns="0" lIns="0" bIns="0" rIns="0">
            <a:spAutoFit/>
          </a:bodyPr>
          <a:lstStyle/>
          <a:p>
            <a:pPr algn="l">
              <a:lnSpc>
                <a:spcPts val="3000"/>
              </a:lnSpc>
            </a:pPr>
            <a:r>
              <a:rPr lang="en-US" sz="2375" b="true">
                <a:solidFill>
                  <a:srgbClr val="D7D4CC"/>
                </a:solidFill>
                <a:latin typeface="Comfortaa Bold"/>
                <a:ea typeface="Comfortaa Bold"/>
                <a:cs typeface="Comfortaa Bold"/>
                <a:sym typeface="Comfortaa Bold"/>
              </a:rPr>
              <a:t>Inclusion–Exclusion</a:t>
            </a:r>
          </a:p>
        </p:txBody>
      </p:sp>
      <p:sp>
        <p:nvSpPr>
          <p:cNvPr name="TextBox 19" id="19"/>
          <p:cNvSpPr txBox="true"/>
          <p:nvPr/>
        </p:nvSpPr>
        <p:spPr>
          <a:xfrm rot="0">
            <a:off x="12054183" y="7928820"/>
            <a:ext cx="5132489" cy="1426369"/>
          </a:xfrm>
          <a:prstGeom prst="rect">
            <a:avLst/>
          </a:prstGeom>
        </p:spPr>
        <p:txBody>
          <a:bodyPr anchor="t" rtlCol="false" tIns="0" lIns="0" bIns="0" rIns="0">
            <a:spAutoFit/>
          </a:bodyPr>
          <a:lstStyle/>
          <a:p>
            <a:pPr algn="l">
              <a:lnSpc>
                <a:spcPts val="3437"/>
              </a:lnSpc>
            </a:pPr>
            <a:r>
              <a:rPr lang="en-US" sz="2125" b="true">
                <a:solidFill>
                  <a:srgbClr val="D7D4CC"/>
                </a:solidFill>
                <a:latin typeface="Raleway Medium"/>
                <a:ea typeface="Raleway Medium"/>
                <a:cs typeface="Raleway Medium"/>
                <a:sym typeface="Raleway Medium"/>
              </a:rPr>
              <a:t>Correctly counts elements across overlapping categories — avoids double counting.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894902" y="794747"/>
            <a:ext cx="9640195" cy="1262062"/>
          </a:xfrm>
          <a:prstGeom prst="rect">
            <a:avLst/>
          </a:prstGeom>
        </p:spPr>
        <p:txBody>
          <a:bodyPr anchor="t" rtlCol="false" tIns="0" lIns="0" bIns="0" rIns="0">
            <a:spAutoFit/>
          </a:bodyPr>
          <a:lstStyle/>
          <a:p>
            <a:pPr algn="l">
              <a:lnSpc>
                <a:spcPts val="4875"/>
              </a:lnSpc>
            </a:pPr>
            <a:r>
              <a:rPr lang="en-US" sz="3875" b="true">
                <a:solidFill>
                  <a:srgbClr val="FFE14D"/>
                </a:solidFill>
                <a:latin typeface="Comfortaa Bold"/>
                <a:ea typeface="Comfortaa Bold"/>
                <a:cs typeface="Comfortaa Bold"/>
                <a:sym typeface="Comfortaa Bold"/>
              </a:rPr>
              <a:t>Structures for Data and Relationships: Graphs and Trees</a:t>
            </a:r>
          </a:p>
        </p:txBody>
      </p:sp>
      <p:sp>
        <p:nvSpPr>
          <p:cNvPr name="TextBox 11" id="11"/>
          <p:cNvSpPr txBox="true"/>
          <p:nvPr/>
        </p:nvSpPr>
        <p:spPr>
          <a:xfrm rot="0">
            <a:off x="894902" y="2291353"/>
            <a:ext cx="9640195" cy="1335291"/>
          </a:xfrm>
          <a:prstGeom prst="rect">
            <a:avLst/>
          </a:prstGeom>
        </p:spPr>
        <p:txBody>
          <a:bodyPr anchor="t" rtlCol="false" tIns="0" lIns="0" bIns="0" rIns="0">
            <a:spAutoFit/>
          </a:bodyPr>
          <a:lstStyle/>
          <a:p>
            <a:pPr algn="l">
              <a:lnSpc>
                <a:spcPts val="2499"/>
              </a:lnSpc>
            </a:pPr>
            <a:r>
              <a:rPr lang="en-US" sz="1750" b="true">
                <a:solidFill>
                  <a:srgbClr val="D7D4CC"/>
                </a:solidFill>
                <a:latin typeface="Raleway Medium"/>
                <a:ea typeface="Raleway Medium"/>
                <a:cs typeface="Raleway Medium"/>
                <a:sym typeface="Raleway Medium"/>
              </a:rPr>
              <a:t>     Graphs model pairwise relationships; trees are acyclic graphs used for hierarchies. Graph theory provides algorithms for shortest paths, connectivity, matching and flow — directly applied to routing, network resilience and optimisation. Trees underpin file systems, search structures (BSTs, heaps), and parsers used throughout computing systems.   </a:t>
            </a:r>
          </a:p>
        </p:txBody>
      </p:sp>
      <p:sp>
        <p:nvSpPr>
          <p:cNvPr name="Freeform 12" id="12" descr="preencoded.png"/>
          <p:cNvSpPr/>
          <p:nvPr/>
        </p:nvSpPr>
        <p:spPr>
          <a:xfrm flipH="false" flipV="false" rot="0">
            <a:off x="894902" y="3831136"/>
            <a:ext cx="559298" cy="559298"/>
          </a:xfrm>
          <a:custGeom>
            <a:avLst/>
            <a:gdLst/>
            <a:ahLst/>
            <a:cxnLst/>
            <a:rect r="r" b="b" t="t" l="l"/>
            <a:pathLst>
              <a:path h="559298" w="559298">
                <a:moveTo>
                  <a:pt x="0" y="0"/>
                </a:moveTo>
                <a:lnTo>
                  <a:pt x="559299" y="0"/>
                </a:lnTo>
                <a:lnTo>
                  <a:pt x="559299" y="559298"/>
                </a:lnTo>
                <a:lnTo>
                  <a:pt x="0" y="559298"/>
                </a:lnTo>
                <a:lnTo>
                  <a:pt x="0" y="0"/>
                </a:lnTo>
                <a:close/>
              </a:path>
            </a:pathLst>
          </a:custGeom>
          <a:blipFill>
            <a:blip r:embed="rId6">
              <a:extLst>
                <a:ext uri="{96DAC541-7B7A-43D3-8B79-37D633B846F1}">
                  <asvg:svgBlip xmlns:asvg="http://schemas.microsoft.com/office/drawing/2016/SVG/main" r:embed="rId7"/>
                </a:ext>
              </a:extLst>
            </a:blip>
            <a:stretch>
              <a:fillRect l="0" t="-25422" r="0" b="-25424"/>
            </a:stretch>
          </a:blipFill>
        </p:spPr>
      </p:sp>
      <p:sp>
        <p:nvSpPr>
          <p:cNvPr name="TextBox 13" id="13"/>
          <p:cNvSpPr txBox="true"/>
          <p:nvPr/>
        </p:nvSpPr>
        <p:spPr>
          <a:xfrm rot="0">
            <a:off x="894902" y="4598489"/>
            <a:ext cx="2533498" cy="329651"/>
          </a:xfrm>
          <a:prstGeom prst="rect">
            <a:avLst/>
          </a:prstGeom>
        </p:spPr>
        <p:txBody>
          <a:bodyPr anchor="t" rtlCol="false" tIns="0" lIns="0" bIns="0" rIns="0">
            <a:spAutoFit/>
          </a:bodyPr>
          <a:lstStyle/>
          <a:p>
            <a:pPr algn="l">
              <a:lnSpc>
                <a:spcPts val="2437"/>
              </a:lnSpc>
            </a:pPr>
            <a:r>
              <a:rPr lang="en-US" sz="1937" b="true">
                <a:solidFill>
                  <a:srgbClr val="D7D4CC"/>
                </a:solidFill>
                <a:latin typeface="Comfortaa Bold"/>
                <a:ea typeface="Comfortaa Bold"/>
                <a:cs typeface="Comfortaa Bold"/>
                <a:sym typeface="Comfortaa Bold"/>
              </a:rPr>
              <a:t>Routing &amp; Networks</a:t>
            </a:r>
          </a:p>
        </p:txBody>
      </p:sp>
      <p:sp>
        <p:nvSpPr>
          <p:cNvPr name="TextBox 14" id="14"/>
          <p:cNvSpPr txBox="true"/>
          <p:nvPr/>
        </p:nvSpPr>
        <p:spPr>
          <a:xfrm rot="0">
            <a:off x="894902" y="4998987"/>
            <a:ext cx="9640195" cy="362398"/>
          </a:xfrm>
          <a:prstGeom prst="rect">
            <a:avLst/>
          </a:prstGeom>
        </p:spPr>
        <p:txBody>
          <a:bodyPr anchor="t" rtlCol="false" tIns="0" lIns="0" bIns="0" rIns="0">
            <a:spAutoFit/>
          </a:bodyPr>
          <a:lstStyle/>
          <a:p>
            <a:pPr algn="l">
              <a:lnSpc>
                <a:spcPts val="2499"/>
              </a:lnSpc>
            </a:pPr>
            <a:r>
              <a:rPr lang="en-US" sz="1750" b="true">
                <a:solidFill>
                  <a:srgbClr val="D7D4CC"/>
                </a:solidFill>
                <a:latin typeface="Raleway Medium"/>
                <a:ea typeface="Raleway Medium"/>
                <a:cs typeface="Raleway Medium"/>
                <a:sym typeface="Raleway Medium"/>
              </a:rPr>
              <a:t>Dijkstra, Bellman–Ford and spanning tree algorithms make networks efficient and reliable.</a:t>
            </a:r>
          </a:p>
        </p:txBody>
      </p:sp>
      <p:sp>
        <p:nvSpPr>
          <p:cNvPr name="Freeform 15" id="15" descr="preencoded.png"/>
          <p:cNvSpPr/>
          <p:nvPr/>
        </p:nvSpPr>
        <p:spPr>
          <a:xfrm flipH="false" flipV="false" rot="0">
            <a:off x="894902" y="5724820"/>
            <a:ext cx="559298" cy="559298"/>
          </a:xfrm>
          <a:custGeom>
            <a:avLst/>
            <a:gdLst/>
            <a:ahLst/>
            <a:cxnLst/>
            <a:rect r="r" b="b" t="t" l="l"/>
            <a:pathLst>
              <a:path h="559298" w="559298">
                <a:moveTo>
                  <a:pt x="0" y="0"/>
                </a:moveTo>
                <a:lnTo>
                  <a:pt x="559299" y="0"/>
                </a:lnTo>
                <a:lnTo>
                  <a:pt x="559299" y="559299"/>
                </a:lnTo>
                <a:lnTo>
                  <a:pt x="0" y="559299"/>
                </a:lnTo>
                <a:lnTo>
                  <a:pt x="0" y="0"/>
                </a:lnTo>
                <a:close/>
              </a:path>
            </a:pathLst>
          </a:custGeom>
          <a:blipFill>
            <a:blip r:embed="rId8">
              <a:extLst>
                <a:ext uri="{96DAC541-7B7A-43D3-8B79-37D633B846F1}">
                  <asvg:svgBlip xmlns:asvg="http://schemas.microsoft.com/office/drawing/2016/SVG/main" r:embed="rId9"/>
                </a:ext>
              </a:extLst>
            </a:blip>
            <a:stretch>
              <a:fillRect l="-11016" t="0" r="-11016" b="0"/>
            </a:stretch>
          </a:blipFill>
        </p:spPr>
      </p:sp>
      <p:sp>
        <p:nvSpPr>
          <p:cNvPr name="TextBox 16" id="16"/>
          <p:cNvSpPr txBox="true"/>
          <p:nvPr/>
        </p:nvSpPr>
        <p:spPr>
          <a:xfrm rot="0">
            <a:off x="894902" y="6492183"/>
            <a:ext cx="2485873" cy="329651"/>
          </a:xfrm>
          <a:prstGeom prst="rect">
            <a:avLst/>
          </a:prstGeom>
        </p:spPr>
        <p:txBody>
          <a:bodyPr anchor="t" rtlCol="false" tIns="0" lIns="0" bIns="0" rIns="0">
            <a:spAutoFit/>
          </a:bodyPr>
          <a:lstStyle/>
          <a:p>
            <a:pPr algn="l">
              <a:lnSpc>
                <a:spcPts val="2437"/>
              </a:lnSpc>
            </a:pPr>
            <a:r>
              <a:rPr lang="en-US" sz="1937" b="true">
                <a:solidFill>
                  <a:srgbClr val="D7D4CC"/>
                </a:solidFill>
                <a:latin typeface="Comfortaa Bold"/>
                <a:ea typeface="Comfortaa Bold"/>
                <a:cs typeface="Comfortaa Bold"/>
                <a:sym typeface="Comfortaa Bold"/>
              </a:rPr>
              <a:t>Trees in Storage</a:t>
            </a:r>
          </a:p>
        </p:txBody>
      </p:sp>
      <p:sp>
        <p:nvSpPr>
          <p:cNvPr name="TextBox 17" id="17"/>
          <p:cNvSpPr txBox="true"/>
          <p:nvPr/>
        </p:nvSpPr>
        <p:spPr>
          <a:xfrm rot="0">
            <a:off x="894902" y="6892681"/>
            <a:ext cx="9640195" cy="362398"/>
          </a:xfrm>
          <a:prstGeom prst="rect">
            <a:avLst/>
          </a:prstGeom>
        </p:spPr>
        <p:txBody>
          <a:bodyPr anchor="t" rtlCol="false" tIns="0" lIns="0" bIns="0" rIns="0">
            <a:spAutoFit/>
          </a:bodyPr>
          <a:lstStyle/>
          <a:p>
            <a:pPr algn="l">
              <a:lnSpc>
                <a:spcPts val="2499"/>
              </a:lnSpc>
            </a:pPr>
            <a:r>
              <a:rPr lang="en-US" sz="1750" b="true">
                <a:solidFill>
                  <a:srgbClr val="D7D4CC"/>
                </a:solidFill>
                <a:latin typeface="Raleway Medium"/>
                <a:ea typeface="Raleway Medium"/>
                <a:cs typeface="Raleway Medium"/>
                <a:sym typeface="Raleway Medium"/>
              </a:rPr>
              <a:t>B-tree, AVL and red–black trees keep data balanced for fast searches and updates.</a:t>
            </a:r>
          </a:p>
        </p:txBody>
      </p:sp>
      <p:sp>
        <p:nvSpPr>
          <p:cNvPr name="Freeform 18" id="18" descr="preencoded.png"/>
          <p:cNvSpPr/>
          <p:nvPr/>
        </p:nvSpPr>
        <p:spPr>
          <a:xfrm flipH="false" flipV="false" rot="0">
            <a:off x="894902" y="7618514"/>
            <a:ext cx="559298" cy="559298"/>
          </a:xfrm>
          <a:custGeom>
            <a:avLst/>
            <a:gdLst/>
            <a:ahLst/>
            <a:cxnLst/>
            <a:rect r="r" b="b" t="t" l="l"/>
            <a:pathLst>
              <a:path h="559298" w="559298">
                <a:moveTo>
                  <a:pt x="0" y="0"/>
                </a:moveTo>
                <a:lnTo>
                  <a:pt x="559299" y="0"/>
                </a:lnTo>
                <a:lnTo>
                  <a:pt x="559299" y="559299"/>
                </a:lnTo>
                <a:lnTo>
                  <a:pt x="0" y="559299"/>
                </a:lnTo>
                <a:lnTo>
                  <a:pt x="0" y="0"/>
                </a:lnTo>
                <a:close/>
              </a:path>
            </a:pathLst>
          </a:custGeom>
          <a:blipFill>
            <a:blip r:embed="rId10">
              <a:extLst>
                <a:ext uri="{96DAC541-7B7A-43D3-8B79-37D633B846F1}">
                  <asvg:svgBlip xmlns:asvg="http://schemas.microsoft.com/office/drawing/2016/SVG/main" r:embed="rId11"/>
                </a:ext>
              </a:extLst>
            </a:blip>
            <a:stretch>
              <a:fillRect l="-3389" t="0" r="-3390" b="0"/>
            </a:stretch>
          </a:blipFill>
        </p:spPr>
      </p:sp>
      <p:sp>
        <p:nvSpPr>
          <p:cNvPr name="TextBox 19" id="19"/>
          <p:cNvSpPr txBox="true"/>
          <p:nvPr/>
        </p:nvSpPr>
        <p:spPr>
          <a:xfrm rot="0">
            <a:off x="894902" y="8385867"/>
            <a:ext cx="2485873" cy="329651"/>
          </a:xfrm>
          <a:prstGeom prst="rect">
            <a:avLst/>
          </a:prstGeom>
        </p:spPr>
        <p:txBody>
          <a:bodyPr anchor="t" rtlCol="false" tIns="0" lIns="0" bIns="0" rIns="0">
            <a:spAutoFit/>
          </a:bodyPr>
          <a:lstStyle/>
          <a:p>
            <a:pPr algn="l">
              <a:lnSpc>
                <a:spcPts val="2437"/>
              </a:lnSpc>
            </a:pPr>
            <a:r>
              <a:rPr lang="en-US" sz="1937" b="true">
                <a:solidFill>
                  <a:srgbClr val="D7D4CC"/>
                </a:solidFill>
                <a:latin typeface="Comfortaa Bold"/>
                <a:ea typeface="Comfortaa Bold"/>
                <a:cs typeface="Comfortaa Bold"/>
                <a:sym typeface="Comfortaa Bold"/>
              </a:rPr>
              <a:t>Graph Algorithms</a:t>
            </a:r>
          </a:p>
        </p:txBody>
      </p:sp>
      <p:sp>
        <p:nvSpPr>
          <p:cNvPr name="TextBox 20" id="20"/>
          <p:cNvSpPr txBox="true"/>
          <p:nvPr/>
        </p:nvSpPr>
        <p:spPr>
          <a:xfrm rot="0">
            <a:off x="894902" y="8786365"/>
            <a:ext cx="9640195" cy="686695"/>
          </a:xfrm>
          <a:prstGeom prst="rect">
            <a:avLst/>
          </a:prstGeom>
        </p:spPr>
        <p:txBody>
          <a:bodyPr anchor="t" rtlCol="false" tIns="0" lIns="0" bIns="0" rIns="0">
            <a:spAutoFit/>
          </a:bodyPr>
          <a:lstStyle/>
          <a:p>
            <a:pPr algn="l">
              <a:lnSpc>
                <a:spcPts val="2499"/>
              </a:lnSpc>
            </a:pPr>
            <a:r>
              <a:rPr lang="en-US" sz="1750" b="true">
                <a:solidFill>
                  <a:srgbClr val="D7D4CC"/>
                </a:solidFill>
                <a:latin typeface="Raleway Medium"/>
                <a:ea typeface="Raleway Medium"/>
                <a:cs typeface="Raleway Medium"/>
                <a:sym typeface="Raleway Medium"/>
              </a:rPr>
              <a:t>Matching, flow and connectivity algorithms solve optimisation, allocation and scheduling problems.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29278" y="698154"/>
            <a:ext cx="9571434" cy="1319213"/>
          </a:xfrm>
          <a:prstGeom prst="rect">
            <a:avLst/>
          </a:prstGeom>
        </p:spPr>
        <p:txBody>
          <a:bodyPr anchor="t" rtlCol="false" tIns="0" lIns="0" bIns="0" rIns="0">
            <a:spAutoFit/>
          </a:bodyPr>
          <a:lstStyle/>
          <a:p>
            <a:pPr algn="l">
              <a:lnSpc>
                <a:spcPts val="5062"/>
              </a:lnSpc>
            </a:pPr>
            <a:r>
              <a:rPr lang="en-US" sz="4062" b="true">
                <a:solidFill>
                  <a:srgbClr val="FFE14D"/>
                </a:solidFill>
                <a:latin typeface="Comfortaa Bold"/>
                <a:ea typeface="Comfortaa Bold"/>
                <a:cs typeface="Comfortaa Bold"/>
                <a:sym typeface="Comfortaa Bold"/>
              </a:rPr>
              <a:t>Algorithmic Thinking: Recurrence Relations &amp; Complexity</a:t>
            </a:r>
          </a:p>
        </p:txBody>
      </p:sp>
      <p:sp>
        <p:nvSpPr>
          <p:cNvPr name="TextBox 11" id="11"/>
          <p:cNvSpPr txBox="true"/>
          <p:nvPr/>
        </p:nvSpPr>
        <p:spPr>
          <a:xfrm rot="0">
            <a:off x="929278" y="2263673"/>
            <a:ext cx="9571434" cy="1760639"/>
          </a:xfrm>
          <a:prstGeom prst="rect">
            <a:avLst/>
          </a:prstGeom>
        </p:spPr>
        <p:txBody>
          <a:bodyPr anchor="t" rtlCol="false" tIns="0" lIns="0" bIns="0" rIns="0">
            <a:spAutoFit/>
          </a:bodyPr>
          <a:lstStyle/>
          <a:p>
            <a:pPr algn="l">
              <a:lnSpc>
                <a:spcPts val="2687"/>
              </a:lnSpc>
            </a:pPr>
            <a:r>
              <a:rPr lang="en-US" sz="1812" b="true">
                <a:solidFill>
                  <a:srgbClr val="D7D4CC"/>
                </a:solidFill>
                <a:latin typeface="Raleway Medium"/>
                <a:ea typeface="Raleway Medium"/>
                <a:cs typeface="Raleway Medium"/>
                <a:sym typeface="Raleway Medium"/>
              </a:rPr>
              <a:t>     Recurrence relations express the cost of recursive algorithms; solving them yields closed-form runtime estimates. Complexity analysis (Big O, Θ, Ω) categorises algorithms by growth rates, guiding selection and optimisation. Discrete mathematics gives rigorous tools — substitution, master theorem and asymptotic bounds — used to predict performance on large inputs.   </a:t>
            </a:r>
          </a:p>
        </p:txBody>
      </p:sp>
      <p:grpSp>
        <p:nvGrpSpPr>
          <p:cNvPr name="Group 12" id="12"/>
          <p:cNvGrpSpPr/>
          <p:nvPr/>
        </p:nvGrpSpPr>
        <p:grpSpPr>
          <a:xfrm rot="0">
            <a:off x="1999802" y="4244731"/>
            <a:ext cx="7430243" cy="4409923"/>
            <a:chOff x="0" y="0"/>
            <a:chExt cx="9906991" cy="5879897"/>
          </a:xfrm>
        </p:grpSpPr>
        <p:sp>
          <p:nvSpPr>
            <p:cNvPr name="Freeform 13" id="13" descr="preencoded.png"/>
            <p:cNvSpPr/>
            <p:nvPr/>
          </p:nvSpPr>
          <p:spPr>
            <a:xfrm flipH="false" flipV="false" rot="0">
              <a:off x="0" y="0"/>
              <a:ext cx="9907016" cy="5879846"/>
            </a:xfrm>
            <a:custGeom>
              <a:avLst/>
              <a:gdLst/>
              <a:ahLst/>
              <a:cxnLst/>
              <a:rect r="r" b="b" t="t" l="l"/>
              <a:pathLst>
                <a:path h="5879846" w="9907016">
                  <a:moveTo>
                    <a:pt x="0" y="0"/>
                  </a:moveTo>
                  <a:lnTo>
                    <a:pt x="9907016" y="0"/>
                  </a:lnTo>
                  <a:lnTo>
                    <a:pt x="9907016" y="5879846"/>
                  </a:lnTo>
                  <a:lnTo>
                    <a:pt x="0" y="5879846"/>
                  </a:lnTo>
                  <a:lnTo>
                    <a:pt x="0" y="0"/>
                  </a:lnTo>
                  <a:close/>
                </a:path>
              </a:pathLst>
            </a:custGeom>
            <a:blipFill>
              <a:blip r:embed="rId6"/>
              <a:stretch>
                <a:fillRect l="0" t="-6" r="0" b="-7"/>
              </a:stretch>
            </a:blipFill>
          </p:spPr>
        </p:sp>
      </p:grpSp>
      <p:sp>
        <p:nvSpPr>
          <p:cNvPr name="Freeform 14" id="14" descr="preencoded.png"/>
          <p:cNvSpPr/>
          <p:nvPr/>
        </p:nvSpPr>
        <p:spPr>
          <a:xfrm flipH="false" flipV="false" rot="0">
            <a:off x="7734938" y="5322589"/>
            <a:ext cx="632536" cy="632536"/>
          </a:xfrm>
          <a:custGeom>
            <a:avLst/>
            <a:gdLst/>
            <a:ahLst/>
            <a:cxnLst/>
            <a:rect r="r" b="b" t="t" l="l"/>
            <a:pathLst>
              <a:path h="632536" w="632536">
                <a:moveTo>
                  <a:pt x="0" y="0"/>
                </a:moveTo>
                <a:lnTo>
                  <a:pt x="632536" y="0"/>
                </a:lnTo>
                <a:lnTo>
                  <a:pt x="632536" y="632536"/>
                </a:lnTo>
                <a:lnTo>
                  <a:pt x="0" y="632536"/>
                </a:lnTo>
                <a:lnTo>
                  <a:pt x="0" y="0"/>
                </a:lnTo>
                <a:close/>
              </a:path>
            </a:pathLst>
          </a:custGeom>
          <a:blipFill>
            <a:blip r:embed="rId7">
              <a:extLst>
                <a:ext uri="{96DAC541-7B7A-43D3-8B79-37D633B846F1}">
                  <asvg:svgBlip xmlns:asvg="http://schemas.microsoft.com/office/drawing/2016/SVG/main" r:embed="rId8"/>
                </a:ext>
              </a:extLst>
            </a:blip>
            <a:stretch>
              <a:fillRect l="-4478" t="0" r="-4476" b="0"/>
            </a:stretch>
          </a:blipFill>
        </p:spPr>
      </p:sp>
      <p:sp>
        <p:nvSpPr>
          <p:cNvPr name="TextBox 15" id="15"/>
          <p:cNvSpPr txBox="true"/>
          <p:nvPr/>
        </p:nvSpPr>
        <p:spPr>
          <a:xfrm rot="0">
            <a:off x="7171382" y="7474325"/>
            <a:ext cx="1847012" cy="651586"/>
          </a:xfrm>
          <a:prstGeom prst="rect">
            <a:avLst/>
          </a:prstGeom>
        </p:spPr>
        <p:txBody>
          <a:bodyPr anchor="t" rtlCol="false" tIns="0" lIns="0" bIns="0" rIns="0">
            <a:spAutoFit/>
          </a:bodyPr>
          <a:lstStyle/>
          <a:p>
            <a:pPr algn="ctr">
              <a:lnSpc>
                <a:spcPts val="2437"/>
              </a:lnSpc>
            </a:pPr>
            <a:r>
              <a:rPr lang="en-US" sz="1937" b="true">
                <a:solidFill>
                  <a:srgbClr val="D7D4CC"/>
                </a:solidFill>
                <a:latin typeface="Comfortaa Bold"/>
                <a:ea typeface="Comfortaa Bold"/>
                <a:cs typeface="Comfortaa Bold"/>
                <a:sym typeface="Comfortaa Bold"/>
              </a:rPr>
              <a:t>Interpret Complexity</a:t>
            </a:r>
          </a:p>
        </p:txBody>
      </p:sp>
      <p:sp>
        <p:nvSpPr>
          <p:cNvPr name="Freeform 16" id="16" descr="preencoded.png"/>
          <p:cNvSpPr/>
          <p:nvPr/>
        </p:nvSpPr>
        <p:spPr>
          <a:xfrm flipH="false" flipV="false" rot="0">
            <a:off x="5419249" y="5323770"/>
            <a:ext cx="632536" cy="632536"/>
          </a:xfrm>
          <a:custGeom>
            <a:avLst/>
            <a:gdLst/>
            <a:ahLst/>
            <a:cxnLst/>
            <a:rect r="r" b="b" t="t" l="l"/>
            <a:pathLst>
              <a:path h="632536" w="632536">
                <a:moveTo>
                  <a:pt x="0" y="0"/>
                </a:moveTo>
                <a:lnTo>
                  <a:pt x="632536" y="0"/>
                </a:lnTo>
                <a:lnTo>
                  <a:pt x="632536" y="632536"/>
                </a:lnTo>
                <a:lnTo>
                  <a:pt x="0" y="632536"/>
                </a:lnTo>
                <a:lnTo>
                  <a:pt x="0" y="0"/>
                </a:lnTo>
                <a:close/>
              </a:path>
            </a:pathLst>
          </a:custGeom>
          <a:blipFill>
            <a:blip r:embed="rId9">
              <a:extLst>
                <a:ext uri="{96DAC541-7B7A-43D3-8B79-37D633B846F1}">
                  <asvg:svgBlip xmlns:asvg="http://schemas.microsoft.com/office/drawing/2016/SVG/main" r:embed="rId10"/>
                </a:ext>
              </a:extLst>
            </a:blip>
            <a:stretch>
              <a:fillRect l="0" t="-8955" r="0" b="-8955"/>
            </a:stretch>
          </a:blipFill>
        </p:spPr>
      </p:sp>
      <p:sp>
        <p:nvSpPr>
          <p:cNvPr name="TextBox 17" id="17"/>
          <p:cNvSpPr txBox="true"/>
          <p:nvPr/>
        </p:nvSpPr>
        <p:spPr>
          <a:xfrm rot="0">
            <a:off x="4843643" y="7474325"/>
            <a:ext cx="1847012" cy="651586"/>
          </a:xfrm>
          <a:prstGeom prst="rect">
            <a:avLst/>
          </a:prstGeom>
        </p:spPr>
        <p:txBody>
          <a:bodyPr anchor="t" rtlCol="false" tIns="0" lIns="0" bIns="0" rIns="0">
            <a:spAutoFit/>
          </a:bodyPr>
          <a:lstStyle/>
          <a:p>
            <a:pPr algn="ctr">
              <a:lnSpc>
                <a:spcPts val="2437"/>
              </a:lnSpc>
            </a:pPr>
            <a:r>
              <a:rPr lang="en-US" sz="1937" b="true">
                <a:solidFill>
                  <a:srgbClr val="D7D4CC"/>
                </a:solidFill>
                <a:latin typeface="Comfortaa Bold"/>
                <a:ea typeface="Comfortaa Bold"/>
                <a:cs typeface="Comfortaa Bold"/>
                <a:sym typeface="Comfortaa Bold"/>
              </a:rPr>
              <a:t>Solve Recurrence</a:t>
            </a:r>
          </a:p>
        </p:txBody>
      </p:sp>
      <p:sp>
        <p:nvSpPr>
          <p:cNvPr name="Freeform 18" id="18" descr="preencoded.png"/>
          <p:cNvSpPr/>
          <p:nvPr/>
        </p:nvSpPr>
        <p:spPr>
          <a:xfrm flipH="false" flipV="false" rot="0">
            <a:off x="3091510" y="5323770"/>
            <a:ext cx="632536" cy="632536"/>
          </a:xfrm>
          <a:custGeom>
            <a:avLst/>
            <a:gdLst/>
            <a:ahLst/>
            <a:cxnLst/>
            <a:rect r="r" b="b" t="t" l="l"/>
            <a:pathLst>
              <a:path h="632536" w="632536">
                <a:moveTo>
                  <a:pt x="0" y="0"/>
                </a:moveTo>
                <a:lnTo>
                  <a:pt x="632536" y="0"/>
                </a:lnTo>
                <a:lnTo>
                  <a:pt x="632536" y="632536"/>
                </a:lnTo>
                <a:lnTo>
                  <a:pt x="0" y="632536"/>
                </a:lnTo>
                <a:lnTo>
                  <a:pt x="0" y="0"/>
                </a:lnTo>
                <a:close/>
              </a:path>
            </a:pathLst>
          </a:custGeom>
          <a:blipFill>
            <a:blip r:embed="rId11">
              <a:extLst>
                <a:ext uri="{96DAC541-7B7A-43D3-8B79-37D633B846F1}">
                  <asvg:svgBlip xmlns:asvg="http://schemas.microsoft.com/office/drawing/2016/SVG/main" r:embed="rId12"/>
                </a:ext>
              </a:extLst>
            </a:blip>
            <a:stretch>
              <a:fillRect l="-78358" t="0" r="-78359" b="0"/>
            </a:stretch>
          </a:blipFill>
        </p:spPr>
      </p:sp>
      <p:sp>
        <p:nvSpPr>
          <p:cNvPr name="TextBox 19" id="19"/>
          <p:cNvSpPr txBox="true"/>
          <p:nvPr/>
        </p:nvSpPr>
        <p:spPr>
          <a:xfrm rot="0">
            <a:off x="2477948" y="7474325"/>
            <a:ext cx="1847012" cy="651586"/>
          </a:xfrm>
          <a:prstGeom prst="rect">
            <a:avLst/>
          </a:prstGeom>
        </p:spPr>
        <p:txBody>
          <a:bodyPr anchor="t" rtlCol="false" tIns="0" lIns="0" bIns="0" rIns="0">
            <a:spAutoFit/>
          </a:bodyPr>
          <a:lstStyle/>
          <a:p>
            <a:pPr algn="ctr">
              <a:lnSpc>
                <a:spcPts val="2437"/>
              </a:lnSpc>
            </a:pPr>
            <a:r>
              <a:rPr lang="en-US" sz="1937" b="true">
                <a:solidFill>
                  <a:srgbClr val="D7D4CC"/>
                </a:solidFill>
                <a:latin typeface="Comfortaa Bold"/>
                <a:ea typeface="Comfortaa Bold"/>
                <a:cs typeface="Comfortaa Bold"/>
                <a:sym typeface="Comfortaa Bold"/>
              </a:rPr>
              <a:t>Define Recurrence</a:t>
            </a:r>
          </a:p>
        </p:txBody>
      </p:sp>
      <p:sp>
        <p:nvSpPr>
          <p:cNvPr name="TextBox 20" id="20"/>
          <p:cNvSpPr txBox="true"/>
          <p:nvPr/>
        </p:nvSpPr>
        <p:spPr>
          <a:xfrm rot="0">
            <a:off x="929278" y="8827446"/>
            <a:ext cx="9571434" cy="732834"/>
          </a:xfrm>
          <a:prstGeom prst="rect">
            <a:avLst/>
          </a:prstGeom>
        </p:spPr>
        <p:txBody>
          <a:bodyPr anchor="t" rtlCol="false" tIns="0" lIns="0" bIns="0" rIns="0">
            <a:spAutoFit/>
          </a:bodyPr>
          <a:lstStyle/>
          <a:p>
            <a:pPr algn="l">
              <a:lnSpc>
                <a:spcPts val="2687"/>
              </a:lnSpc>
            </a:pPr>
            <a:r>
              <a:rPr lang="en-US" sz="1812" b="true">
                <a:solidFill>
                  <a:srgbClr val="D7D4CC"/>
                </a:solidFill>
                <a:latin typeface="Raleway Medium"/>
                <a:ea typeface="Raleway Medium"/>
                <a:cs typeface="Raleway Medium"/>
                <a:sym typeface="Raleway Medium"/>
              </a:rPr>
              <a:t> Using recurrences and asymptotic analysis we transform recursive definitions into practical performance expectations, essential for system design and capacity planning.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1066952" y="781202"/>
            <a:ext cx="9296105" cy="1529353"/>
          </a:xfrm>
          <a:prstGeom prst="rect">
            <a:avLst/>
          </a:prstGeom>
        </p:spPr>
        <p:txBody>
          <a:bodyPr anchor="t" rtlCol="false" tIns="0" lIns="0" bIns="0" rIns="0">
            <a:spAutoFit/>
          </a:bodyPr>
          <a:lstStyle/>
          <a:p>
            <a:pPr algn="l">
              <a:lnSpc>
                <a:spcPts val="5812"/>
              </a:lnSpc>
            </a:pPr>
            <a:r>
              <a:rPr lang="en-US" sz="4625" b="true">
                <a:solidFill>
                  <a:srgbClr val="FFE14D"/>
                </a:solidFill>
                <a:latin typeface="Comfortaa Bold"/>
                <a:ea typeface="Comfortaa Bold"/>
                <a:cs typeface="Comfortaa Bold"/>
                <a:sym typeface="Comfortaa Bold"/>
              </a:rPr>
              <a:t>Discrete Mathematics in Action: Real-World Impact</a:t>
            </a:r>
          </a:p>
        </p:txBody>
      </p:sp>
      <p:sp>
        <p:nvSpPr>
          <p:cNvPr name="TextBox 11" id="11"/>
          <p:cNvSpPr txBox="true"/>
          <p:nvPr/>
        </p:nvSpPr>
        <p:spPr>
          <a:xfrm rot="0">
            <a:off x="1066952" y="2612384"/>
            <a:ext cx="9296105" cy="2605678"/>
          </a:xfrm>
          <a:prstGeom prst="rect">
            <a:avLst/>
          </a:prstGeom>
        </p:spPr>
        <p:txBody>
          <a:bodyPr anchor="t" rtlCol="false" tIns="0" lIns="0" bIns="0" rIns="0">
            <a:spAutoFit/>
          </a:bodyPr>
          <a:lstStyle/>
          <a:p>
            <a:pPr algn="l">
              <a:lnSpc>
                <a:spcPts val="3249"/>
              </a:lnSpc>
            </a:pPr>
            <a:r>
              <a:rPr lang="en-US" sz="2062" b="true">
                <a:solidFill>
                  <a:srgbClr val="D7D4CC"/>
                </a:solidFill>
                <a:latin typeface="Raleway Medium"/>
                <a:ea typeface="Raleway Medium"/>
                <a:cs typeface="Raleway Medium"/>
                <a:sym typeface="Raleway Medium"/>
              </a:rPr>
              <a:t>     Discrete mathematics powers many disciplines: cryptography secures communications; algorithms and data structures enable fast software; graph theory optimises networks; combinatorics supports probabilistic reasoning; and optimisation methods increase operational efficiency. Understanding discrete tools translates directly into better, provable engineering outcomes.   </a:t>
            </a:r>
          </a:p>
        </p:txBody>
      </p:sp>
      <p:grpSp>
        <p:nvGrpSpPr>
          <p:cNvPr name="Group 12" id="12"/>
          <p:cNvGrpSpPr/>
          <p:nvPr/>
        </p:nvGrpSpPr>
        <p:grpSpPr>
          <a:xfrm rot="0">
            <a:off x="1066952" y="5508727"/>
            <a:ext cx="2926404" cy="3949456"/>
            <a:chOff x="0" y="0"/>
            <a:chExt cx="3901872" cy="5265941"/>
          </a:xfrm>
        </p:grpSpPr>
        <p:sp>
          <p:nvSpPr>
            <p:cNvPr name="Freeform 13" id="13"/>
            <p:cNvSpPr/>
            <p:nvPr/>
          </p:nvSpPr>
          <p:spPr>
            <a:xfrm flipH="false" flipV="false" rot="0">
              <a:off x="0" y="0"/>
              <a:ext cx="3901821" cy="5265928"/>
            </a:xfrm>
            <a:custGeom>
              <a:avLst/>
              <a:gdLst/>
              <a:ahLst/>
              <a:cxnLst/>
              <a:rect r="r" b="b" t="t" l="l"/>
              <a:pathLst>
                <a:path h="5265928" w="3901821">
                  <a:moveTo>
                    <a:pt x="0" y="533527"/>
                  </a:moveTo>
                  <a:cubicBezTo>
                    <a:pt x="0" y="238887"/>
                    <a:pt x="238887" y="0"/>
                    <a:pt x="533527" y="0"/>
                  </a:cubicBezTo>
                  <a:lnTo>
                    <a:pt x="3368294" y="0"/>
                  </a:lnTo>
                  <a:cubicBezTo>
                    <a:pt x="3662934" y="0"/>
                    <a:pt x="3901821" y="238887"/>
                    <a:pt x="3901821" y="533527"/>
                  </a:cubicBezTo>
                  <a:lnTo>
                    <a:pt x="3901821" y="4732401"/>
                  </a:lnTo>
                  <a:cubicBezTo>
                    <a:pt x="3901821" y="5027041"/>
                    <a:pt x="3662934" y="5265928"/>
                    <a:pt x="3368294" y="5265928"/>
                  </a:cubicBezTo>
                  <a:lnTo>
                    <a:pt x="533527" y="5265928"/>
                  </a:lnTo>
                  <a:cubicBezTo>
                    <a:pt x="238887" y="5265928"/>
                    <a:pt x="0" y="5027041"/>
                    <a:pt x="0" y="4732401"/>
                  </a:cubicBezTo>
                  <a:close/>
                </a:path>
              </a:pathLst>
            </a:custGeom>
            <a:solidFill>
              <a:srgbClr val="46464A"/>
            </a:solidFill>
          </p:spPr>
        </p:sp>
      </p:grpSp>
      <p:sp>
        <p:nvSpPr>
          <p:cNvPr name="TextBox 14" id="14"/>
          <p:cNvSpPr txBox="true"/>
          <p:nvPr/>
        </p:nvSpPr>
        <p:spPr>
          <a:xfrm rot="0">
            <a:off x="1333652" y="5756377"/>
            <a:ext cx="2393004" cy="760209"/>
          </a:xfrm>
          <a:prstGeom prst="rect">
            <a:avLst/>
          </a:prstGeom>
        </p:spPr>
        <p:txBody>
          <a:bodyPr anchor="t" rtlCol="false" tIns="0" lIns="0" bIns="0" rIns="0">
            <a:spAutoFit/>
          </a:bodyPr>
          <a:lstStyle/>
          <a:p>
            <a:pPr algn="l">
              <a:lnSpc>
                <a:spcPts val="2875"/>
              </a:lnSpc>
            </a:pPr>
            <a:r>
              <a:rPr lang="en-US" sz="2312" b="true">
                <a:solidFill>
                  <a:srgbClr val="D7D4CC"/>
                </a:solidFill>
                <a:latin typeface="Comfortaa Bold"/>
                <a:ea typeface="Comfortaa Bold"/>
                <a:cs typeface="Comfortaa Bold"/>
                <a:sym typeface="Comfortaa Bold"/>
              </a:rPr>
              <a:t>Computer Science</a:t>
            </a:r>
          </a:p>
        </p:txBody>
      </p:sp>
      <p:sp>
        <p:nvSpPr>
          <p:cNvPr name="TextBox 15" id="15"/>
          <p:cNvSpPr txBox="true"/>
          <p:nvPr/>
        </p:nvSpPr>
        <p:spPr>
          <a:xfrm rot="0">
            <a:off x="1333652" y="6585795"/>
            <a:ext cx="2393004" cy="2605678"/>
          </a:xfrm>
          <a:prstGeom prst="rect">
            <a:avLst/>
          </a:prstGeom>
        </p:spPr>
        <p:txBody>
          <a:bodyPr anchor="t" rtlCol="false" tIns="0" lIns="0" bIns="0" rIns="0">
            <a:spAutoFit/>
          </a:bodyPr>
          <a:lstStyle/>
          <a:p>
            <a:pPr algn="l">
              <a:lnSpc>
                <a:spcPts val="3249"/>
              </a:lnSpc>
            </a:pPr>
            <a:r>
              <a:rPr lang="en-US" sz="2062" b="true">
                <a:solidFill>
                  <a:srgbClr val="D7D4CC"/>
                </a:solidFill>
                <a:latin typeface="Raleway Medium"/>
                <a:ea typeface="Raleway Medium"/>
                <a:cs typeface="Raleway Medium"/>
                <a:sym typeface="Raleway Medium"/>
              </a:rPr>
              <a:t>Algorithms, databases, compilers and cryptography rely on discrete foundations.</a:t>
            </a:r>
          </a:p>
        </p:txBody>
      </p:sp>
      <p:grpSp>
        <p:nvGrpSpPr>
          <p:cNvPr name="Group 16" id="16"/>
          <p:cNvGrpSpPr/>
          <p:nvPr/>
        </p:nvGrpSpPr>
        <p:grpSpPr>
          <a:xfrm rot="0">
            <a:off x="4251722" y="5508727"/>
            <a:ext cx="2926404" cy="3949456"/>
            <a:chOff x="0" y="0"/>
            <a:chExt cx="3901872" cy="5265941"/>
          </a:xfrm>
        </p:grpSpPr>
        <p:sp>
          <p:nvSpPr>
            <p:cNvPr name="Freeform 17" id="17"/>
            <p:cNvSpPr/>
            <p:nvPr/>
          </p:nvSpPr>
          <p:spPr>
            <a:xfrm flipH="false" flipV="false" rot="0">
              <a:off x="0" y="0"/>
              <a:ext cx="3901821" cy="5265928"/>
            </a:xfrm>
            <a:custGeom>
              <a:avLst/>
              <a:gdLst/>
              <a:ahLst/>
              <a:cxnLst/>
              <a:rect r="r" b="b" t="t" l="l"/>
              <a:pathLst>
                <a:path h="5265928" w="3901821">
                  <a:moveTo>
                    <a:pt x="0" y="533527"/>
                  </a:moveTo>
                  <a:cubicBezTo>
                    <a:pt x="0" y="238887"/>
                    <a:pt x="238887" y="0"/>
                    <a:pt x="533527" y="0"/>
                  </a:cubicBezTo>
                  <a:lnTo>
                    <a:pt x="3368294" y="0"/>
                  </a:lnTo>
                  <a:cubicBezTo>
                    <a:pt x="3662934" y="0"/>
                    <a:pt x="3901821" y="238887"/>
                    <a:pt x="3901821" y="533527"/>
                  </a:cubicBezTo>
                  <a:lnTo>
                    <a:pt x="3901821" y="4732401"/>
                  </a:lnTo>
                  <a:cubicBezTo>
                    <a:pt x="3901821" y="5027041"/>
                    <a:pt x="3662934" y="5265928"/>
                    <a:pt x="3368294" y="5265928"/>
                  </a:cubicBezTo>
                  <a:lnTo>
                    <a:pt x="533527" y="5265928"/>
                  </a:lnTo>
                  <a:cubicBezTo>
                    <a:pt x="238887" y="5265928"/>
                    <a:pt x="0" y="5027041"/>
                    <a:pt x="0" y="4732401"/>
                  </a:cubicBezTo>
                  <a:close/>
                </a:path>
              </a:pathLst>
            </a:custGeom>
            <a:solidFill>
              <a:srgbClr val="46464A"/>
            </a:solidFill>
          </p:spPr>
        </p:sp>
      </p:grpSp>
      <p:sp>
        <p:nvSpPr>
          <p:cNvPr name="TextBox 18" id="18"/>
          <p:cNvSpPr txBox="true"/>
          <p:nvPr/>
        </p:nvSpPr>
        <p:spPr>
          <a:xfrm rot="0">
            <a:off x="4518422" y="5756377"/>
            <a:ext cx="2393004" cy="389630"/>
          </a:xfrm>
          <a:prstGeom prst="rect">
            <a:avLst/>
          </a:prstGeom>
        </p:spPr>
        <p:txBody>
          <a:bodyPr anchor="t" rtlCol="false" tIns="0" lIns="0" bIns="0" rIns="0">
            <a:spAutoFit/>
          </a:bodyPr>
          <a:lstStyle/>
          <a:p>
            <a:pPr algn="l">
              <a:lnSpc>
                <a:spcPts val="2875"/>
              </a:lnSpc>
            </a:pPr>
            <a:r>
              <a:rPr lang="en-US" sz="2312" b="true">
                <a:solidFill>
                  <a:srgbClr val="D7D4CC"/>
                </a:solidFill>
                <a:latin typeface="Comfortaa Bold"/>
                <a:ea typeface="Comfortaa Bold"/>
                <a:cs typeface="Comfortaa Bold"/>
                <a:sym typeface="Comfortaa Bold"/>
              </a:rPr>
              <a:t>Engineering</a:t>
            </a:r>
          </a:p>
        </p:txBody>
      </p:sp>
      <p:sp>
        <p:nvSpPr>
          <p:cNvPr name="TextBox 19" id="19"/>
          <p:cNvSpPr txBox="true"/>
          <p:nvPr/>
        </p:nvSpPr>
        <p:spPr>
          <a:xfrm rot="0">
            <a:off x="4518422" y="6215215"/>
            <a:ext cx="2393004" cy="2605678"/>
          </a:xfrm>
          <a:prstGeom prst="rect">
            <a:avLst/>
          </a:prstGeom>
        </p:spPr>
        <p:txBody>
          <a:bodyPr anchor="t" rtlCol="false" tIns="0" lIns="0" bIns="0" rIns="0">
            <a:spAutoFit/>
          </a:bodyPr>
          <a:lstStyle/>
          <a:p>
            <a:pPr algn="l">
              <a:lnSpc>
                <a:spcPts val="3249"/>
              </a:lnSpc>
            </a:pPr>
            <a:r>
              <a:rPr lang="en-US" sz="2062" b="true">
                <a:solidFill>
                  <a:srgbClr val="D7D4CC"/>
                </a:solidFill>
                <a:latin typeface="Raleway Medium"/>
                <a:ea typeface="Raleway Medium"/>
                <a:cs typeface="Raleway Medium"/>
                <a:sym typeface="Raleway Medium"/>
              </a:rPr>
              <a:t>Digital circuits and signal processing use logic, finite automata and discrete transforms.</a:t>
            </a:r>
          </a:p>
        </p:txBody>
      </p:sp>
      <p:grpSp>
        <p:nvGrpSpPr>
          <p:cNvPr name="Group 20" id="20"/>
          <p:cNvGrpSpPr/>
          <p:nvPr/>
        </p:nvGrpSpPr>
        <p:grpSpPr>
          <a:xfrm rot="0">
            <a:off x="7436491" y="5508727"/>
            <a:ext cx="2926404" cy="3949456"/>
            <a:chOff x="0" y="0"/>
            <a:chExt cx="3901872" cy="5265941"/>
          </a:xfrm>
        </p:grpSpPr>
        <p:sp>
          <p:nvSpPr>
            <p:cNvPr name="Freeform 21" id="21"/>
            <p:cNvSpPr/>
            <p:nvPr/>
          </p:nvSpPr>
          <p:spPr>
            <a:xfrm flipH="false" flipV="false" rot="0">
              <a:off x="0" y="0"/>
              <a:ext cx="3901821" cy="5265928"/>
            </a:xfrm>
            <a:custGeom>
              <a:avLst/>
              <a:gdLst/>
              <a:ahLst/>
              <a:cxnLst/>
              <a:rect r="r" b="b" t="t" l="l"/>
              <a:pathLst>
                <a:path h="5265928" w="3901821">
                  <a:moveTo>
                    <a:pt x="0" y="533527"/>
                  </a:moveTo>
                  <a:cubicBezTo>
                    <a:pt x="0" y="238887"/>
                    <a:pt x="238887" y="0"/>
                    <a:pt x="533527" y="0"/>
                  </a:cubicBezTo>
                  <a:lnTo>
                    <a:pt x="3368294" y="0"/>
                  </a:lnTo>
                  <a:cubicBezTo>
                    <a:pt x="3662934" y="0"/>
                    <a:pt x="3901821" y="238887"/>
                    <a:pt x="3901821" y="533527"/>
                  </a:cubicBezTo>
                  <a:lnTo>
                    <a:pt x="3901821" y="4732401"/>
                  </a:lnTo>
                  <a:cubicBezTo>
                    <a:pt x="3901821" y="5027041"/>
                    <a:pt x="3662934" y="5265928"/>
                    <a:pt x="3368294" y="5265928"/>
                  </a:cubicBezTo>
                  <a:lnTo>
                    <a:pt x="533527" y="5265928"/>
                  </a:lnTo>
                  <a:cubicBezTo>
                    <a:pt x="238887" y="5265928"/>
                    <a:pt x="0" y="5027041"/>
                    <a:pt x="0" y="4732401"/>
                  </a:cubicBezTo>
                  <a:close/>
                </a:path>
              </a:pathLst>
            </a:custGeom>
            <a:solidFill>
              <a:srgbClr val="46464A"/>
            </a:solidFill>
          </p:spPr>
        </p:sp>
      </p:grpSp>
      <p:sp>
        <p:nvSpPr>
          <p:cNvPr name="TextBox 22" id="22"/>
          <p:cNvSpPr txBox="true"/>
          <p:nvPr/>
        </p:nvSpPr>
        <p:spPr>
          <a:xfrm rot="0">
            <a:off x="7703191" y="5756377"/>
            <a:ext cx="2393004" cy="760209"/>
          </a:xfrm>
          <a:prstGeom prst="rect">
            <a:avLst/>
          </a:prstGeom>
        </p:spPr>
        <p:txBody>
          <a:bodyPr anchor="t" rtlCol="false" tIns="0" lIns="0" bIns="0" rIns="0">
            <a:spAutoFit/>
          </a:bodyPr>
          <a:lstStyle/>
          <a:p>
            <a:pPr algn="l">
              <a:lnSpc>
                <a:spcPts val="2875"/>
              </a:lnSpc>
            </a:pPr>
            <a:r>
              <a:rPr lang="en-US" sz="2312" b="true">
                <a:solidFill>
                  <a:srgbClr val="D7D4CC"/>
                </a:solidFill>
                <a:latin typeface="Comfortaa Bold"/>
                <a:ea typeface="Comfortaa Bold"/>
                <a:cs typeface="Comfortaa Bold"/>
                <a:sym typeface="Comfortaa Bold"/>
              </a:rPr>
              <a:t>Operations Research</a:t>
            </a:r>
          </a:p>
        </p:txBody>
      </p:sp>
      <p:sp>
        <p:nvSpPr>
          <p:cNvPr name="TextBox 23" id="23"/>
          <p:cNvSpPr txBox="true"/>
          <p:nvPr/>
        </p:nvSpPr>
        <p:spPr>
          <a:xfrm rot="0">
            <a:off x="7703191" y="6585795"/>
            <a:ext cx="2393004" cy="2605678"/>
          </a:xfrm>
          <a:prstGeom prst="rect">
            <a:avLst/>
          </a:prstGeom>
        </p:spPr>
        <p:txBody>
          <a:bodyPr anchor="t" rtlCol="false" tIns="0" lIns="0" bIns="0" rIns="0">
            <a:spAutoFit/>
          </a:bodyPr>
          <a:lstStyle/>
          <a:p>
            <a:pPr algn="l">
              <a:lnSpc>
                <a:spcPts val="3249"/>
              </a:lnSpc>
            </a:pPr>
            <a:r>
              <a:rPr lang="en-US" sz="2062" b="true">
                <a:solidFill>
                  <a:srgbClr val="D7D4CC"/>
                </a:solidFill>
                <a:latin typeface="Raleway Medium"/>
                <a:ea typeface="Raleway Medium"/>
                <a:cs typeface="Raleway Medium"/>
                <a:sym typeface="Raleway Medium"/>
              </a:rPr>
              <a:t>Optimisation, scheduling and logistics use graphs, flows and integer programming.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6" id="6"/>
          <p:cNvSpPr txBox="true"/>
          <p:nvPr/>
        </p:nvSpPr>
        <p:spPr>
          <a:xfrm rot="0">
            <a:off x="2207266" y="552155"/>
            <a:ext cx="5040068" cy="578196"/>
          </a:xfrm>
          <a:prstGeom prst="rect">
            <a:avLst/>
          </a:prstGeom>
        </p:spPr>
        <p:txBody>
          <a:bodyPr anchor="t" rtlCol="false" tIns="0" lIns="0" bIns="0" rIns="0">
            <a:spAutoFit/>
          </a:bodyPr>
          <a:lstStyle/>
          <a:p>
            <a:pPr algn="l">
              <a:lnSpc>
                <a:spcPts val="4312"/>
              </a:lnSpc>
            </a:pPr>
            <a:r>
              <a:rPr lang="en-US" sz="3437" b="true">
                <a:solidFill>
                  <a:srgbClr val="FFE14D"/>
                </a:solidFill>
                <a:latin typeface="Comfortaa Bold"/>
                <a:ea typeface="Comfortaa Bold"/>
                <a:cs typeface="Comfortaa Bold"/>
                <a:sym typeface="Comfortaa Bold"/>
              </a:rPr>
              <a:t>The Future is Discrete</a:t>
            </a:r>
          </a:p>
        </p:txBody>
      </p:sp>
      <p:sp>
        <p:nvSpPr>
          <p:cNvPr name="TextBox 7" id="7"/>
          <p:cNvSpPr txBox="true"/>
          <p:nvPr/>
        </p:nvSpPr>
        <p:spPr>
          <a:xfrm rot="0">
            <a:off x="2207266" y="1376658"/>
            <a:ext cx="13873315" cy="854278"/>
          </a:xfrm>
          <a:prstGeom prst="rect">
            <a:avLst/>
          </a:prstGeom>
        </p:spPr>
        <p:txBody>
          <a:bodyPr anchor="t" rtlCol="false" tIns="0" lIns="0" bIns="0" rIns="0">
            <a:spAutoFit/>
          </a:bodyPr>
          <a:lstStyle/>
          <a:p>
            <a:pPr algn="l">
              <a:lnSpc>
                <a:spcPts val="2124"/>
              </a:lnSpc>
            </a:pPr>
            <a:r>
              <a:rPr lang="en-US" sz="1500" b="true">
                <a:solidFill>
                  <a:srgbClr val="D7D4CC"/>
                </a:solidFill>
                <a:latin typeface="Raleway Medium"/>
                <a:ea typeface="Raleway Medium"/>
                <a:cs typeface="Raleway Medium"/>
                <a:sym typeface="Raleway Medium"/>
              </a:rPr>
              <a:t>     Emerging fields amplify the need for discrete reasoning: AI models rely on discrete optimisation and graph representations; quantum computing introduces new discrete state models; secure distributed systems use combinatorial constructions. Mastery of discrete mathematics equips practitioners to navigate innovation with clarity and provable guarantees.   </a:t>
            </a:r>
          </a:p>
        </p:txBody>
      </p:sp>
      <p:grpSp>
        <p:nvGrpSpPr>
          <p:cNvPr name="Group 8" id="8"/>
          <p:cNvGrpSpPr/>
          <p:nvPr/>
        </p:nvGrpSpPr>
        <p:grpSpPr>
          <a:xfrm rot="0">
            <a:off x="2207266" y="2390927"/>
            <a:ext cx="13106400" cy="7315200"/>
            <a:chOff x="0" y="0"/>
            <a:chExt cx="17475200" cy="9753600"/>
          </a:xfrm>
        </p:grpSpPr>
        <p:sp>
          <p:nvSpPr>
            <p:cNvPr name="Freeform 9" id="9" descr="preencoded.png"/>
            <p:cNvSpPr/>
            <p:nvPr/>
          </p:nvSpPr>
          <p:spPr>
            <a:xfrm flipH="false" flipV="false" rot="0">
              <a:off x="0" y="0"/>
              <a:ext cx="17475200" cy="9753600"/>
            </a:xfrm>
            <a:custGeom>
              <a:avLst/>
              <a:gdLst/>
              <a:ahLst/>
              <a:cxnLst/>
              <a:rect r="r" b="b" t="t" l="l"/>
              <a:pathLst>
                <a:path h="9753600" w="17475200">
                  <a:moveTo>
                    <a:pt x="0" y="0"/>
                  </a:moveTo>
                  <a:lnTo>
                    <a:pt x="17475200" y="0"/>
                  </a:lnTo>
                  <a:lnTo>
                    <a:pt x="17475200" y="9753600"/>
                  </a:lnTo>
                  <a:lnTo>
                    <a:pt x="0" y="9753600"/>
                  </a:lnTo>
                  <a:lnTo>
                    <a:pt x="0" y="0"/>
                  </a:lnTo>
                  <a:close/>
                </a:path>
              </a:pathLst>
            </a:custGeom>
            <a:blipFill>
              <a:blip r:embed="rId3"/>
              <a:stretch>
                <a:fillRect l="0" t="0" r="0" b="0"/>
              </a:stretch>
            </a:blipFill>
          </p:spPr>
        </p:sp>
      </p:grpSp>
      <p:grpSp>
        <p:nvGrpSpPr>
          <p:cNvPr name="Group 10" id="10"/>
          <p:cNvGrpSpPr/>
          <p:nvPr/>
        </p:nvGrpSpPr>
        <p:grpSpPr>
          <a:xfrm rot="0">
            <a:off x="2207266" y="2390927"/>
            <a:ext cx="13106400" cy="7315200"/>
            <a:chOff x="0" y="0"/>
            <a:chExt cx="17475200" cy="9753600"/>
          </a:xfrm>
        </p:grpSpPr>
        <p:sp>
          <p:nvSpPr>
            <p:cNvPr name="Freeform 11" id="11" descr="preencoded.png"/>
            <p:cNvSpPr/>
            <p:nvPr/>
          </p:nvSpPr>
          <p:spPr>
            <a:xfrm flipH="false" flipV="false" rot="0">
              <a:off x="0" y="0"/>
              <a:ext cx="17475200" cy="9753600"/>
            </a:xfrm>
            <a:custGeom>
              <a:avLst/>
              <a:gdLst/>
              <a:ahLst/>
              <a:cxnLst/>
              <a:rect r="r" b="b" t="t" l="l"/>
              <a:pathLst>
                <a:path h="9753600" w="17475200">
                  <a:moveTo>
                    <a:pt x="0" y="0"/>
                  </a:moveTo>
                  <a:lnTo>
                    <a:pt x="17475200" y="0"/>
                  </a:lnTo>
                  <a:lnTo>
                    <a:pt x="17475200" y="9753600"/>
                  </a:lnTo>
                  <a:lnTo>
                    <a:pt x="0" y="9753600"/>
                  </a:lnTo>
                  <a:lnTo>
                    <a:pt x="0" y="0"/>
                  </a:lnTo>
                  <a:close/>
                </a:path>
              </a:pathLst>
            </a:custGeom>
            <a:blipFill>
              <a:blip r:embed="rId4"/>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B1B1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942212" y="887016"/>
            <a:ext cx="9261577" cy="1543641"/>
          </a:xfrm>
          <a:prstGeom prst="rect">
            <a:avLst/>
          </a:prstGeom>
        </p:spPr>
        <p:txBody>
          <a:bodyPr anchor="t" rtlCol="false" tIns="0" lIns="0" bIns="0" rIns="0">
            <a:spAutoFit/>
          </a:bodyPr>
          <a:lstStyle/>
          <a:p>
            <a:pPr algn="l">
              <a:lnSpc>
                <a:spcPts val="5874"/>
              </a:lnSpc>
            </a:pPr>
            <a:r>
              <a:rPr lang="en-US" sz="4687" b="true">
                <a:solidFill>
                  <a:srgbClr val="FFE14D"/>
                </a:solidFill>
                <a:latin typeface="Comfortaa Bold"/>
                <a:ea typeface="Comfortaa Bold"/>
                <a:cs typeface="Comfortaa Bold"/>
                <a:sym typeface="Comfortaa Bold"/>
              </a:rPr>
              <a:t>The Enduring Power of Discrete Mathematics</a:t>
            </a:r>
          </a:p>
        </p:txBody>
      </p:sp>
      <p:sp>
        <p:nvSpPr>
          <p:cNvPr name="TextBox 9" id="9"/>
          <p:cNvSpPr txBox="true"/>
          <p:nvPr/>
        </p:nvSpPr>
        <p:spPr>
          <a:xfrm rot="0">
            <a:off x="7942212" y="2735609"/>
            <a:ext cx="9261577" cy="2245814"/>
          </a:xfrm>
          <a:prstGeom prst="rect">
            <a:avLst/>
          </a:prstGeom>
        </p:spPr>
        <p:txBody>
          <a:bodyPr anchor="t" rtlCol="false" tIns="0" lIns="0" bIns="0" rIns="0">
            <a:spAutoFit/>
          </a:bodyPr>
          <a:lstStyle/>
          <a:p>
            <a:pPr algn="l">
              <a:lnSpc>
                <a:spcPts val="3374"/>
              </a:lnSpc>
            </a:pPr>
            <a:r>
              <a:rPr lang="en-US" sz="2125" b="true">
                <a:solidFill>
                  <a:srgbClr val="D7D4CC"/>
                </a:solidFill>
                <a:latin typeface="Raleway Medium"/>
                <a:ea typeface="Raleway Medium"/>
                <a:cs typeface="Raleway Medium"/>
                <a:sym typeface="Raleway Medium"/>
              </a:rPr>
              <a:t>     Discrete mathematics is not an academic curiosity — it is the enduring framework beneath modern computation. Its principles provide clarity, enable proofs of correctness, and guide optimal system design. For anyone building or analysing digital systems, fluency in discrete ideas is a strategic advantage and a creative toolkit for shaping the future.   </a:t>
            </a:r>
          </a:p>
        </p:txBody>
      </p:sp>
      <p:grpSp>
        <p:nvGrpSpPr>
          <p:cNvPr name="Group 10" id="10"/>
          <p:cNvGrpSpPr/>
          <p:nvPr/>
        </p:nvGrpSpPr>
        <p:grpSpPr>
          <a:xfrm rot="0">
            <a:off x="7942212" y="5688063"/>
            <a:ext cx="2909297" cy="3673821"/>
            <a:chOff x="0" y="0"/>
            <a:chExt cx="3879063" cy="4898428"/>
          </a:xfrm>
        </p:grpSpPr>
        <p:sp>
          <p:nvSpPr>
            <p:cNvPr name="Freeform 11" id="11"/>
            <p:cNvSpPr/>
            <p:nvPr/>
          </p:nvSpPr>
          <p:spPr>
            <a:xfrm flipH="false" flipV="false" rot="0">
              <a:off x="0" y="0"/>
              <a:ext cx="3879088" cy="4898390"/>
            </a:xfrm>
            <a:custGeom>
              <a:avLst/>
              <a:gdLst/>
              <a:ahLst/>
              <a:cxnLst/>
              <a:rect r="r" b="b" t="t" l="l"/>
              <a:pathLst>
                <a:path h="4898390" w="3879088">
                  <a:moveTo>
                    <a:pt x="0" y="243840"/>
                  </a:moveTo>
                  <a:cubicBezTo>
                    <a:pt x="0" y="109220"/>
                    <a:pt x="109220" y="0"/>
                    <a:pt x="243840" y="0"/>
                  </a:cubicBezTo>
                  <a:lnTo>
                    <a:pt x="3635248" y="0"/>
                  </a:lnTo>
                  <a:cubicBezTo>
                    <a:pt x="3769868" y="0"/>
                    <a:pt x="3879088" y="109220"/>
                    <a:pt x="3879088" y="243840"/>
                  </a:cubicBezTo>
                  <a:lnTo>
                    <a:pt x="3879088" y="4654550"/>
                  </a:lnTo>
                  <a:cubicBezTo>
                    <a:pt x="3879088" y="4789170"/>
                    <a:pt x="3769868" y="4898390"/>
                    <a:pt x="3635248" y="4898390"/>
                  </a:cubicBezTo>
                  <a:lnTo>
                    <a:pt x="243840" y="4898390"/>
                  </a:lnTo>
                  <a:cubicBezTo>
                    <a:pt x="109220" y="4898390"/>
                    <a:pt x="0" y="4789297"/>
                    <a:pt x="0" y="4654550"/>
                  </a:cubicBezTo>
                  <a:close/>
                </a:path>
              </a:pathLst>
            </a:custGeom>
            <a:solidFill>
              <a:srgbClr val="27272B"/>
            </a:solidFill>
          </p:spPr>
        </p:sp>
      </p:grpSp>
      <p:grpSp>
        <p:nvGrpSpPr>
          <p:cNvPr name="Group 12" id="12"/>
          <p:cNvGrpSpPr/>
          <p:nvPr/>
        </p:nvGrpSpPr>
        <p:grpSpPr>
          <a:xfrm rot="0">
            <a:off x="7942212" y="5649963"/>
            <a:ext cx="2909297" cy="152400"/>
            <a:chOff x="0" y="0"/>
            <a:chExt cx="3879063" cy="203200"/>
          </a:xfrm>
        </p:grpSpPr>
        <p:sp>
          <p:nvSpPr>
            <p:cNvPr name="Freeform 13" id="13"/>
            <p:cNvSpPr/>
            <p:nvPr/>
          </p:nvSpPr>
          <p:spPr>
            <a:xfrm flipH="false" flipV="false" rot="0">
              <a:off x="0" y="0"/>
              <a:ext cx="3879088" cy="203200"/>
            </a:xfrm>
            <a:custGeom>
              <a:avLst/>
              <a:gdLst/>
              <a:ahLst/>
              <a:cxnLst/>
              <a:rect r="r" b="b" t="t" l="l"/>
              <a:pathLst>
                <a:path h="203200" w="3879088">
                  <a:moveTo>
                    <a:pt x="0" y="101600"/>
                  </a:moveTo>
                  <a:cubicBezTo>
                    <a:pt x="0" y="45466"/>
                    <a:pt x="45466" y="0"/>
                    <a:pt x="101600" y="0"/>
                  </a:cubicBezTo>
                  <a:lnTo>
                    <a:pt x="3777488" y="0"/>
                  </a:lnTo>
                  <a:cubicBezTo>
                    <a:pt x="3833622" y="0"/>
                    <a:pt x="3879088" y="45466"/>
                    <a:pt x="3879088" y="101600"/>
                  </a:cubicBezTo>
                  <a:cubicBezTo>
                    <a:pt x="3879088" y="157734"/>
                    <a:pt x="3833622" y="203200"/>
                    <a:pt x="3777488" y="203200"/>
                  </a:cubicBezTo>
                  <a:lnTo>
                    <a:pt x="101600" y="203200"/>
                  </a:lnTo>
                  <a:cubicBezTo>
                    <a:pt x="45466" y="203200"/>
                    <a:pt x="0" y="157734"/>
                    <a:pt x="0" y="101600"/>
                  </a:cubicBezTo>
                  <a:close/>
                </a:path>
              </a:pathLst>
            </a:custGeom>
            <a:solidFill>
              <a:srgbClr val="FFE14D"/>
            </a:solidFill>
          </p:spPr>
        </p:sp>
      </p:grpSp>
      <p:grpSp>
        <p:nvGrpSpPr>
          <p:cNvPr name="Group 14" id="14"/>
          <p:cNvGrpSpPr/>
          <p:nvPr/>
        </p:nvGrpSpPr>
        <p:grpSpPr>
          <a:xfrm rot="0">
            <a:off x="8990257" y="5281460"/>
            <a:ext cx="813197" cy="813197"/>
            <a:chOff x="0" y="0"/>
            <a:chExt cx="1084262" cy="1084262"/>
          </a:xfrm>
        </p:grpSpPr>
        <p:sp>
          <p:nvSpPr>
            <p:cNvPr name="Freeform 15" id="15"/>
            <p:cNvSpPr/>
            <p:nvPr/>
          </p:nvSpPr>
          <p:spPr>
            <a:xfrm flipH="false" flipV="false" rot="0">
              <a:off x="0" y="0"/>
              <a:ext cx="1084326" cy="1084326"/>
            </a:xfrm>
            <a:custGeom>
              <a:avLst/>
              <a:gdLst/>
              <a:ahLst/>
              <a:cxnLst/>
              <a:rect r="r" b="b" t="t" l="l"/>
              <a:pathLst>
                <a:path h="1084326" w="1084326">
                  <a:moveTo>
                    <a:pt x="0" y="542163"/>
                  </a:moveTo>
                  <a:cubicBezTo>
                    <a:pt x="0" y="242697"/>
                    <a:pt x="242697" y="0"/>
                    <a:pt x="542163" y="0"/>
                  </a:cubicBezTo>
                  <a:cubicBezTo>
                    <a:pt x="841629" y="0"/>
                    <a:pt x="1084326" y="242697"/>
                    <a:pt x="1084326" y="542163"/>
                  </a:cubicBezTo>
                  <a:cubicBezTo>
                    <a:pt x="1084326" y="841629"/>
                    <a:pt x="841502" y="1084326"/>
                    <a:pt x="542163" y="1084326"/>
                  </a:cubicBezTo>
                  <a:cubicBezTo>
                    <a:pt x="242824" y="1084326"/>
                    <a:pt x="0" y="841502"/>
                    <a:pt x="0" y="542163"/>
                  </a:cubicBezTo>
                  <a:close/>
                </a:path>
              </a:pathLst>
            </a:custGeom>
            <a:solidFill>
              <a:srgbClr val="FFE14D"/>
            </a:solidFill>
          </p:spPr>
        </p:sp>
      </p:grpSp>
      <p:sp>
        <p:nvSpPr>
          <p:cNvPr name="Freeform 16" id="16" descr="preencoded.png"/>
          <p:cNvSpPr/>
          <p:nvPr/>
        </p:nvSpPr>
        <p:spPr>
          <a:xfrm flipH="false" flipV="false" rot="0">
            <a:off x="9234192" y="5525395"/>
            <a:ext cx="325193" cy="325193"/>
          </a:xfrm>
          <a:custGeom>
            <a:avLst/>
            <a:gdLst/>
            <a:ahLst/>
            <a:cxnLst/>
            <a:rect r="r" b="b" t="t" l="l"/>
            <a:pathLst>
              <a:path h="325193" w="325193">
                <a:moveTo>
                  <a:pt x="0" y="0"/>
                </a:moveTo>
                <a:lnTo>
                  <a:pt x="325193" y="0"/>
                </a:lnTo>
                <a:lnTo>
                  <a:pt x="325193" y="325193"/>
                </a:lnTo>
                <a:lnTo>
                  <a:pt x="0" y="325193"/>
                </a:lnTo>
                <a:lnTo>
                  <a:pt x="0" y="0"/>
                </a:lnTo>
                <a:close/>
              </a:path>
            </a:pathLst>
          </a:custGeom>
          <a:blipFill>
            <a:blip r:embed="rId4">
              <a:extLst>
                <a:ext uri="{96DAC541-7B7A-43D3-8B79-37D633B846F1}">
                  <asvg:svgBlip xmlns:asvg="http://schemas.microsoft.com/office/drawing/2016/SVG/main" r:embed="rId5"/>
                </a:ext>
              </a:extLst>
            </a:blip>
            <a:stretch>
              <a:fillRect l="0" t="-18570" r="0" b="-18572"/>
            </a:stretch>
          </a:blipFill>
        </p:spPr>
      </p:sp>
      <p:sp>
        <p:nvSpPr>
          <p:cNvPr name="TextBox 17" id="17"/>
          <p:cNvSpPr txBox="true"/>
          <p:nvPr/>
        </p:nvSpPr>
        <p:spPr>
          <a:xfrm rot="0">
            <a:off x="8251327" y="6337097"/>
            <a:ext cx="2291058" cy="405108"/>
          </a:xfrm>
          <a:prstGeom prst="rect">
            <a:avLst/>
          </a:prstGeom>
        </p:spPr>
        <p:txBody>
          <a:bodyPr anchor="t" rtlCol="false" tIns="0" lIns="0" bIns="0" rIns="0">
            <a:spAutoFit/>
          </a:bodyPr>
          <a:lstStyle/>
          <a:p>
            <a:pPr algn="l">
              <a:lnSpc>
                <a:spcPts val="2937"/>
              </a:lnSpc>
            </a:pPr>
            <a:r>
              <a:rPr lang="en-US" sz="2312" b="true">
                <a:solidFill>
                  <a:srgbClr val="D7D4CC"/>
                </a:solidFill>
                <a:latin typeface="Comfortaa Bold"/>
                <a:ea typeface="Comfortaa Bold"/>
                <a:cs typeface="Comfortaa Bold"/>
                <a:sym typeface="Comfortaa Bold"/>
              </a:rPr>
              <a:t>Learn</a:t>
            </a:r>
          </a:p>
        </p:txBody>
      </p:sp>
      <p:sp>
        <p:nvSpPr>
          <p:cNvPr name="TextBox 18" id="18"/>
          <p:cNvSpPr txBox="true"/>
          <p:nvPr/>
        </p:nvSpPr>
        <p:spPr>
          <a:xfrm rot="0">
            <a:off x="8251327" y="6806956"/>
            <a:ext cx="2291058" cy="2245814"/>
          </a:xfrm>
          <a:prstGeom prst="rect">
            <a:avLst/>
          </a:prstGeom>
        </p:spPr>
        <p:txBody>
          <a:bodyPr anchor="t" rtlCol="false" tIns="0" lIns="0" bIns="0" rIns="0">
            <a:spAutoFit/>
          </a:bodyPr>
          <a:lstStyle/>
          <a:p>
            <a:pPr algn="l">
              <a:lnSpc>
                <a:spcPts val="3374"/>
              </a:lnSpc>
            </a:pPr>
            <a:r>
              <a:rPr lang="en-US" sz="2125" b="true">
                <a:solidFill>
                  <a:srgbClr val="D7D4CC"/>
                </a:solidFill>
                <a:latin typeface="Raleway Medium"/>
                <a:ea typeface="Raleway Medium"/>
                <a:cs typeface="Raleway Medium"/>
                <a:sym typeface="Raleway Medium"/>
              </a:rPr>
              <a:t>Study logic, sets, proofs and combinatorics to build a solid foundation.</a:t>
            </a:r>
          </a:p>
        </p:txBody>
      </p:sp>
      <p:grpSp>
        <p:nvGrpSpPr>
          <p:cNvPr name="Group 19" id="19"/>
          <p:cNvGrpSpPr/>
          <p:nvPr/>
        </p:nvGrpSpPr>
        <p:grpSpPr>
          <a:xfrm rot="0">
            <a:off x="11118209" y="5688063"/>
            <a:ext cx="2909440" cy="3673821"/>
            <a:chOff x="0" y="0"/>
            <a:chExt cx="3879253" cy="4898428"/>
          </a:xfrm>
        </p:grpSpPr>
        <p:sp>
          <p:nvSpPr>
            <p:cNvPr name="Freeform 20" id="20"/>
            <p:cNvSpPr/>
            <p:nvPr/>
          </p:nvSpPr>
          <p:spPr>
            <a:xfrm flipH="false" flipV="false" rot="0">
              <a:off x="0" y="0"/>
              <a:ext cx="3879215" cy="4898390"/>
            </a:xfrm>
            <a:custGeom>
              <a:avLst/>
              <a:gdLst/>
              <a:ahLst/>
              <a:cxnLst/>
              <a:rect r="r" b="b" t="t" l="l"/>
              <a:pathLst>
                <a:path h="4898390" w="3879215">
                  <a:moveTo>
                    <a:pt x="0" y="243840"/>
                  </a:moveTo>
                  <a:cubicBezTo>
                    <a:pt x="0" y="109220"/>
                    <a:pt x="109220" y="0"/>
                    <a:pt x="243840" y="0"/>
                  </a:cubicBezTo>
                  <a:lnTo>
                    <a:pt x="3635375" y="0"/>
                  </a:lnTo>
                  <a:cubicBezTo>
                    <a:pt x="3769995" y="0"/>
                    <a:pt x="3879215" y="109220"/>
                    <a:pt x="3879215" y="243840"/>
                  </a:cubicBezTo>
                  <a:lnTo>
                    <a:pt x="3879215" y="4654550"/>
                  </a:lnTo>
                  <a:cubicBezTo>
                    <a:pt x="3879215" y="4789170"/>
                    <a:pt x="3769995" y="4898390"/>
                    <a:pt x="3635375" y="4898390"/>
                  </a:cubicBezTo>
                  <a:lnTo>
                    <a:pt x="243840" y="4898390"/>
                  </a:lnTo>
                  <a:cubicBezTo>
                    <a:pt x="109220" y="4898390"/>
                    <a:pt x="0" y="4789297"/>
                    <a:pt x="0" y="4654550"/>
                  </a:cubicBezTo>
                  <a:close/>
                </a:path>
              </a:pathLst>
            </a:custGeom>
            <a:solidFill>
              <a:srgbClr val="27272B"/>
            </a:solidFill>
          </p:spPr>
        </p:sp>
      </p:grpSp>
      <p:grpSp>
        <p:nvGrpSpPr>
          <p:cNvPr name="Group 21" id="21"/>
          <p:cNvGrpSpPr/>
          <p:nvPr/>
        </p:nvGrpSpPr>
        <p:grpSpPr>
          <a:xfrm rot="0">
            <a:off x="11118209" y="5649963"/>
            <a:ext cx="2909440" cy="152400"/>
            <a:chOff x="0" y="0"/>
            <a:chExt cx="3879253" cy="203200"/>
          </a:xfrm>
        </p:grpSpPr>
        <p:sp>
          <p:nvSpPr>
            <p:cNvPr name="Freeform 22" id="22"/>
            <p:cNvSpPr/>
            <p:nvPr/>
          </p:nvSpPr>
          <p:spPr>
            <a:xfrm flipH="false" flipV="false" rot="0">
              <a:off x="0" y="0"/>
              <a:ext cx="3879215" cy="203200"/>
            </a:xfrm>
            <a:custGeom>
              <a:avLst/>
              <a:gdLst/>
              <a:ahLst/>
              <a:cxnLst/>
              <a:rect r="r" b="b" t="t" l="l"/>
              <a:pathLst>
                <a:path h="203200" w="3879215">
                  <a:moveTo>
                    <a:pt x="0" y="101600"/>
                  </a:moveTo>
                  <a:cubicBezTo>
                    <a:pt x="0" y="45466"/>
                    <a:pt x="45466" y="0"/>
                    <a:pt x="101600" y="0"/>
                  </a:cubicBezTo>
                  <a:lnTo>
                    <a:pt x="3777615" y="0"/>
                  </a:lnTo>
                  <a:cubicBezTo>
                    <a:pt x="3833749" y="0"/>
                    <a:pt x="3879215" y="45466"/>
                    <a:pt x="3879215" y="101600"/>
                  </a:cubicBezTo>
                  <a:cubicBezTo>
                    <a:pt x="3879215" y="157734"/>
                    <a:pt x="3833749" y="203200"/>
                    <a:pt x="3777615" y="203200"/>
                  </a:cubicBezTo>
                  <a:lnTo>
                    <a:pt x="101600" y="203200"/>
                  </a:lnTo>
                  <a:cubicBezTo>
                    <a:pt x="45466" y="203200"/>
                    <a:pt x="0" y="157734"/>
                    <a:pt x="0" y="101600"/>
                  </a:cubicBezTo>
                  <a:close/>
                </a:path>
              </a:pathLst>
            </a:custGeom>
            <a:solidFill>
              <a:srgbClr val="FFE14D"/>
            </a:solidFill>
          </p:spPr>
        </p:sp>
      </p:grpSp>
      <p:grpSp>
        <p:nvGrpSpPr>
          <p:cNvPr name="Group 23" id="23"/>
          <p:cNvGrpSpPr/>
          <p:nvPr/>
        </p:nvGrpSpPr>
        <p:grpSpPr>
          <a:xfrm rot="0">
            <a:off x="12166254" y="5281460"/>
            <a:ext cx="813197" cy="813197"/>
            <a:chOff x="0" y="0"/>
            <a:chExt cx="1084262" cy="1084262"/>
          </a:xfrm>
        </p:grpSpPr>
        <p:sp>
          <p:nvSpPr>
            <p:cNvPr name="Freeform 24" id="24"/>
            <p:cNvSpPr/>
            <p:nvPr/>
          </p:nvSpPr>
          <p:spPr>
            <a:xfrm flipH="false" flipV="false" rot="0">
              <a:off x="0" y="0"/>
              <a:ext cx="1084326" cy="1084326"/>
            </a:xfrm>
            <a:custGeom>
              <a:avLst/>
              <a:gdLst/>
              <a:ahLst/>
              <a:cxnLst/>
              <a:rect r="r" b="b" t="t" l="l"/>
              <a:pathLst>
                <a:path h="1084326" w="1084326">
                  <a:moveTo>
                    <a:pt x="0" y="542163"/>
                  </a:moveTo>
                  <a:cubicBezTo>
                    <a:pt x="0" y="242697"/>
                    <a:pt x="242697" y="0"/>
                    <a:pt x="542163" y="0"/>
                  </a:cubicBezTo>
                  <a:cubicBezTo>
                    <a:pt x="841629" y="0"/>
                    <a:pt x="1084326" y="242697"/>
                    <a:pt x="1084326" y="542163"/>
                  </a:cubicBezTo>
                  <a:cubicBezTo>
                    <a:pt x="1084326" y="841629"/>
                    <a:pt x="841502" y="1084326"/>
                    <a:pt x="542163" y="1084326"/>
                  </a:cubicBezTo>
                  <a:cubicBezTo>
                    <a:pt x="242824" y="1084326"/>
                    <a:pt x="0" y="841502"/>
                    <a:pt x="0" y="542163"/>
                  </a:cubicBezTo>
                  <a:close/>
                </a:path>
              </a:pathLst>
            </a:custGeom>
            <a:solidFill>
              <a:srgbClr val="FFE14D"/>
            </a:solidFill>
          </p:spPr>
        </p:sp>
      </p:grpSp>
      <p:sp>
        <p:nvSpPr>
          <p:cNvPr name="Freeform 25" id="25" descr="preencoded.png"/>
          <p:cNvSpPr/>
          <p:nvPr/>
        </p:nvSpPr>
        <p:spPr>
          <a:xfrm flipH="false" flipV="false" rot="0">
            <a:off x="12410180" y="5525395"/>
            <a:ext cx="325193" cy="325193"/>
          </a:xfrm>
          <a:custGeom>
            <a:avLst/>
            <a:gdLst/>
            <a:ahLst/>
            <a:cxnLst/>
            <a:rect r="r" b="b" t="t" l="l"/>
            <a:pathLst>
              <a:path h="325193" w="325193">
                <a:moveTo>
                  <a:pt x="0" y="0"/>
                </a:moveTo>
                <a:lnTo>
                  <a:pt x="325193" y="0"/>
                </a:lnTo>
                <a:lnTo>
                  <a:pt x="325193" y="325193"/>
                </a:lnTo>
                <a:lnTo>
                  <a:pt x="0" y="3251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6" id="26"/>
          <p:cNvSpPr txBox="true"/>
          <p:nvPr/>
        </p:nvSpPr>
        <p:spPr>
          <a:xfrm rot="0">
            <a:off x="11427323" y="6337097"/>
            <a:ext cx="2291210" cy="405108"/>
          </a:xfrm>
          <a:prstGeom prst="rect">
            <a:avLst/>
          </a:prstGeom>
        </p:spPr>
        <p:txBody>
          <a:bodyPr anchor="t" rtlCol="false" tIns="0" lIns="0" bIns="0" rIns="0">
            <a:spAutoFit/>
          </a:bodyPr>
          <a:lstStyle/>
          <a:p>
            <a:pPr algn="l">
              <a:lnSpc>
                <a:spcPts val="2937"/>
              </a:lnSpc>
            </a:pPr>
            <a:r>
              <a:rPr lang="en-US" sz="2312" b="true">
                <a:solidFill>
                  <a:srgbClr val="D7D4CC"/>
                </a:solidFill>
                <a:latin typeface="Comfortaa Bold"/>
                <a:ea typeface="Comfortaa Bold"/>
                <a:cs typeface="Comfortaa Bold"/>
                <a:sym typeface="Comfortaa Bold"/>
              </a:rPr>
              <a:t>Apply</a:t>
            </a:r>
          </a:p>
        </p:txBody>
      </p:sp>
      <p:sp>
        <p:nvSpPr>
          <p:cNvPr name="TextBox 27" id="27"/>
          <p:cNvSpPr txBox="true"/>
          <p:nvPr/>
        </p:nvSpPr>
        <p:spPr>
          <a:xfrm rot="0">
            <a:off x="11427323" y="6806956"/>
            <a:ext cx="2291210" cy="2245814"/>
          </a:xfrm>
          <a:prstGeom prst="rect">
            <a:avLst/>
          </a:prstGeom>
        </p:spPr>
        <p:txBody>
          <a:bodyPr anchor="t" rtlCol="false" tIns="0" lIns="0" bIns="0" rIns="0">
            <a:spAutoFit/>
          </a:bodyPr>
          <a:lstStyle/>
          <a:p>
            <a:pPr algn="l">
              <a:lnSpc>
                <a:spcPts val="3374"/>
              </a:lnSpc>
            </a:pPr>
            <a:r>
              <a:rPr lang="en-US" sz="2125" b="true">
                <a:solidFill>
                  <a:srgbClr val="D7D4CC"/>
                </a:solidFill>
                <a:latin typeface="Raleway Medium"/>
                <a:ea typeface="Raleway Medium"/>
                <a:cs typeface="Raleway Medium"/>
                <a:sym typeface="Raleway Medium"/>
              </a:rPr>
              <a:t>Use discrete tools to design algorithms, networks and secure systems.</a:t>
            </a:r>
          </a:p>
        </p:txBody>
      </p:sp>
      <p:grpSp>
        <p:nvGrpSpPr>
          <p:cNvPr name="Group 28" id="28"/>
          <p:cNvGrpSpPr/>
          <p:nvPr/>
        </p:nvGrpSpPr>
        <p:grpSpPr>
          <a:xfrm rot="0">
            <a:off x="14294348" y="5688063"/>
            <a:ext cx="2909440" cy="3673821"/>
            <a:chOff x="0" y="0"/>
            <a:chExt cx="3879253" cy="4898428"/>
          </a:xfrm>
        </p:grpSpPr>
        <p:sp>
          <p:nvSpPr>
            <p:cNvPr name="Freeform 29" id="29"/>
            <p:cNvSpPr/>
            <p:nvPr/>
          </p:nvSpPr>
          <p:spPr>
            <a:xfrm flipH="false" flipV="false" rot="0">
              <a:off x="0" y="0"/>
              <a:ext cx="3879215" cy="4898390"/>
            </a:xfrm>
            <a:custGeom>
              <a:avLst/>
              <a:gdLst/>
              <a:ahLst/>
              <a:cxnLst/>
              <a:rect r="r" b="b" t="t" l="l"/>
              <a:pathLst>
                <a:path h="4898390" w="3879215">
                  <a:moveTo>
                    <a:pt x="0" y="243840"/>
                  </a:moveTo>
                  <a:cubicBezTo>
                    <a:pt x="0" y="109220"/>
                    <a:pt x="109220" y="0"/>
                    <a:pt x="243840" y="0"/>
                  </a:cubicBezTo>
                  <a:lnTo>
                    <a:pt x="3635375" y="0"/>
                  </a:lnTo>
                  <a:cubicBezTo>
                    <a:pt x="3769995" y="0"/>
                    <a:pt x="3879215" y="109220"/>
                    <a:pt x="3879215" y="243840"/>
                  </a:cubicBezTo>
                  <a:lnTo>
                    <a:pt x="3879215" y="4654550"/>
                  </a:lnTo>
                  <a:cubicBezTo>
                    <a:pt x="3879215" y="4789170"/>
                    <a:pt x="3769995" y="4898390"/>
                    <a:pt x="3635375" y="4898390"/>
                  </a:cubicBezTo>
                  <a:lnTo>
                    <a:pt x="243840" y="4898390"/>
                  </a:lnTo>
                  <a:cubicBezTo>
                    <a:pt x="109220" y="4898390"/>
                    <a:pt x="0" y="4789297"/>
                    <a:pt x="0" y="4654550"/>
                  </a:cubicBezTo>
                  <a:close/>
                </a:path>
              </a:pathLst>
            </a:custGeom>
            <a:solidFill>
              <a:srgbClr val="27272B"/>
            </a:solidFill>
          </p:spPr>
        </p:sp>
      </p:grpSp>
      <p:grpSp>
        <p:nvGrpSpPr>
          <p:cNvPr name="Group 30" id="30"/>
          <p:cNvGrpSpPr/>
          <p:nvPr/>
        </p:nvGrpSpPr>
        <p:grpSpPr>
          <a:xfrm rot="0">
            <a:off x="14294348" y="5649963"/>
            <a:ext cx="2909440" cy="152400"/>
            <a:chOff x="0" y="0"/>
            <a:chExt cx="3879253" cy="203200"/>
          </a:xfrm>
        </p:grpSpPr>
        <p:sp>
          <p:nvSpPr>
            <p:cNvPr name="Freeform 31" id="31"/>
            <p:cNvSpPr/>
            <p:nvPr/>
          </p:nvSpPr>
          <p:spPr>
            <a:xfrm flipH="false" flipV="false" rot="0">
              <a:off x="0" y="0"/>
              <a:ext cx="3879215" cy="203200"/>
            </a:xfrm>
            <a:custGeom>
              <a:avLst/>
              <a:gdLst/>
              <a:ahLst/>
              <a:cxnLst/>
              <a:rect r="r" b="b" t="t" l="l"/>
              <a:pathLst>
                <a:path h="203200" w="3879215">
                  <a:moveTo>
                    <a:pt x="0" y="101600"/>
                  </a:moveTo>
                  <a:cubicBezTo>
                    <a:pt x="0" y="45466"/>
                    <a:pt x="45466" y="0"/>
                    <a:pt x="101600" y="0"/>
                  </a:cubicBezTo>
                  <a:lnTo>
                    <a:pt x="3777615" y="0"/>
                  </a:lnTo>
                  <a:cubicBezTo>
                    <a:pt x="3833749" y="0"/>
                    <a:pt x="3879215" y="45466"/>
                    <a:pt x="3879215" y="101600"/>
                  </a:cubicBezTo>
                  <a:cubicBezTo>
                    <a:pt x="3879215" y="157734"/>
                    <a:pt x="3833749" y="203200"/>
                    <a:pt x="3777615" y="203200"/>
                  </a:cubicBezTo>
                  <a:lnTo>
                    <a:pt x="101600" y="203200"/>
                  </a:lnTo>
                  <a:cubicBezTo>
                    <a:pt x="45466" y="203200"/>
                    <a:pt x="0" y="157734"/>
                    <a:pt x="0" y="101600"/>
                  </a:cubicBezTo>
                  <a:close/>
                </a:path>
              </a:pathLst>
            </a:custGeom>
            <a:solidFill>
              <a:srgbClr val="FFE14D"/>
            </a:solidFill>
          </p:spPr>
        </p:sp>
      </p:grpSp>
      <p:grpSp>
        <p:nvGrpSpPr>
          <p:cNvPr name="Group 32" id="32"/>
          <p:cNvGrpSpPr/>
          <p:nvPr/>
        </p:nvGrpSpPr>
        <p:grpSpPr>
          <a:xfrm rot="0">
            <a:off x="15342394" y="5281460"/>
            <a:ext cx="813197" cy="813197"/>
            <a:chOff x="0" y="0"/>
            <a:chExt cx="1084262" cy="1084262"/>
          </a:xfrm>
        </p:grpSpPr>
        <p:sp>
          <p:nvSpPr>
            <p:cNvPr name="Freeform 33" id="33"/>
            <p:cNvSpPr/>
            <p:nvPr/>
          </p:nvSpPr>
          <p:spPr>
            <a:xfrm flipH="false" flipV="false" rot="0">
              <a:off x="0" y="0"/>
              <a:ext cx="1084326" cy="1084326"/>
            </a:xfrm>
            <a:custGeom>
              <a:avLst/>
              <a:gdLst/>
              <a:ahLst/>
              <a:cxnLst/>
              <a:rect r="r" b="b" t="t" l="l"/>
              <a:pathLst>
                <a:path h="1084326" w="1084326">
                  <a:moveTo>
                    <a:pt x="0" y="542163"/>
                  </a:moveTo>
                  <a:cubicBezTo>
                    <a:pt x="0" y="242697"/>
                    <a:pt x="242697" y="0"/>
                    <a:pt x="542163" y="0"/>
                  </a:cubicBezTo>
                  <a:cubicBezTo>
                    <a:pt x="841629" y="0"/>
                    <a:pt x="1084326" y="242697"/>
                    <a:pt x="1084326" y="542163"/>
                  </a:cubicBezTo>
                  <a:cubicBezTo>
                    <a:pt x="1084326" y="841629"/>
                    <a:pt x="841502" y="1084326"/>
                    <a:pt x="542163" y="1084326"/>
                  </a:cubicBezTo>
                  <a:cubicBezTo>
                    <a:pt x="242824" y="1084326"/>
                    <a:pt x="0" y="841502"/>
                    <a:pt x="0" y="542163"/>
                  </a:cubicBezTo>
                  <a:close/>
                </a:path>
              </a:pathLst>
            </a:custGeom>
            <a:solidFill>
              <a:srgbClr val="FFE14D"/>
            </a:solidFill>
          </p:spPr>
        </p:sp>
      </p:grpSp>
      <p:sp>
        <p:nvSpPr>
          <p:cNvPr name="Freeform 34" id="34" descr="preencoded.png"/>
          <p:cNvSpPr/>
          <p:nvPr/>
        </p:nvSpPr>
        <p:spPr>
          <a:xfrm flipH="false" flipV="false" rot="0">
            <a:off x="15586319" y="5525395"/>
            <a:ext cx="325193" cy="325193"/>
          </a:xfrm>
          <a:custGeom>
            <a:avLst/>
            <a:gdLst/>
            <a:ahLst/>
            <a:cxnLst/>
            <a:rect r="r" b="b" t="t" l="l"/>
            <a:pathLst>
              <a:path h="325193" w="325193">
                <a:moveTo>
                  <a:pt x="0" y="0"/>
                </a:moveTo>
                <a:lnTo>
                  <a:pt x="325193" y="0"/>
                </a:lnTo>
                <a:lnTo>
                  <a:pt x="325193" y="325193"/>
                </a:lnTo>
                <a:lnTo>
                  <a:pt x="0" y="325193"/>
                </a:lnTo>
                <a:lnTo>
                  <a:pt x="0" y="0"/>
                </a:lnTo>
                <a:close/>
              </a:path>
            </a:pathLst>
          </a:custGeom>
          <a:blipFill>
            <a:blip r:embed="rId8">
              <a:extLst>
                <a:ext uri="{96DAC541-7B7A-43D3-8B79-37D633B846F1}">
                  <asvg:svgBlip xmlns:asvg="http://schemas.microsoft.com/office/drawing/2016/SVG/main" r:embed="rId9"/>
                </a:ext>
              </a:extLst>
            </a:blip>
            <a:stretch>
              <a:fillRect l="0" t="-37143" r="0" b="-37140"/>
            </a:stretch>
          </a:blipFill>
        </p:spPr>
      </p:sp>
      <p:sp>
        <p:nvSpPr>
          <p:cNvPr name="TextBox 35" id="35"/>
          <p:cNvSpPr txBox="true"/>
          <p:nvPr/>
        </p:nvSpPr>
        <p:spPr>
          <a:xfrm rot="0">
            <a:off x="14603463" y="6337097"/>
            <a:ext cx="2291210" cy="405108"/>
          </a:xfrm>
          <a:prstGeom prst="rect">
            <a:avLst/>
          </a:prstGeom>
        </p:spPr>
        <p:txBody>
          <a:bodyPr anchor="t" rtlCol="false" tIns="0" lIns="0" bIns="0" rIns="0">
            <a:spAutoFit/>
          </a:bodyPr>
          <a:lstStyle/>
          <a:p>
            <a:pPr algn="l">
              <a:lnSpc>
                <a:spcPts val="2937"/>
              </a:lnSpc>
            </a:pPr>
            <a:r>
              <a:rPr lang="en-US" sz="2312" b="true">
                <a:solidFill>
                  <a:srgbClr val="D7D4CC"/>
                </a:solidFill>
                <a:latin typeface="Comfortaa Bold"/>
                <a:ea typeface="Comfortaa Bold"/>
                <a:cs typeface="Comfortaa Bold"/>
                <a:sym typeface="Comfortaa Bold"/>
              </a:rPr>
              <a:t>Innovate</a:t>
            </a:r>
          </a:p>
        </p:txBody>
      </p:sp>
      <p:sp>
        <p:nvSpPr>
          <p:cNvPr name="TextBox 36" id="36"/>
          <p:cNvSpPr txBox="true"/>
          <p:nvPr/>
        </p:nvSpPr>
        <p:spPr>
          <a:xfrm rot="0">
            <a:off x="14603463" y="6806956"/>
            <a:ext cx="2291210" cy="2245814"/>
          </a:xfrm>
          <a:prstGeom prst="rect">
            <a:avLst/>
          </a:prstGeom>
        </p:spPr>
        <p:txBody>
          <a:bodyPr anchor="t" rtlCol="false" tIns="0" lIns="0" bIns="0" rIns="0">
            <a:spAutoFit/>
          </a:bodyPr>
          <a:lstStyle/>
          <a:p>
            <a:pPr algn="l">
              <a:lnSpc>
                <a:spcPts val="3374"/>
              </a:lnSpc>
            </a:pPr>
            <a:r>
              <a:rPr lang="en-US" sz="2125" b="true">
                <a:solidFill>
                  <a:srgbClr val="D7D4CC"/>
                </a:solidFill>
                <a:latin typeface="Raleway Medium"/>
                <a:ea typeface="Raleway Medium"/>
                <a:cs typeface="Raleway Medium"/>
                <a:sym typeface="Raleway Medium"/>
              </a:rPr>
              <a:t>Combine theory and practice to create reliable, efficient technology.</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27272B"/>
            </a:solidFill>
          </p:spPr>
        </p:sp>
      </p:grpSp>
      <p:sp>
        <p:nvSpPr>
          <p:cNvPr name="TextBox 4" id="4"/>
          <p:cNvSpPr txBox="true"/>
          <p:nvPr/>
        </p:nvSpPr>
        <p:spPr>
          <a:xfrm rot="0">
            <a:off x="3771631" y="4188880"/>
            <a:ext cx="10404127" cy="1861616"/>
          </a:xfrm>
          <a:prstGeom prst="rect">
            <a:avLst/>
          </a:prstGeom>
        </p:spPr>
        <p:txBody>
          <a:bodyPr anchor="t" rtlCol="false" tIns="0" lIns="0" bIns="0" rIns="0">
            <a:spAutoFit/>
          </a:bodyPr>
          <a:lstStyle/>
          <a:p>
            <a:pPr algn="l">
              <a:lnSpc>
                <a:spcPts val="14839"/>
              </a:lnSpc>
            </a:pPr>
            <a:r>
              <a:rPr lang="en-US" sz="11902" b="true">
                <a:solidFill>
                  <a:srgbClr val="FFE14D"/>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DAHHLfzmt2g</dc:identifier>
  <dcterms:modified xsi:type="dcterms:W3CDTF">2011-08-01T06:04:30Z</dcterms:modified>
  <cp:revision>1</cp:revision>
  <dc:title>Discrete-Mathematics-The-Unseen-Architecture-of-Computing.pptx</dc:title>
</cp:coreProperties>
</file>